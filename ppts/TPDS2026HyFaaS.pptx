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圆角 28">
            <a:extLst>
              <a:ext uri="{FF2B5EF4-FFF2-40B4-BE49-F238E27FC236}">
                <a16:creationId xmlns:a16="http://schemas.microsoft.com/office/drawing/2014/main" id="{0359593A-1D2B-4AA7-A523-76F4FC4FCBA1}"/>
              </a:ext>
            </a:extLst>
          </p:cNvPr>
          <p:cNvSpPr/>
          <p:nvPr/>
        </p:nvSpPr>
        <p:spPr>
          <a:xfrm>
            <a:off x="345440" y="1356538"/>
            <a:ext cx="11513185" cy="789914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80" name="bk object 19">
            <a:extLst>
              <a:ext uri="{FF2B5EF4-FFF2-40B4-BE49-F238E27FC236}">
                <a16:creationId xmlns:a16="http://schemas.microsoft.com/office/drawing/2014/main" id="{309ADA76-0B72-430C-A232-647F214E3298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1" name="bk object 18">
            <a:extLst>
              <a:ext uri="{FF2B5EF4-FFF2-40B4-BE49-F238E27FC236}">
                <a16:creationId xmlns:a16="http://schemas.microsoft.com/office/drawing/2014/main" id="{94BB970F-796F-4D08-A858-4D818AD78F5B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C2D9E935-C844-4DEE-B416-BEECC33FC743}"/>
              </a:ext>
            </a:extLst>
          </p:cNvPr>
          <p:cNvSpPr txBox="1"/>
          <p:nvPr/>
        </p:nvSpPr>
        <p:spPr>
          <a:xfrm>
            <a:off x="1402916" y="115558"/>
            <a:ext cx="5073825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代表成果：服务器无感知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ETL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工作流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DFD0750-B1E7-4E62-B294-9824233AF272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84" name="文本框 7">
            <a:extLst>
              <a:ext uri="{FF2B5EF4-FFF2-40B4-BE49-F238E27FC236}">
                <a16:creationId xmlns:a16="http://schemas.microsoft.com/office/drawing/2014/main" id="{8BA15AF2-770F-453B-9255-DFFCCE62C499}"/>
              </a:ext>
            </a:extLst>
          </p:cNvPr>
          <p:cNvSpPr txBox="1"/>
          <p:nvPr/>
        </p:nvSpPr>
        <p:spPr>
          <a:xfrm>
            <a:off x="427724" y="1316622"/>
            <a:ext cx="111600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通算分离编排以充分发恢混合资源弹性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: (1)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权衡大规模并行函数的通信开销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集中式部署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与拓展开销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分布式部署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), (2)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收割有复杂函数依赖关系的工作流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DAG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中非关键路径蕴含的潜在成本效益。</a:t>
            </a:r>
          </a:p>
        </p:txBody>
      </p:sp>
      <p:sp>
        <p:nvSpPr>
          <p:cNvPr id="85" name="任意多边形: 形状 70">
            <a:extLst>
              <a:ext uri="{FF2B5EF4-FFF2-40B4-BE49-F238E27FC236}">
                <a16:creationId xmlns:a16="http://schemas.microsoft.com/office/drawing/2014/main" id="{6140F873-4CD4-4C0C-8EAD-FD922293A0B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94246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基于混合资源弹性的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通算分离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编排</a:t>
            </a:r>
          </a:p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6" name="文本框 19">
            <a:extLst>
              <a:ext uri="{FF2B5EF4-FFF2-40B4-BE49-F238E27FC236}">
                <a16:creationId xmlns:a16="http://schemas.microsoft.com/office/drawing/2014/main" id="{511E8E22-EA8A-4FAA-A638-A155A7302073}"/>
              </a:ext>
            </a:extLst>
          </p:cNvPr>
          <p:cNvSpPr txBox="1"/>
          <p:nvPr/>
        </p:nvSpPr>
        <p:spPr>
          <a:xfrm>
            <a:off x="339618" y="6290258"/>
            <a:ext cx="1165054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altLang="zh-CN" sz="1400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HyFaaS: Accelerating Serverless Workfows by Unleashing Hybrid Resource Elasticity, </a:t>
            </a:r>
            <a:r>
              <a:rPr lang="en-US" altLang="zh-CN" sz="1400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IEEE TPDS 2025 (CCF A </a:t>
            </a:r>
            <a:r>
              <a:rPr lang="zh-CN" altLang="en-US" sz="1400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期刊</a:t>
            </a:r>
            <a:r>
              <a:rPr lang="en-US" altLang="zh-CN" sz="1400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)</a:t>
            </a:r>
            <a:endParaRPr lang="zh-CN" altLang="en-US" sz="1400" dirty="0">
              <a:solidFill>
                <a:srgbClr val="FF0000"/>
              </a:solidFill>
              <a:latin typeface="Arial"/>
              <a:ea typeface="黑体" panose="02010609060101010101" charset="-122"/>
            </a:endParaRPr>
          </a:p>
          <a:p>
            <a:pPr defTabSz="913765"/>
            <a:endParaRPr lang="zh-CN" altLang="en-US" sz="1400" i="1" dirty="0">
              <a:solidFill>
                <a:srgbClr val="FF0000"/>
              </a:solidFill>
              <a:latin typeface="Arial"/>
              <a:ea typeface="黑体" panose="02010609060101010101" charset="-122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25EAA892-0B19-4B78-9EE9-6FA5EE26EB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" r="1"/>
          <a:stretch>
            <a:fillRect/>
          </a:stretch>
        </p:blipFill>
        <p:spPr>
          <a:xfrm>
            <a:off x="395631" y="2260091"/>
            <a:ext cx="2129437" cy="1375062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16F391A0-1FC4-4F2E-B0D8-62B610B90E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8833"/>
          <a:stretch>
            <a:fillRect/>
          </a:stretch>
        </p:blipFill>
        <p:spPr>
          <a:xfrm>
            <a:off x="8452590" y="4589883"/>
            <a:ext cx="3283592" cy="276900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2E402729-0001-4A67-9DB4-4A58DADDC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716" y="2336083"/>
            <a:ext cx="5670375" cy="2329206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D84D1E4-E276-4651-BA05-4F49E0EE02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0463" y="2265061"/>
            <a:ext cx="3424067" cy="1628384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6F1818AE-2D23-4FE7-8F9C-FA7946AA5248}"/>
              </a:ext>
            </a:extLst>
          </p:cNvPr>
          <p:cNvSpPr txBox="1"/>
          <p:nvPr/>
        </p:nvSpPr>
        <p:spPr>
          <a:xfrm>
            <a:off x="5051348" y="3362003"/>
            <a:ext cx="641727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阶段级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B02F3F5-32AE-43A9-88D5-0755D34D2618}"/>
              </a:ext>
            </a:extLst>
          </p:cNvPr>
          <p:cNvSpPr txBox="1"/>
          <p:nvPr/>
        </p:nvSpPr>
        <p:spPr>
          <a:xfrm>
            <a:off x="4974124" y="4588038"/>
            <a:ext cx="804670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工作流级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E33AB535-68C9-48F1-BD2C-920ADF7D1FB1}"/>
              </a:ext>
            </a:extLst>
          </p:cNvPr>
          <p:cNvCxnSpPr>
            <a:stCxn id="91" idx="1"/>
          </p:cNvCxnSpPr>
          <p:nvPr/>
        </p:nvCxnSpPr>
        <p:spPr>
          <a:xfrm flipH="1">
            <a:off x="4515235" y="3500503"/>
            <a:ext cx="536113" cy="29223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B81402F9-27CE-403D-A565-3A3F30DE4627}"/>
              </a:ext>
            </a:extLst>
          </p:cNvPr>
          <p:cNvCxnSpPr>
            <a:stCxn id="91" idx="3"/>
          </p:cNvCxnSpPr>
          <p:nvPr/>
        </p:nvCxnSpPr>
        <p:spPr>
          <a:xfrm>
            <a:off x="5693075" y="3500503"/>
            <a:ext cx="407327" cy="214102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6A6685AD-169B-43C3-AC12-AC1FBAFD9426}"/>
              </a:ext>
            </a:extLst>
          </p:cNvPr>
          <p:cNvCxnSpPr>
            <a:stCxn id="92" idx="1"/>
          </p:cNvCxnSpPr>
          <p:nvPr/>
        </p:nvCxnSpPr>
        <p:spPr>
          <a:xfrm flipH="1" flipV="1">
            <a:off x="4630992" y="4434308"/>
            <a:ext cx="343132" cy="29223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E4311AB-521C-4A35-A5FD-060B154183C2}"/>
              </a:ext>
            </a:extLst>
          </p:cNvPr>
          <p:cNvCxnSpPr>
            <a:stCxn id="92" idx="3"/>
          </p:cNvCxnSpPr>
          <p:nvPr/>
        </p:nvCxnSpPr>
        <p:spPr>
          <a:xfrm flipV="1">
            <a:off x="5778794" y="4434308"/>
            <a:ext cx="356397" cy="29223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F2AD14E-7FFB-41D1-8CC5-CE0D26FC853A}"/>
              </a:ext>
            </a:extLst>
          </p:cNvPr>
          <p:cNvCxnSpPr/>
          <p:nvPr/>
        </p:nvCxnSpPr>
        <p:spPr>
          <a:xfrm>
            <a:off x="11321486" y="2358106"/>
            <a:ext cx="389008" cy="21755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F8E0064F-243B-40E2-BEA8-CD7862C8950F}"/>
              </a:ext>
            </a:extLst>
          </p:cNvPr>
          <p:cNvCxnSpPr/>
          <p:nvPr/>
        </p:nvCxnSpPr>
        <p:spPr>
          <a:xfrm flipH="1">
            <a:off x="10818441" y="2358106"/>
            <a:ext cx="503045" cy="222999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AF150B7F-8360-408E-9D06-D9CA1CAAF007}"/>
              </a:ext>
            </a:extLst>
          </p:cNvPr>
          <p:cNvSpPr txBox="1"/>
          <p:nvPr/>
        </p:nvSpPr>
        <p:spPr>
          <a:xfrm>
            <a:off x="10875036" y="3545401"/>
            <a:ext cx="813522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关键路径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376B61EE-4415-4A71-8F89-13FF61F4DE45}"/>
              </a:ext>
            </a:extLst>
          </p:cNvPr>
          <p:cNvCxnSpPr>
            <a:stCxn id="99" idx="1"/>
          </p:cNvCxnSpPr>
          <p:nvPr/>
        </p:nvCxnSpPr>
        <p:spPr>
          <a:xfrm flipH="1" flipV="1">
            <a:off x="10581884" y="3459624"/>
            <a:ext cx="293152" cy="224277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B6426614-FF63-4C45-8B5C-D0344F3759DE}"/>
              </a:ext>
            </a:extLst>
          </p:cNvPr>
          <p:cNvCxnSpPr/>
          <p:nvPr/>
        </p:nvCxnSpPr>
        <p:spPr>
          <a:xfrm flipH="1">
            <a:off x="9784063" y="2359616"/>
            <a:ext cx="286436" cy="21604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3BA91AE6-B730-46AD-8574-7DE104575FF9}"/>
              </a:ext>
            </a:extLst>
          </p:cNvPr>
          <p:cNvCxnSpPr/>
          <p:nvPr/>
        </p:nvCxnSpPr>
        <p:spPr>
          <a:xfrm>
            <a:off x="10070499" y="2359616"/>
            <a:ext cx="246964" cy="21604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DA751ED-B5B9-4019-897E-C58E74D7DEBD}"/>
              </a:ext>
            </a:extLst>
          </p:cNvPr>
          <p:cNvSpPr txBox="1"/>
          <p:nvPr/>
        </p:nvSpPr>
        <p:spPr>
          <a:xfrm>
            <a:off x="8988763" y="3904951"/>
            <a:ext cx="2412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prstClr val="black"/>
                </a:solidFill>
                <a:latin typeface="Helvetica" pitchFamily="2" charset="0"/>
                <a:ea typeface="微软雅黑"/>
              </a:rPr>
              <a:t>"</a:t>
            </a:r>
            <a:r>
              <a:rPr lang="zh-CN" altLang="en-US" sz="1600" b="1">
                <a:solidFill>
                  <a:prstClr val="black"/>
                </a:solidFill>
                <a:latin typeface="Helvetica" pitchFamily="2" charset="0"/>
                <a:ea typeface="微软雅黑"/>
              </a:rPr>
              <a:t>分支</a:t>
            </a:r>
            <a:r>
              <a:rPr lang="en-US" altLang="zh-CN" sz="1600" b="1">
                <a:solidFill>
                  <a:prstClr val="black"/>
                </a:solidFill>
                <a:latin typeface="Helvetica" pitchFamily="2" charset="0"/>
                <a:ea typeface="微软雅黑"/>
              </a:rPr>
              <a:t>"</a:t>
            </a:r>
            <a:r>
              <a:rPr lang="zh-CN" altLang="en-US" sz="1600" b="1">
                <a:solidFill>
                  <a:prstClr val="black"/>
                </a:solidFill>
                <a:latin typeface="Helvetica" pitchFamily="2" charset="0"/>
                <a:ea typeface="微软雅黑"/>
              </a:rPr>
              <a:t>感知的工作流协调</a:t>
            </a:r>
            <a:endParaRPr lang="zh-CN" altLang="en-US" sz="1600" b="1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CF3BE9C-FFFA-470F-AADC-BA425A7E0DA6}"/>
              </a:ext>
            </a:extLst>
          </p:cNvPr>
          <p:cNvSpPr txBox="1"/>
          <p:nvPr/>
        </p:nvSpPr>
        <p:spPr>
          <a:xfrm>
            <a:off x="2568210" y="4879691"/>
            <a:ext cx="5769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/>
                <a:ea typeface="微软雅黑"/>
              </a:rPr>
              <a:t>基于两级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/>
                <a:ea typeface="微软雅黑"/>
              </a:rPr>
              <a:t>HyDAG</a:t>
            </a:r>
            <a:r>
              <a:rPr lang="zh-CN" altLang="en-US" sz="1600" b="1" dirty="0">
                <a:solidFill>
                  <a:prstClr val="black"/>
                </a:solidFill>
                <a:latin typeface="微软雅黑"/>
                <a:ea typeface="微软雅黑"/>
              </a:rPr>
              <a:t>图分区的工作流部署</a:t>
            </a:r>
            <a:endParaRPr lang="zh-CN" altLang="en-US" sz="1600" b="1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0331F4BF-E0A2-4661-99AF-2C75612A0F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619" y="3668135"/>
            <a:ext cx="2191800" cy="1497872"/>
          </a:xfrm>
          <a:prstGeom prst="rect">
            <a:avLst/>
          </a:prstGeom>
        </p:spPr>
      </p:pic>
      <p:sp>
        <p:nvSpPr>
          <p:cNvPr id="106" name="文本框 105">
            <a:extLst>
              <a:ext uri="{FF2B5EF4-FFF2-40B4-BE49-F238E27FC236}">
                <a16:creationId xmlns:a16="http://schemas.microsoft.com/office/drawing/2014/main" id="{5C02A6DF-314F-4C44-BA41-1ACA997AFBE2}"/>
              </a:ext>
            </a:extLst>
          </p:cNvPr>
          <p:cNvSpPr txBox="1"/>
          <p:nvPr/>
        </p:nvSpPr>
        <p:spPr>
          <a:xfrm>
            <a:off x="2628920" y="4840688"/>
            <a:ext cx="798282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拓展开销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93E5C88C-0281-415E-BE53-0998313B8A4F}"/>
              </a:ext>
            </a:extLst>
          </p:cNvPr>
          <p:cNvCxnSpPr>
            <a:stCxn id="106" idx="1"/>
          </p:cNvCxnSpPr>
          <p:nvPr/>
        </p:nvCxnSpPr>
        <p:spPr>
          <a:xfrm flipH="1" flipV="1">
            <a:off x="1992613" y="4837598"/>
            <a:ext cx="636307" cy="14159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36C9787-7CC5-4919-BAB8-4B969EC85C32}"/>
              </a:ext>
            </a:extLst>
          </p:cNvPr>
          <p:cNvSpPr txBox="1"/>
          <p:nvPr/>
        </p:nvSpPr>
        <p:spPr>
          <a:xfrm>
            <a:off x="1169115" y="2575656"/>
            <a:ext cx="642523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饱和点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8C6EFF7A-56EE-42FC-9C12-E3F3EE8B98C4}"/>
              </a:ext>
            </a:extLst>
          </p:cNvPr>
          <p:cNvCxnSpPr>
            <a:stCxn id="108" idx="1"/>
          </p:cNvCxnSpPr>
          <p:nvPr/>
        </p:nvCxnSpPr>
        <p:spPr>
          <a:xfrm flipH="1">
            <a:off x="921050" y="2714156"/>
            <a:ext cx="248065" cy="203296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B14E7588-8840-48BA-8B8B-258505A797C2}"/>
              </a:ext>
            </a:extLst>
          </p:cNvPr>
          <p:cNvSpPr txBox="1"/>
          <p:nvPr/>
        </p:nvSpPr>
        <p:spPr>
          <a:xfrm>
            <a:off x="478706" y="3243226"/>
            <a:ext cx="947170" cy="276999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prstClr val="black"/>
                </a:solidFill>
                <a:latin typeface="微软雅黑"/>
                <a:ea typeface="微软雅黑"/>
              </a:rPr>
              <a:t>帕累托前沿</a:t>
            </a:r>
            <a:endParaRPr lang="zh-CN" altLang="en-US" sz="1200" b="1">
              <a:solidFill>
                <a:prstClr val="black"/>
              </a:solidFill>
              <a:latin typeface="Arial"/>
              <a:ea typeface="微软雅黑"/>
            </a:endParaRPr>
          </a:p>
        </p:txBody>
      </p:sp>
      <p:pic>
        <p:nvPicPr>
          <p:cNvPr id="145" name="图片 144">
            <a:extLst>
              <a:ext uri="{FF2B5EF4-FFF2-40B4-BE49-F238E27FC236}">
                <a16:creationId xmlns:a16="http://schemas.microsoft.com/office/drawing/2014/main" id="{E402BF49-043C-455F-9C11-933F3750F8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363"/>
          <a:stretch>
            <a:fillRect/>
          </a:stretch>
        </p:blipFill>
        <p:spPr>
          <a:xfrm>
            <a:off x="8451098" y="4287359"/>
            <a:ext cx="3283592" cy="286789"/>
          </a:xfrm>
          <a:prstGeom prst="rect">
            <a:avLst/>
          </a:prstGeom>
        </p:spPr>
      </p:pic>
      <p:sp>
        <p:nvSpPr>
          <p:cNvPr id="146" name="文本框 145">
            <a:extLst>
              <a:ext uri="{FF2B5EF4-FFF2-40B4-BE49-F238E27FC236}">
                <a16:creationId xmlns:a16="http://schemas.microsoft.com/office/drawing/2014/main" id="{879D9EBA-9EFE-4F55-85E7-039702B4B636}"/>
              </a:ext>
            </a:extLst>
          </p:cNvPr>
          <p:cNvSpPr txBox="1"/>
          <p:nvPr/>
        </p:nvSpPr>
        <p:spPr>
          <a:xfrm>
            <a:off x="9223311" y="4874542"/>
            <a:ext cx="995946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延迟</a:t>
            </a:r>
            <a:r>
              <a:rPr lang="en-US" altLang="zh-CN" sz="1200" b="1">
                <a:solidFill>
                  <a:srgbClr val="FF0000"/>
                </a:solidFill>
                <a:latin typeface="微软雅黑"/>
                <a:ea typeface="微软雅黑"/>
              </a:rPr>
              <a:t>Bound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8E39EAD3-87F1-4041-9929-25DC6032224A}"/>
              </a:ext>
            </a:extLst>
          </p:cNvPr>
          <p:cNvCxnSpPr>
            <a:stCxn id="146" idx="3"/>
            <a:endCxn id="148" idx="2"/>
          </p:cNvCxnSpPr>
          <p:nvPr/>
        </p:nvCxnSpPr>
        <p:spPr>
          <a:xfrm flipV="1">
            <a:off x="10219257" y="4798341"/>
            <a:ext cx="177181" cy="214701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016ECB17-9A58-4801-8068-CC3510F61638}"/>
              </a:ext>
            </a:extLst>
          </p:cNvPr>
          <p:cNvSpPr/>
          <p:nvPr/>
        </p:nvSpPr>
        <p:spPr>
          <a:xfrm>
            <a:off x="10261682" y="4610977"/>
            <a:ext cx="269511" cy="187364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76A7EC8-5C5F-4284-9B6A-0E73D0997ADA}"/>
              </a:ext>
            </a:extLst>
          </p:cNvPr>
          <p:cNvSpPr/>
          <p:nvPr/>
        </p:nvSpPr>
        <p:spPr>
          <a:xfrm>
            <a:off x="10255914" y="4275032"/>
            <a:ext cx="659238" cy="23924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39A9B03C-21CB-48E8-A71A-7F9CDF6C763C}"/>
              </a:ext>
            </a:extLst>
          </p:cNvPr>
          <p:cNvSpPr txBox="1"/>
          <p:nvPr/>
        </p:nvSpPr>
        <p:spPr>
          <a:xfrm>
            <a:off x="10831897" y="4868952"/>
            <a:ext cx="497973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成本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2A07D265-30E8-493C-9D1F-D758269D85A0}"/>
              </a:ext>
            </a:extLst>
          </p:cNvPr>
          <p:cNvCxnSpPr>
            <a:stCxn id="150" idx="0"/>
            <a:endCxn id="149" idx="2"/>
          </p:cNvCxnSpPr>
          <p:nvPr/>
        </p:nvCxnSpPr>
        <p:spPr>
          <a:xfrm flipH="1" flipV="1">
            <a:off x="10585533" y="4514280"/>
            <a:ext cx="495351" cy="354672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46FB1481-232E-4194-A49C-95EB103B2A20}"/>
              </a:ext>
            </a:extLst>
          </p:cNvPr>
          <p:cNvCxnSpPr>
            <a:stCxn id="108" idx="3"/>
          </p:cNvCxnSpPr>
          <p:nvPr/>
        </p:nvCxnSpPr>
        <p:spPr>
          <a:xfrm>
            <a:off x="1811638" y="2714156"/>
            <a:ext cx="1014412" cy="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D366EBE8-0434-4804-B716-EE42FAE5B6BB}"/>
              </a:ext>
            </a:extLst>
          </p:cNvPr>
          <p:cNvSpPr txBox="1"/>
          <p:nvPr/>
        </p:nvSpPr>
        <p:spPr>
          <a:xfrm>
            <a:off x="2127323" y="2439638"/>
            <a:ext cx="5015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部署</a:t>
            </a:r>
            <a:endParaRPr lang="zh-CN" altLang="en-US" sz="120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CCFCB5DB-4F6D-4DEC-91ED-3F810C9208AA}"/>
              </a:ext>
            </a:extLst>
          </p:cNvPr>
          <p:cNvSpPr/>
          <p:nvPr/>
        </p:nvSpPr>
        <p:spPr>
          <a:xfrm>
            <a:off x="323214" y="5237900"/>
            <a:ext cx="11539617" cy="904451"/>
          </a:xfrm>
          <a:prstGeom prst="rect">
            <a:avLst/>
          </a:prstGeom>
          <a:solidFill>
            <a:srgbClr val="002A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8124DDF4-91BF-436D-9ABA-D365BD48437E}"/>
              </a:ext>
            </a:extLst>
          </p:cNvPr>
          <p:cNvSpPr txBox="1"/>
          <p:nvPr/>
        </p:nvSpPr>
        <p:spPr>
          <a:xfrm>
            <a:off x="397334" y="5286574"/>
            <a:ext cx="11338482" cy="80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基于两级</a:t>
            </a:r>
            <a:r>
              <a:rPr lang="en-US" altLang="zh-CN" sz="1900" b="1" dirty="0" err="1">
                <a:solidFill>
                  <a:prstClr val="white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HyDAG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图分区部署饱和函数以最大化端到端性能，并通过</a:t>
            </a:r>
            <a:r>
              <a:rPr lang="en-US" altLang="zh-CN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“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分支</a:t>
            </a:r>
            <a:r>
              <a:rPr lang="en-US" altLang="zh-CN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”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感知的非关键函数延迟</a:t>
            </a:r>
            <a:r>
              <a:rPr lang="en-US" altLang="zh-CN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Bound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松弛和资源</a:t>
            </a:r>
            <a:r>
              <a:rPr lang="en-US" altLang="zh-CN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Scale-down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来保证成本效率。</a:t>
            </a:r>
            <a:r>
              <a:rPr lang="zh-CN" altLang="en-US" sz="1900" b="1" dirty="0">
                <a:solidFill>
                  <a:prstClr val="white"/>
                </a:solidFill>
                <a:latin typeface="微软雅黑"/>
                <a:ea typeface="微软雅黑"/>
              </a:rPr>
              <a:t>降低</a:t>
            </a:r>
            <a:r>
              <a:rPr lang="en-US" altLang="zh-CN" sz="1900" b="1" dirty="0">
                <a:solidFill>
                  <a:prstClr val="white"/>
                </a:solidFill>
                <a:latin typeface="微软雅黑"/>
                <a:ea typeface="微软雅黑"/>
              </a:rPr>
              <a:t>39.2%-50.4%</a:t>
            </a:r>
            <a:r>
              <a:rPr lang="zh-CN" altLang="en-US" sz="1900" b="1" dirty="0">
                <a:solidFill>
                  <a:prstClr val="white"/>
                </a:solidFill>
                <a:latin typeface="微软雅黑"/>
                <a:ea typeface="微软雅黑"/>
              </a:rPr>
              <a:t>的延迟，同时节省高达</a:t>
            </a:r>
            <a:r>
              <a:rPr lang="en-US" altLang="zh-CN" sz="1900" b="1" dirty="0">
                <a:solidFill>
                  <a:prstClr val="white"/>
                </a:solidFill>
                <a:latin typeface="微软雅黑"/>
                <a:ea typeface="微软雅黑"/>
              </a:rPr>
              <a:t>1.37</a:t>
            </a:r>
            <a:r>
              <a:rPr lang="zh-CN" altLang="en-US" sz="1900" b="1" dirty="0">
                <a:solidFill>
                  <a:prstClr val="white"/>
                </a:solidFill>
                <a:latin typeface="微软雅黑"/>
                <a:ea typeface="微软雅黑"/>
              </a:rPr>
              <a:t>倍的成本。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等线 Light</vt:lpstr>
      <vt:lpstr>黑体</vt:lpstr>
      <vt:lpstr>思源黑体 CN Regular</vt:lpstr>
      <vt:lpstr>微软雅黑</vt:lpstr>
      <vt:lpstr>Arial</vt:lpstr>
      <vt:lpstr>Helvetica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6</cp:revision>
  <dcterms:created xsi:type="dcterms:W3CDTF">2026-05-19T12:30:22Z</dcterms:created>
  <dcterms:modified xsi:type="dcterms:W3CDTF">2026-05-19T12:42:29Z</dcterms:modified>
</cp:coreProperties>
</file>