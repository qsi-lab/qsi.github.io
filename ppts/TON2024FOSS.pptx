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ags/tag1.xml" ContentType="application/vnd.openxmlformats-officedocument.presentationml.tag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6" autoAdjust="0"/>
    <p:restoredTop sz="94660"/>
  </p:normalViewPr>
  <p:slideViewPr>
    <p:cSldViewPr snapToGrid="0">
      <p:cViewPr varScale="1">
        <p:scale>
          <a:sx n="100" d="100"/>
          <a:sy n="100" d="100"/>
        </p:scale>
        <p:origin x="452" y="6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A405969-857F-4959-876C-4AC174078F2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05724217-0C20-4D7E-AF88-2A8262F1DC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6C011AC-826D-4D77-8F87-446F7D00B5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CF74BA6-7437-40F5-BF1E-40176C097C8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7DDE782-9F59-4CB0-96F2-713D80C8F8C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4539957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B430837-E839-4F25-A110-13BCF5A1E7A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4C4360D6-314B-4CA8-ABBB-5E4E4DB2872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2497055-ABC9-4E3D-9D9B-AF54AD5143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FF4DBBF-9F69-48DA-B744-19287AFD156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2EA34C5-8BCD-480D-9DBB-94D4DB75D3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6090494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FB32C89-1BEF-4372-8747-16A704C747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67F26452-F6AC-4F34-B18D-B7A76EC11DC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69BB4810-74CB-4ECD-BEB3-1078CA0E21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58801F-9CD9-4733-8D81-56BCC53C89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86EB79F-E23B-4732-B063-F48152B5E2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572475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33D9273-FE92-479A-8339-CE868D68505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50965DA-72F6-4EE9-95B3-4948C768D60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E4A97795-F3E8-4510-9FC7-21DFB498E5A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862B348F-4A7A-4602-879E-67F1D0E6A33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5EF639-0907-4FF6-97C3-E294E024B7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98B9471-6918-417D-AE16-EC3CAE4B78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678431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7C26986D-2266-421C-994B-EC19CED1C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DF569F84-333E-45EA-9341-BBA957D660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0C0010DE-D72C-4355-99F5-BFD42ABE947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A1688286-1562-4832-97A5-9EC055C5EF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07016189-C0C8-4EB1-9A2C-D83DCC204243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21C78DF9-43B1-49E8-AA98-BEAB4D165B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4C83742D-7417-4732-A7C0-7C10C904D6D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B196843-7856-4531-B527-CC752487A69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6930797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C5BA13D-92E0-4203-B38B-A8C69EA54C0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49D57C69-C0B6-4FE1-8CB8-6B611D77D0F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EA40A965-1D9C-4AF6-AF5D-01BA5FDFDE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6C2B82C8-DB24-40AE-B75F-341873CF70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1012675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AB334CF-2B32-4AEA-84AE-46230AF953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41770DDA-2D46-42F5-B6A9-5AFC6EF376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0762F03D-7DA9-492D-8F94-72AE4FA921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8713637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1446093A-ED7E-4757-B9F4-14A6E79F41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34D19B68-4BD5-483C-A571-0E77BFDE1B7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E3B62867-0A7A-4159-828A-F54462722F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B9C7B0D3-DF1B-4854-939E-CEA82BA044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092891B9-7AE7-4033-ABF3-06C0106659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6077E58D-C106-46FE-8476-B37AAE9DE7E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237030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680EDC-05D3-4CCF-BF75-424A7A3951E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D090CA33-87F7-4A6F-831C-35E1454A1D8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2A9E82BA-9579-4CB7-A150-90D066FBA0B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C9A9D4-B84E-406E-AC5B-34E09E696A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FCC7D52-F513-40FD-8293-A18D2E35CEF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B31C79DE-EB15-425E-A265-E24463E767F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3687442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EF0B44-86FF-4835-A086-5367F343BB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F683615F-CA5C-478B-BBED-6CC8DA68FDC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A476265F-F40F-4A59-B5E6-968FA32AD2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092EEEB-11BD-4DDA-9E94-4884B17471E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81AF02-E235-4A3A-8BEE-F778A324CC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1674997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A3CF36A1-9857-45A2-B90D-ECC1CAA73447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942E1D74-24BF-4D2A-8701-9A8D57FD187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BFAD710-D439-426E-BE2E-B1BDDE11AF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97FB8C1-C3F9-4579-A7C6-E07669EDBF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0C43394-8EF5-4940-8C44-10823BC7C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61600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BE6A440-C754-4513-B077-47F837A8725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8CA14CA-BAA6-45A0-9D78-B7F9FF3C3E0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731924D9-D413-4BC5-9385-1D60D5173020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F34AFB9-F75C-485B-B98D-03B7C4B5C9E8}" type="datetimeFigureOut">
              <a:rPr lang="zh-CN" altLang="en-US" smtClean="0"/>
              <a:t>2026/5/19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E83B7C0F-EAD4-45D9-B9B8-48306773011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FE62F70E-F3D1-4158-9806-609CA93018F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ECB0468-1B3D-4F6A-B91C-6DC657431CA5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295924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7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1" Type="http://schemas.openxmlformats.org/officeDocument/2006/relationships/tags" Target="../tags/tag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bk object 19">
            <a:extLst>
              <a:ext uri="{FF2B5EF4-FFF2-40B4-BE49-F238E27FC236}">
                <a16:creationId xmlns:a16="http://schemas.microsoft.com/office/drawing/2014/main" id="{2A77D5EF-D757-4FE6-9442-8D86E5735841}"/>
              </a:ext>
            </a:extLst>
          </p:cNvPr>
          <p:cNvSpPr/>
          <p:nvPr/>
        </p:nvSpPr>
        <p:spPr>
          <a:xfrm>
            <a:off x="0" y="764479"/>
            <a:ext cx="12192000" cy="25401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6" name="bk object 18">
            <a:extLst>
              <a:ext uri="{FF2B5EF4-FFF2-40B4-BE49-F238E27FC236}">
                <a16:creationId xmlns:a16="http://schemas.microsoft.com/office/drawing/2014/main" id="{503E7D83-ADF7-430D-B380-76F03034DBE7}"/>
              </a:ext>
            </a:extLst>
          </p:cNvPr>
          <p:cNvSpPr/>
          <p:nvPr/>
        </p:nvSpPr>
        <p:spPr>
          <a:xfrm>
            <a:off x="493795" y="0"/>
            <a:ext cx="695325" cy="692785"/>
          </a:xfrm>
          <a:custGeom>
            <a:avLst/>
            <a:gdLst/>
            <a:ahLst/>
            <a:cxnLst/>
            <a:rect l="l" t="t" r="r" b="b"/>
            <a:pathLst>
              <a:path w="695325" h="692785">
                <a:moveTo>
                  <a:pt x="694860" y="0"/>
                </a:moveTo>
                <a:lnTo>
                  <a:pt x="0" y="0"/>
                </a:lnTo>
                <a:lnTo>
                  <a:pt x="0" y="576648"/>
                </a:lnTo>
                <a:lnTo>
                  <a:pt x="9101" y="621727"/>
                </a:lnTo>
                <a:lnTo>
                  <a:pt x="33920" y="658540"/>
                </a:lnTo>
                <a:lnTo>
                  <a:pt x="70733" y="683359"/>
                </a:lnTo>
                <a:lnTo>
                  <a:pt x="115812" y="692461"/>
                </a:lnTo>
                <a:lnTo>
                  <a:pt x="579048" y="692461"/>
                </a:lnTo>
                <a:lnTo>
                  <a:pt x="624127" y="683359"/>
                </a:lnTo>
                <a:lnTo>
                  <a:pt x="660940" y="658540"/>
                </a:lnTo>
                <a:lnTo>
                  <a:pt x="685759" y="621727"/>
                </a:lnTo>
                <a:lnTo>
                  <a:pt x="694860" y="576648"/>
                </a:lnTo>
                <a:lnTo>
                  <a:pt x="694860" y="0"/>
                </a:lnTo>
                <a:close/>
              </a:path>
            </a:pathLst>
          </a:custGeom>
          <a:solidFill>
            <a:srgbClr val="002A7E"/>
          </a:solidFill>
        </p:spPr>
        <p:txBody>
          <a:bodyPr wrap="square" lIns="0" tIns="0" rIns="0" bIns="0" rtlCol="0" anchor="ctr" anchorCtr="1"/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2800" b="1" dirty="0">
                <a:solidFill>
                  <a:prstClr val="white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二</a:t>
            </a:r>
            <a:endParaRPr sz="2800" b="1" dirty="0">
              <a:solidFill>
                <a:prstClr val="white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7" name="文本框 46">
            <a:extLst>
              <a:ext uri="{FF2B5EF4-FFF2-40B4-BE49-F238E27FC236}">
                <a16:creationId xmlns:a16="http://schemas.microsoft.com/office/drawing/2014/main" id="{32104440-C344-4EC3-AB8D-5ED4C83848E9}"/>
              </a:ext>
            </a:extLst>
          </p:cNvPr>
          <p:cNvSpPr txBox="1"/>
          <p:nvPr/>
        </p:nvSpPr>
        <p:spPr>
          <a:xfrm>
            <a:off x="1402916" y="115558"/>
            <a:ext cx="6647974" cy="461665"/>
          </a:xfrm>
          <a:prstGeom prst="rect">
            <a:avLst/>
          </a:prstGeom>
          <a:noFill/>
        </p:spPr>
        <p:txBody>
          <a:bodyPr wrap="none" rtlCol="0" anchor="ctr" anchorCtr="0">
            <a:spAutoFit/>
          </a:bodyPr>
          <a:lstStyle/>
          <a:p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cs typeface="+mn-ea"/>
                <a:sym typeface="Arial" panose="020B0604020202020204" pitchFamily="34" charset="0"/>
              </a:rPr>
              <a:t>代表成果：</a:t>
            </a:r>
            <a:r>
              <a:rPr lang="zh-CN" altLang="en-US" sz="2400" b="1" dirty="0">
                <a:solidFill>
                  <a:prstClr val="black"/>
                </a:solidFill>
                <a:latin typeface="Arial" panose="020B0604020202020204" pitchFamily="34" charset="0"/>
                <a:ea typeface="微软雅黑" panose="020B0503020204020204" charset="-122"/>
                <a:sym typeface="Arial" panose="020B0604020202020204" pitchFamily="34" charset="0"/>
              </a:rPr>
              <a:t>针对未知攻击和样本漂移的检测框架</a:t>
            </a:r>
            <a:endParaRPr lang="zh-CN" altLang="en-US" sz="2400" b="1" dirty="0">
              <a:solidFill>
                <a:prstClr val="black"/>
              </a:solidFill>
              <a:latin typeface="Arial" panose="020B0604020202020204" pitchFamily="34" charset="0"/>
              <a:ea typeface="微软雅黑" panose="020B0503020204020204" charset="-122"/>
              <a:cs typeface="+mn-ea"/>
              <a:sym typeface="Arial" panose="020B0604020202020204" pitchFamily="34" charset="0"/>
            </a:endParaRPr>
          </a:p>
        </p:txBody>
      </p:sp>
      <p:sp>
        <p:nvSpPr>
          <p:cNvPr id="48" name="文本框 4">
            <a:extLst>
              <a:ext uri="{FF2B5EF4-FFF2-40B4-BE49-F238E27FC236}">
                <a16:creationId xmlns:a16="http://schemas.microsoft.com/office/drawing/2014/main" id="{ED94564E-D7C9-4B8D-84A2-8E984E351D41}"/>
              </a:ext>
            </a:extLst>
          </p:cNvPr>
          <p:cNvSpPr txBox="1"/>
          <p:nvPr/>
        </p:nvSpPr>
        <p:spPr>
          <a:xfrm>
            <a:off x="11304801" y="267633"/>
            <a:ext cx="78680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fld id="{F5304E13-479D-BD4F-B4A7-78935B937A33}" type="slidenum">
              <a:rPr kumimoji="1" lang="zh-CN" altLang="en-US" smtClean="0">
                <a:solidFill>
                  <a:prstClr val="black"/>
                </a:solidFill>
                <a:latin typeface="Arial"/>
                <a:ea typeface="微软雅黑"/>
              </a:rPr>
              <a:pPr/>
              <a:t>1</a:t>
            </a:fld>
            <a:endParaRPr lang="en-US" dirty="0">
              <a:solidFill>
                <a:prstClr val="black"/>
              </a:solidFill>
              <a:latin typeface="Arial"/>
              <a:ea typeface="微软雅黑"/>
            </a:endParaRPr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F412BE57-0AEC-402A-A5EA-A3DB5DCC178C}"/>
              </a:ext>
            </a:extLst>
          </p:cNvPr>
          <p:cNvSpPr/>
          <p:nvPr/>
        </p:nvSpPr>
        <p:spPr>
          <a:xfrm>
            <a:off x="432834" y="5913852"/>
            <a:ext cx="11398805" cy="389558"/>
          </a:xfrm>
          <a:prstGeom prst="rect">
            <a:avLst/>
          </a:prstGeom>
          <a:solidFill>
            <a:srgbClr val="003F87"/>
          </a:solidFill>
          <a:ln w="19050" cap="flat" cmpd="sng" algn="ctr">
            <a:noFill/>
            <a:prstDash val="solid"/>
            <a:miter lim="800000"/>
          </a:ln>
          <a:effectLst/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针对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二分类、不同比例多分类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下的测试实现</a:t>
            </a:r>
            <a:r>
              <a:rPr kumimoji="0" lang="en-US" altLang="zh-CN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SOTA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效果，支持刻画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特征重要性排序</a:t>
            </a:r>
            <a:r>
              <a:rPr kumimoji="0" lang="zh-CN" altLang="en-US" sz="16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，面对</a:t>
            </a:r>
            <a:r>
              <a:rPr lang="zh-CN" altLang="en-US" sz="16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训练时中毒、测试时逃避攻击鲁棒</a:t>
            </a:r>
            <a:endParaRPr kumimoji="0" lang="zh-CN" altLang="en-US" sz="16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3" name="任意多边形: 形状 70">
            <a:extLst>
              <a:ext uri="{FF2B5EF4-FFF2-40B4-BE49-F238E27FC236}">
                <a16:creationId xmlns:a16="http://schemas.microsoft.com/office/drawing/2014/main" id="{8107DE78-5433-4F8B-858A-CAF4A978093D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45595" y="788462"/>
            <a:ext cx="11545570" cy="574124"/>
          </a:xfrm>
          <a:custGeom>
            <a:avLst/>
            <a:gdLst>
              <a:gd name="connsiteX0" fmla="*/ 0 w 10000"/>
              <a:gd name="connsiteY0" fmla="*/ 0 h 10000"/>
              <a:gd name="connsiteX1" fmla="*/ 10000 w 10000"/>
              <a:gd name="connsiteY1" fmla="*/ 0 h 10000"/>
              <a:gd name="connsiteX2" fmla="*/ 8000 w 10000"/>
              <a:gd name="connsiteY2" fmla="*/ 10000 h 10000"/>
              <a:gd name="connsiteX3" fmla="*/ 2000 w 10000"/>
              <a:gd name="connsiteY3" fmla="*/ 10000 h 10000"/>
              <a:gd name="connsiteX4" fmla="*/ 0 w 10000"/>
              <a:gd name="connsiteY4" fmla="*/ 0 h 10000"/>
              <a:gd name="connsiteX0-1" fmla="*/ 0 w 10035"/>
              <a:gd name="connsiteY0-2" fmla="*/ 10012 h 10012"/>
              <a:gd name="connsiteX1-3" fmla="*/ 0 w 10035"/>
              <a:gd name="connsiteY1-4" fmla="*/ 12 h 10012"/>
              <a:gd name="connsiteX2-5" fmla="*/ 10035 w 10035"/>
              <a:gd name="connsiteY2-6" fmla="*/ 0 h 10012"/>
              <a:gd name="connsiteX3-7" fmla="*/ 10000 w 10035"/>
              <a:gd name="connsiteY3-8" fmla="*/ 8012 h 10012"/>
              <a:gd name="connsiteX4-9" fmla="*/ 0 w 10035"/>
              <a:gd name="connsiteY4-10" fmla="*/ 10012 h 10012"/>
              <a:gd name="connsiteX0-11" fmla="*/ 0 w 10035"/>
              <a:gd name="connsiteY0-12" fmla="*/ 10012 h 10012"/>
              <a:gd name="connsiteX1-13" fmla="*/ 0 w 10035"/>
              <a:gd name="connsiteY1-14" fmla="*/ 12 h 10012"/>
              <a:gd name="connsiteX2-15" fmla="*/ 10035 w 10035"/>
              <a:gd name="connsiteY2-16" fmla="*/ 0 h 10012"/>
              <a:gd name="connsiteX3-17" fmla="*/ 9965 w 10035"/>
              <a:gd name="connsiteY3-18" fmla="*/ 9867 h 10012"/>
              <a:gd name="connsiteX4-19" fmla="*/ 0 w 10035"/>
              <a:gd name="connsiteY4-20" fmla="*/ 10012 h 10012"/>
              <a:gd name="connsiteX0-21" fmla="*/ 0 w 10035"/>
              <a:gd name="connsiteY0-22" fmla="*/ 10012 h 10012"/>
              <a:gd name="connsiteX1-23" fmla="*/ 0 w 10035"/>
              <a:gd name="connsiteY1-24" fmla="*/ 12 h 10012"/>
              <a:gd name="connsiteX2-25" fmla="*/ 10035 w 10035"/>
              <a:gd name="connsiteY2-26" fmla="*/ 0 h 10012"/>
              <a:gd name="connsiteX3-27" fmla="*/ 9965 w 10035"/>
              <a:gd name="connsiteY3-28" fmla="*/ 9945 h 10012"/>
              <a:gd name="connsiteX4-29" fmla="*/ 0 w 10035"/>
              <a:gd name="connsiteY4-30" fmla="*/ 10012 h 10012"/>
              <a:gd name="connsiteX0-31" fmla="*/ 0 w 10035"/>
              <a:gd name="connsiteY0-32" fmla="*/ 10012 h 10023"/>
              <a:gd name="connsiteX1-33" fmla="*/ 0 w 10035"/>
              <a:gd name="connsiteY1-34" fmla="*/ 12 h 10023"/>
              <a:gd name="connsiteX2-35" fmla="*/ 10035 w 10035"/>
              <a:gd name="connsiteY2-36" fmla="*/ 0 h 10023"/>
              <a:gd name="connsiteX3-37" fmla="*/ 9965 w 10035"/>
              <a:gd name="connsiteY3-38" fmla="*/ 10023 h 10023"/>
              <a:gd name="connsiteX4-39" fmla="*/ 0 w 10035"/>
              <a:gd name="connsiteY4-40" fmla="*/ 10012 h 10023"/>
            </a:gdLst>
            <a:ahLst/>
            <a:cxnLst>
              <a:cxn ang="0">
                <a:pos x="connsiteX0-1" y="connsiteY0-2"/>
              </a:cxn>
              <a:cxn ang="0">
                <a:pos x="connsiteX1-3" y="connsiteY1-4"/>
              </a:cxn>
              <a:cxn ang="0">
                <a:pos x="connsiteX2-5" y="connsiteY2-6"/>
              </a:cxn>
              <a:cxn ang="0">
                <a:pos x="connsiteX3-7" y="connsiteY3-8"/>
              </a:cxn>
              <a:cxn ang="0">
                <a:pos x="connsiteX4-9" y="connsiteY4-10"/>
              </a:cxn>
            </a:cxnLst>
            <a:rect l="l" t="t" r="r" b="b"/>
            <a:pathLst>
              <a:path w="10035" h="10023">
                <a:moveTo>
                  <a:pt x="0" y="10012"/>
                </a:moveTo>
                <a:lnTo>
                  <a:pt x="0" y="12"/>
                </a:lnTo>
                <a:lnTo>
                  <a:pt x="10035" y="0"/>
                </a:lnTo>
                <a:cubicBezTo>
                  <a:pt x="10023" y="2671"/>
                  <a:pt x="9977" y="7352"/>
                  <a:pt x="9965" y="10023"/>
                </a:cubicBezTo>
                <a:lnTo>
                  <a:pt x="0" y="10012"/>
                </a:lnTo>
                <a:close/>
              </a:path>
            </a:pathLst>
          </a:custGeom>
          <a:solidFill>
            <a:srgbClr val="003F87"/>
          </a:solidFill>
          <a:ln w="12700" cap="flat" cmpd="sng" algn="ctr">
            <a:noFill/>
            <a:prstDash val="solid"/>
            <a:miter lim="800000"/>
          </a:ln>
          <a:effectLst/>
        </p:spPr>
        <p:txBody>
          <a:bodyPr spcFirstLastPara="0" vert="horz" wrap="square" lIns="266701" tIns="845686" rIns="263922" bIns="845687" numCol="1" spcCol="1270" anchor="t" anchorCtr="0">
            <a:noAutofit/>
          </a:bodyPr>
          <a:lstStyle/>
          <a:p>
            <a:pPr marL="0" lvl="1" defTabSz="1466850">
              <a:lnSpc>
                <a:spcPct val="40000"/>
              </a:lnSpc>
              <a:spcBef>
                <a:spcPct val="0"/>
              </a:spcBef>
              <a:spcAft>
                <a:spcPct val="15000"/>
              </a:spcAft>
              <a:defRPr/>
            </a:pP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针对开集世界</a:t>
            </a:r>
            <a:r>
              <a:rPr kumimoji="0" lang="zh-CN" altLang="en-US" sz="2400" b="1" i="0" u="none" strike="noStrike" kern="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微软雅黑" panose="020B0503020204020204" charset="-122"/>
                <a:ea typeface="微软雅黑" panose="020B0503020204020204" charset="-122"/>
                <a:cs typeface="+mn-cs"/>
              </a:rPr>
              <a:t>未知攻击和样本漂移</a:t>
            </a:r>
            <a:r>
              <a:rPr lang="zh-CN" altLang="en-US" sz="2400" b="1" kern="0" dirty="0">
                <a:solidFill>
                  <a:prstClr val="white"/>
                </a:solidFill>
                <a:latin typeface="微软雅黑" panose="020B0503020204020204" charset="-122"/>
                <a:ea typeface="微软雅黑" panose="020B0503020204020204" charset="-122"/>
              </a:rPr>
              <a:t>，细粒度未知类检测</a:t>
            </a:r>
            <a:endParaRPr kumimoji="0" lang="zh-CN" altLang="en-US" sz="2400" b="1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微软雅黑" panose="020B0503020204020204" charset="-122"/>
              <a:ea typeface="微软雅黑" panose="020B0503020204020204" charset="-122"/>
              <a:cs typeface="+mn-cs"/>
            </a:endParaRPr>
          </a:p>
        </p:txBody>
      </p:sp>
      <p:sp>
        <p:nvSpPr>
          <p:cNvPr id="54" name="文本框 19">
            <a:extLst>
              <a:ext uri="{FF2B5EF4-FFF2-40B4-BE49-F238E27FC236}">
                <a16:creationId xmlns:a16="http://schemas.microsoft.com/office/drawing/2014/main" id="{07186F90-1D5C-4B0E-ADAB-4308D6D8C78D}"/>
              </a:ext>
            </a:extLst>
          </p:cNvPr>
          <p:cNvSpPr txBox="1"/>
          <p:nvPr/>
        </p:nvSpPr>
        <p:spPr>
          <a:xfrm>
            <a:off x="243995" y="6400608"/>
            <a:ext cx="11846405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913765"/>
            <a:r>
              <a:rPr lang="en-US" altLang="zh-CN" sz="1400" i="1" dirty="0">
                <a:solidFill>
                  <a:srgbClr val="000000"/>
                </a:solidFill>
                <a:latin typeface="Arial"/>
                <a:ea typeface="黑体" panose="02010609060101010101" pitchFamily="49" charset="-122"/>
              </a:rPr>
              <a:t>FOSS: Towards Fine-Grained Unknown Class Detection against the Open-Set Attack Spectrum with Variable Legitimate Traffic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（</a:t>
            </a:r>
            <a:r>
              <a:rPr lang="en-US" altLang="zh-CN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TON 2024, CCF A</a:t>
            </a:r>
            <a:r>
              <a:rPr lang="zh-CN" altLang="en-US" sz="1400" i="1" dirty="0">
                <a:solidFill>
                  <a:srgbClr val="FF0000"/>
                </a:solidFill>
                <a:latin typeface="Arial"/>
                <a:ea typeface="黑体" panose="02010609060101010101" pitchFamily="49" charset="-122"/>
              </a:rPr>
              <a:t>）</a:t>
            </a:r>
          </a:p>
        </p:txBody>
      </p:sp>
      <p:sp>
        <p:nvSpPr>
          <p:cNvPr id="59" name="文本框 19">
            <a:extLst>
              <a:ext uri="{FF2B5EF4-FFF2-40B4-BE49-F238E27FC236}">
                <a16:creationId xmlns:a16="http://schemas.microsoft.com/office/drawing/2014/main" id="{268409AB-EB13-4D06-972C-008FFFB86C8C}"/>
              </a:ext>
            </a:extLst>
          </p:cNvPr>
          <p:cNvSpPr txBox="1"/>
          <p:nvPr/>
        </p:nvSpPr>
        <p:spPr>
          <a:xfrm>
            <a:off x="294265" y="2497549"/>
            <a:ext cx="411527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超平面划分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pic>
        <p:nvPicPr>
          <p:cNvPr id="16" name="图片 15">
            <a:extLst>
              <a:ext uri="{FF2B5EF4-FFF2-40B4-BE49-F238E27FC236}">
                <a16:creationId xmlns:a16="http://schemas.microsoft.com/office/drawing/2014/main" id="{020537FE-D608-4BAE-A541-3FD58162E279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28277" y="2569747"/>
            <a:ext cx="6781965" cy="1576890"/>
          </a:xfrm>
          <a:prstGeom prst="rect">
            <a:avLst/>
          </a:prstGeom>
        </p:spPr>
      </p:pic>
      <p:pic>
        <p:nvPicPr>
          <p:cNvPr id="18" name="图片 17">
            <a:extLst>
              <a:ext uri="{FF2B5EF4-FFF2-40B4-BE49-F238E27FC236}">
                <a16:creationId xmlns:a16="http://schemas.microsoft.com/office/drawing/2014/main" id="{918B0809-C4CD-4183-8FC2-5E74C820C783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/>
          <a:stretch/>
        </p:blipFill>
        <p:spPr>
          <a:xfrm>
            <a:off x="705792" y="2464135"/>
            <a:ext cx="4339570" cy="1649798"/>
          </a:xfrm>
          <a:prstGeom prst="rect">
            <a:avLst/>
          </a:prstGeom>
        </p:spPr>
      </p:pic>
      <p:pic>
        <p:nvPicPr>
          <p:cNvPr id="19" name="图片 18">
            <a:extLst>
              <a:ext uri="{FF2B5EF4-FFF2-40B4-BE49-F238E27FC236}">
                <a16:creationId xmlns:a16="http://schemas.microsoft.com/office/drawing/2014/main" id="{F5D201D5-A95F-4753-B191-DC73D9A083E2}"/>
              </a:ext>
            </a:extLst>
          </p:cNvPr>
          <p:cNvPicPr>
            <a:picLocks noChangeAspect="1"/>
          </p:cNvPicPr>
          <p:nvPr/>
        </p:nvPicPr>
        <p:blipFill>
          <a:blip r:embed="rId6"/>
          <a:srcRect/>
          <a:stretch/>
        </p:blipFill>
        <p:spPr>
          <a:xfrm>
            <a:off x="705792" y="4228309"/>
            <a:ext cx="4290949" cy="1455284"/>
          </a:xfrm>
          <a:prstGeom prst="rect">
            <a:avLst/>
          </a:prstGeom>
        </p:spPr>
      </p:pic>
      <p:pic>
        <p:nvPicPr>
          <p:cNvPr id="20" name="图片 19">
            <a:extLst>
              <a:ext uri="{FF2B5EF4-FFF2-40B4-BE49-F238E27FC236}">
                <a16:creationId xmlns:a16="http://schemas.microsoft.com/office/drawing/2014/main" id="{5307C436-F35E-44C1-A966-D28FFF79570B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96000" y="4276366"/>
            <a:ext cx="4206223" cy="1444274"/>
          </a:xfrm>
          <a:prstGeom prst="rect">
            <a:avLst/>
          </a:prstGeom>
        </p:spPr>
      </p:pic>
      <p:sp>
        <p:nvSpPr>
          <p:cNvPr id="21" name="文本框 19">
            <a:extLst>
              <a:ext uri="{FF2B5EF4-FFF2-40B4-BE49-F238E27FC236}">
                <a16:creationId xmlns:a16="http://schemas.microsoft.com/office/drawing/2014/main" id="{A13D6D59-5DA3-4479-88E0-37BA313C4E8E}"/>
              </a:ext>
            </a:extLst>
          </p:cNvPr>
          <p:cNvSpPr txBox="1"/>
          <p:nvPr/>
        </p:nvSpPr>
        <p:spPr>
          <a:xfrm>
            <a:off x="250550" y="4134175"/>
            <a:ext cx="498956" cy="15696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利用隔离概念</a:t>
            </a:r>
            <a:endParaRPr lang="en-US" altLang="zh-CN" sz="1600" b="1" dirty="0">
              <a:solidFill>
                <a:prstClr val="black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19">
            <a:extLst>
              <a:ext uri="{FF2B5EF4-FFF2-40B4-BE49-F238E27FC236}">
                <a16:creationId xmlns:a16="http://schemas.microsoft.com/office/drawing/2014/main" id="{D4702F5B-A76F-4FFA-87E5-055EE7FDFD37}"/>
              </a:ext>
            </a:extLst>
          </p:cNvPr>
          <p:cNvSpPr txBox="1"/>
          <p:nvPr/>
        </p:nvSpPr>
        <p:spPr>
          <a:xfrm>
            <a:off x="5064359" y="4503506"/>
            <a:ext cx="1118645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在局部异常中识别异常值</a:t>
            </a:r>
          </a:p>
        </p:txBody>
      </p:sp>
      <p:sp>
        <p:nvSpPr>
          <p:cNvPr id="49" name="矩形: 圆角 28">
            <a:extLst>
              <a:ext uri="{FF2B5EF4-FFF2-40B4-BE49-F238E27FC236}">
                <a16:creationId xmlns:a16="http://schemas.microsoft.com/office/drawing/2014/main" id="{D67A5DDC-E7A5-449D-B1E1-86D8CA00A6F0}"/>
              </a:ext>
            </a:extLst>
          </p:cNvPr>
          <p:cNvSpPr/>
          <p:nvPr/>
        </p:nvSpPr>
        <p:spPr>
          <a:xfrm>
            <a:off x="345874" y="1422594"/>
            <a:ext cx="11512931" cy="956829"/>
          </a:xfrm>
          <a:prstGeom prst="roundRect">
            <a:avLst>
              <a:gd name="adj" fmla="val 3558"/>
            </a:avLst>
          </a:prstGeom>
          <a:solidFill>
            <a:sysClr val="window" lastClr="FFFFFF"/>
          </a:solidFill>
          <a:ln w="6350" cap="flat" cmpd="sng" algn="ctr">
            <a:solidFill>
              <a:srgbClr val="003399">
                <a:alpha val="28000"/>
              </a:srgbClr>
            </a:solidFill>
            <a:prstDash val="solid"/>
            <a:miter lim="800000"/>
          </a:ln>
          <a:effectLst>
            <a:outerShdw blurRad="203200" dist="88900" dir="5400000" sx="96000" sy="96000" algn="t" rotWithShape="0">
              <a:srgbClr val="003399">
                <a:alpha val="23000"/>
              </a:srgbClr>
            </a:outerShdw>
          </a:effectLst>
        </p:spPr>
        <p:txBody>
          <a:bodyPr rtlCol="0" anchor="ctr"/>
          <a:lstStyle/>
          <a:p>
            <a:pPr marL="0" marR="0" lvl="0" indent="0" algn="ctr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zh-CN" altLang="en-US" sz="1350" b="0" i="0" u="none" strike="noStrike" kern="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Roboto" panose="02000000000000000000"/>
              <a:ea typeface="思源黑体 CN Regular"/>
              <a:cs typeface="+mn-cs"/>
            </a:endParaRPr>
          </a:p>
        </p:txBody>
      </p:sp>
      <p:sp>
        <p:nvSpPr>
          <p:cNvPr id="50" name="文本框 7">
            <a:extLst>
              <a:ext uri="{FF2B5EF4-FFF2-40B4-BE49-F238E27FC236}">
                <a16:creationId xmlns:a16="http://schemas.microsoft.com/office/drawing/2014/main" id="{700408FA-D0AD-4A5F-BA7E-1DB4212A8642}"/>
              </a:ext>
            </a:extLst>
          </p:cNvPr>
          <p:cNvSpPr txBox="1"/>
          <p:nvPr/>
        </p:nvSpPr>
        <p:spPr>
          <a:xfrm>
            <a:off x="522339" y="1501187"/>
            <a:ext cx="11160000" cy="799706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342900" indent="-342900">
              <a:buFont typeface="Wingdings" panose="05000000000000000000" pitchFamily="2" charset="2"/>
              <a:buChar char="Ø"/>
              <a:defRPr sz="2000" b="1">
                <a:solidFill>
                  <a:srgbClr val="2E8DBB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pPr marL="0" lvl="1">
              <a:lnSpc>
                <a:spcPct val="120000"/>
              </a:lnSpc>
              <a:spcBef>
                <a:spcPct val="0"/>
              </a:spcBef>
              <a:buSzPct val="95000"/>
              <a:defRPr/>
            </a:pP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考虑复杂多变的网络攻击行为，异常检测可以检测未知攻击。当前异常检测多为二分类模型，不能知道是哪种恶意。旨在设计一种新型的流量分析模型，实现已知类别</a:t>
            </a:r>
            <a:r>
              <a:rPr lang="en-US" altLang="zh-CN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/</a:t>
            </a:r>
            <a:r>
              <a:rPr lang="zh-CN" altLang="en-US" sz="20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未知类别分类（细粒度）。</a:t>
            </a:r>
          </a:p>
        </p:txBody>
      </p:sp>
      <p:sp>
        <p:nvSpPr>
          <p:cNvPr id="23" name="文本框 19">
            <a:extLst>
              <a:ext uri="{FF2B5EF4-FFF2-40B4-BE49-F238E27FC236}">
                <a16:creationId xmlns:a16="http://schemas.microsoft.com/office/drawing/2014/main" id="{F851F652-D5A5-417A-BBBB-EF142C5F73DB}"/>
              </a:ext>
            </a:extLst>
          </p:cNvPr>
          <p:cNvSpPr txBox="1"/>
          <p:nvPr/>
        </p:nvSpPr>
        <p:spPr>
          <a:xfrm>
            <a:off x="10520185" y="4228309"/>
            <a:ext cx="1260654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zh-CN" altLang="en-US" sz="1600" b="1" dirty="0">
                <a:solidFill>
                  <a:prstClr val="black"/>
                </a:solidFill>
                <a:latin typeface="微软雅黑" panose="020B0503020204020204" charset="-122"/>
                <a:ea typeface="微软雅黑" panose="020B0503020204020204" charset="-122"/>
              </a:rPr>
              <a:t>细粒度、可增量检测新兴类别</a:t>
            </a:r>
          </a:p>
        </p:txBody>
      </p:sp>
    </p:spTree>
    <p:extLst>
      <p:ext uri="{BB962C8B-B14F-4D97-AF65-F5344CB8AC3E}">
        <p14:creationId xmlns:p14="http://schemas.microsoft.com/office/powerpoint/2010/main" val="2633355142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M_DIAGRAM_VIRTUALLY_FRAME" val="{&quot;height&quot;:248.65173228346458,&quot;left&quot;:101.41637795275591,&quot;top&quot;:117.93330708661418,&quot;width&quot;:758.0084251968503}"/>
  <p:tag name="KSO_WM_BEAUTIFY_FLAG" val=""/>
</p:tagLst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119</TotalTime>
  <Words>149</Words>
  <Application>Microsoft Office PowerPoint</Application>
  <PresentationFormat>宽屏</PresentationFormat>
  <Paragraphs>11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9" baseType="lpstr">
      <vt:lpstr>等线</vt:lpstr>
      <vt:lpstr>等线 Light</vt:lpstr>
      <vt:lpstr>黑体</vt:lpstr>
      <vt:lpstr>思源黑体 CN Regular</vt:lpstr>
      <vt:lpstr>微软雅黑</vt:lpstr>
      <vt:lpstr>Arial</vt:lpstr>
      <vt:lpstr>Roboto</vt:lpstr>
      <vt:lpstr>Office 主题​​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ZZM</dc:creator>
  <cp:lastModifiedBy>ZZM</cp:lastModifiedBy>
  <cp:revision>17</cp:revision>
  <dcterms:created xsi:type="dcterms:W3CDTF">2026-05-19T12:30:22Z</dcterms:created>
  <dcterms:modified xsi:type="dcterms:W3CDTF">2026-05-19T14:56:56Z</dcterms:modified>
</cp:coreProperties>
</file>