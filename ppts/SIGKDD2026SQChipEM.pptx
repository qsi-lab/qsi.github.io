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1DC8369D-E158-4B5B-B0B8-CB53F3C73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591" y="4502488"/>
            <a:ext cx="3098416" cy="141605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241BB71-97AE-46D3-851E-CBC3993C4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35" y="4888895"/>
            <a:ext cx="4638248" cy="95061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7EF1EE7-BEFD-4E79-B19B-9A7D7BBC31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988"/>
          <a:stretch/>
        </p:blipFill>
        <p:spPr>
          <a:xfrm>
            <a:off x="1005035" y="2591357"/>
            <a:ext cx="4437843" cy="2209611"/>
          </a:xfrm>
          <a:prstGeom prst="rect">
            <a:avLst/>
          </a:prstGeom>
        </p:spPr>
      </p:pic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664797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代表成果：量子芯片版图数据集与基准任务评估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25" name="任意多边形: 形状 70">
            <a:extLst>
              <a:ext uri="{FF2B5EF4-FFF2-40B4-BE49-F238E27FC236}">
                <a16:creationId xmlns:a16="http://schemas.microsoft.com/office/drawing/2014/main" id="{6A689FD7-F450-4F14-A420-F2AB144BF78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444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en-US" altLang="zh-CN" sz="24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SQChip</a:t>
            </a: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-EM</a:t>
            </a: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：版图到电磁仿真的数据集构建流程</a:t>
            </a:r>
          </a:p>
        </p:txBody>
      </p:sp>
      <p:sp>
        <p:nvSpPr>
          <p:cNvPr id="17" name="矩形: 圆角 28">
            <a:extLst>
              <a:ext uri="{FF2B5EF4-FFF2-40B4-BE49-F238E27FC236}">
                <a16:creationId xmlns:a16="http://schemas.microsoft.com/office/drawing/2014/main" id="{8E86D7B7-1088-435A-94A7-87246350AA72}"/>
              </a:ext>
            </a:extLst>
          </p:cNvPr>
          <p:cNvSpPr/>
          <p:nvPr/>
        </p:nvSpPr>
        <p:spPr>
          <a:xfrm>
            <a:off x="333196" y="1391228"/>
            <a:ext cx="11512931" cy="1103378"/>
          </a:xfrm>
          <a:prstGeom prst="roundRect">
            <a:avLst>
              <a:gd name="adj" fmla="val 3558"/>
            </a:avLst>
          </a:prstGeom>
          <a:solidFill>
            <a:schemeClr val="bg1"/>
          </a:solidFill>
          <a:ln w="6350">
            <a:solidFill>
              <a:srgbClr val="003399">
                <a:alpha val="28000"/>
              </a:srgbClr>
            </a:solidFill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1" indent="-3429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Pct val="9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数据集构建：</a:t>
            </a:r>
            <a:r>
              <a:rPr lang="en-US" altLang="zh-CN" sz="2000" b="1" dirty="0" err="1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Qiskit</a:t>
            </a:r>
            <a:r>
              <a:rPr lang="en-US" altLang="zh-CN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Metal 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参数化版图生成，高保真 </a:t>
            </a:r>
            <a:r>
              <a:rPr lang="en-US" altLang="zh-CN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Ansys HFSS/Q3D 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电磁仿真流程自动关联</a:t>
            </a:r>
            <a:endParaRPr lang="en-US" altLang="zh-CN" sz="2000" b="1" dirty="0">
              <a:solidFill>
                <a:srgbClr val="0441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Pct val="9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数据覆盖：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 </a:t>
            </a:r>
            <a:r>
              <a:rPr lang="en-US" altLang="zh-CN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1-8 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量子比特芯片设计，保留原始版图、器件结构到</a:t>
            </a:r>
            <a:r>
              <a:rPr lang="en-US" altLang="zh-CN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输出响应的完整映射链路</a:t>
            </a:r>
            <a:endParaRPr lang="en-US" altLang="zh-CN" sz="2000" b="1" dirty="0">
              <a:solidFill>
                <a:srgbClr val="0441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Pct val="9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数据价值：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不仅提供原始版图样本，还为量子芯片建模、预测与优化任务提供统一的数据基础</a:t>
            </a:r>
            <a:endParaRPr lang="en-US" altLang="zh-CN" sz="2000" b="1" dirty="0">
              <a:solidFill>
                <a:srgbClr val="0441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 descr="图示&#10;&#10;AI 生成的内容可能不正确。">
            <a:extLst>
              <a:ext uri="{FF2B5EF4-FFF2-40B4-BE49-F238E27FC236}">
                <a16:creationId xmlns:a16="http://schemas.microsoft.com/office/drawing/2014/main" id="{092A8020-08E7-4F73-99FF-E99609A593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07" y="2657457"/>
            <a:ext cx="3098415" cy="238484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3AF2218-1E8C-445A-9E51-32364D29E227}"/>
              </a:ext>
            </a:extLst>
          </p:cNvPr>
          <p:cNvSpPr txBox="1"/>
          <p:nvPr/>
        </p:nvSpPr>
        <p:spPr>
          <a:xfrm>
            <a:off x="9251170" y="5014532"/>
            <a:ext cx="25949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单比特版图生成示意图</a:t>
            </a:r>
          </a:p>
        </p:txBody>
      </p:sp>
      <p:sp>
        <p:nvSpPr>
          <p:cNvPr id="23" name="文本框 19">
            <a:extLst>
              <a:ext uri="{FF2B5EF4-FFF2-40B4-BE49-F238E27FC236}">
                <a16:creationId xmlns:a16="http://schemas.microsoft.com/office/drawing/2014/main" id="{26064176-6362-457D-9484-79B9D28B6480}"/>
              </a:ext>
            </a:extLst>
          </p:cNvPr>
          <p:cNvSpPr txBox="1"/>
          <p:nvPr/>
        </p:nvSpPr>
        <p:spPr>
          <a:xfrm>
            <a:off x="360791" y="2952845"/>
            <a:ext cx="6035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自动版图生成与电子仿真数据集构建流程</a:t>
            </a:r>
          </a:p>
        </p:txBody>
      </p:sp>
      <p:sp>
        <p:nvSpPr>
          <p:cNvPr id="24" name="文本框 33">
            <a:extLst>
              <a:ext uri="{FF2B5EF4-FFF2-40B4-BE49-F238E27FC236}">
                <a16:creationId xmlns:a16="http://schemas.microsoft.com/office/drawing/2014/main" id="{73943CCE-41AE-46A6-A0CE-72B217C1C01E}"/>
              </a:ext>
            </a:extLst>
          </p:cNvPr>
          <p:cNvSpPr txBox="1"/>
          <p:nvPr/>
        </p:nvSpPr>
        <p:spPr>
          <a:xfrm>
            <a:off x="832958" y="6533542"/>
            <a:ext cx="104718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SQChip</a:t>
            </a:r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-EM: A </a:t>
            </a:r>
            <a:r>
              <a:rPr lang="en-US" altLang="zh-CN" sz="1400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Qiskit</a:t>
            </a:r>
            <a:r>
              <a:rPr lang="en-US" altLang="zh-CN" sz="14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-Metal-Based Layout-to-EM Simulation Dataset for Superconducting Quantum Chips. </a:t>
            </a:r>
            <a:r>
              <a:rPr lang="en-US" altLang="zh-CN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KDD 2026</a:t>
            </a:r>
            <a:r>
              <a:rPr lang="zh-CN" altLang="en-US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CCF-A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会议</a:t>
            </a:r>
            <a:r>
              <a:rPr lang="zh-CN" altLang="en-US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7" name="矩形 18">
            <a:extLst>
              <a:ext uri="{FF2B5EF4-FFF2-40B4-BE49-F238E27FC236}">
                <a16:creationId xmlns:a16="http://schemas.microsoft.com/office/drawing/2014/main" id="{51FB16E9-66D4-444C-B0B5-704D0E0B937E}"/>
              </a:ext>
            </a:extLst>
          </p:cNvPr>
          <p:cNvSpPr/>
          <p:nvPr/>
        </p:nvSpPr>
        <p:spPr>
          <a:xfrm>
            <a:off x="430513" y="5908828"/>
            <a:ext cx="11375727" cy="557346"/>
          </a:xfrm>
          <a:prstGeom prst="rect">
            <a:avLst/>
          </a:prstGeom>
          <a:solidFill>
            <a:srgbClr val="003F8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相较于SQuADDS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等现有资源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SQChip-EM保留</a:t>
            </a:r>
            <a:r>
              <a:rPr lang="en-US" altLang="zh-CN" b="1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从版图到EM响应的完整链路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同时提供原始EM工件与派生指标，覆盖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1-8 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量子比特设计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并定义了</a:t>
            </a:r>
            <a:r>
              <a:rPr lang="en-US" altLang="zh-CN" b="1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</a:t>
            </a: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</a:t>
            </a: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下游</a:t>
            </a: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调控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四类标准化基准任务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1143CB4-213B-438B-A926-CD0EF62213A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042"/>
          <a:stretch>
            <a:fillRect/>
          </a:stretch>
        </p:blipFill>
        <p:spPr>
          <a:xfrm>
            <a:off x="5559300" y="2657457"/>
            <a:ext cx="2289530" cy="1909377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9CF9CFC-B7C2-4716-B081-79FDEE979620}"/>
              </a:ext>
            </a:extLst>
          </p:cNvPr>
          <p:cNvSpPr txBox="1"/>
          <p:nvPr/>
        </p:nvSpPr>
        <p:spPr>
          <a:xfrm>
            <a:off x="8837557" y="5482347"/>
            <a:ext cx="12898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频率分布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081743-53E7-4327-8813-6BA0BFD80F00}"/>
              </a:ext>
            </a:extLst>
          </p:cNvPr>
          <p:cNvSpPr txBox="1"/>
          <p:nvPr/>
        </p:nvSpPr>
        <p:spPr>
          <a:xfrm>
            <a:off x="7936969" y="3029789"/>
            <a:ext cx="5544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基准任务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157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黑体</vt:lpstr>
      <vt:lpstr>微软雅黑</vt:lpstr>
      <vt:lpstr>Arial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37</cp:revision>
  <dcterms:created xsi:type="dcterms:W3CDTF">2026-05-19T12:30:22Z</dcterms:created>
  <dcterms:modified xsi:type="dcterms:W3CDTF">2026-08-07T18:09:48Z</dcterms:modified>
</cp:coreProperties>
</file>