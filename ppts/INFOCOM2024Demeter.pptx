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100" d="100"/>
          <a:sy n="100" d="100"/>
        </p:scale>
        <p:origin x="452" y="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405969-857F-4959-876C-4AC174078F2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5724217-0C20-4D7E-AF88-2A8262F1DCA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6C011AC-826D-4D77-8F87-446F7D00B5C5}"/>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ECF74BA6-7437-40F5-BF1E-40176C097C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7DDE782-9F59-4CB0-96F2-713D80C8F8CC}"/>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2345399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0837-E839-4F25-A110-13BCF5A1E7A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C4360D6-314B-4CA8-ABBB-5E4E4DB2872D}"/>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2497055-ABC9-4E3D-9D9B-AF54AD514383}"/>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0FF4DBBF-9F69-48DA-B744-19287AFD156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2EA34C5-8BCD-480D-9DBB-94D4DB75D369}"/>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3860904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B32C89-1BEF-4372-8747-16A704C7473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7F26452-F6AC-4F34-B18D-B7A76EC11D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69BB4810-74CB-4ECD-BEB3-1078CA0E2131}"/>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AA58801F-9CD9-4733-8D81-56BCC53C895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86EB79F-E23B-4732-B063-F48152B5E273}"/>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2257247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3D9273-FE92-479A-8339-CE868D68505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50965DA-72F6-4EE9-95B3-4948C768D604}"/>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E4A97795-F3E8-4510-9FC7-21DFB498E5A8}"/>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862B348F-4A7A-4602-879E-67F1D0E6A33F}"/>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7A5EF639-0907-4FF6-97C3-E294E024B75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98B9471-6918-417D-AE16-EC3CAE4B78D2}"/>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1678431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26986D-2266-421C-994B-EC19CED1CC8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F569F84-333E-45EA-9341-BBA957D660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0C0010DE-D72C-4355-99F5-BFD42ABE947E}"/>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A1688286-1562-4832-97A5-9EC055C5EF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07016189-C0C8-4EB1-9A2C-D83DCC204243}"/>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21C78DF9-43B1-49E8-AA98-BEAB4D165B84}"/>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8" name="页脚占位符 7">
            <a:extLst>
              <a:ext uri="{FF2B5EF4-FFF2-40B4-BE49-F238E27FC236}">
                <a16:creationId xmlns:a16="http://schemas.microsoft.com/office/drawing/2014/main" id="{4C83742D-7417-4732-A7C0-7C10C904D6D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B196843-7856-4531-B527-CC752487A69B}"/>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3669307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5BA13D-92E0-4203-B38B-A8C69EA54C01}"/>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9D57C69-C0B6-4FE1-8CB8-6B611D77D0FB}"/>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4" name="页脚占位符 3">
            <a:extLst>
              <a:ext uri="{FF2B5EF4-FFF2-40B4-BE49-F238E27FC236}">
                <a16:creationId xmlns:a16="http://schemas.microsoft.com/office/drawing/2014/main" id="{EA40A965-1D9C-4AF6-AF5D-01BA5FDFDE9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C2B82C8-DB24-40AE-B75F-341873CF7045}"/>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2210126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AB334CF-2B32-4AEA-84AE-46230AF95312}"/>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3" name="页脚占位符 2">
            <a:extLst>
              <a:ext uri="{FF2B5EF4-FFF2-40B4-BE49-F238E27FC236}">
                <a16:creationId xmlns:a16="http://schemas.microsoft.com/office/drawing/2014/main" id="{41770DDA-2D46-42F5-B6A9-5AFC6EF376F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0762F03D-7DA9-492D-8F94-72AE4FA92131}"/>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3587136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46093A-ED7E-4757-B9F4-14A6E79F419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4D19B68-4BD5-483C-A571-0E77BFDE1B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E3B62867-0A7A-4159-828A-F54462722F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9C7B0D3-DF1B-4854-939E-CEA82BA04404}"/>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092891B9-7AE7-4033-ABF3-06C0106659B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077E58D-C106-46FE-8476-B37AAE9DE7E1}"/>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4252370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680EDC-05D3-4CCF-BF75-424A7A3951E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D090CA33-87F7-4A6F-831C-35E1454A1D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A9E82BA-9579-4CB7-A150-90D066FBA0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A5C9A9D4-B84E-406E-AC5B-34E09E696A87}"/>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6" name="页脚占位符 5">
            <a:extLst>
              <a:ext uri="{FF2B5EF4-FFF2-40B4-BE49-F238E27FC236}">
                <a16:creationId xmlns:a16="http://schemas.microsoft.com/office/drawing/2014/main" id="{1FCC7D52-F513-40FD-8293-A18D2E35CEF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31C79DE-EB15-425E-A265-E24463E767F9}"/>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2436874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EF0B44-86FF-4835-A086-5367F343BB4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683615F-CA5C-478B-BBED-6CC8DA68FDC6}"/>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476265F-F40F-4A59-B5E6-968FA32AD2E2}"/>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9092EEEB-11BD-4DDA-9E94-4884B17471E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981AF02-E235-4A3A-8BEE-F778A324CC83}"/>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37167499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3CF36A1-9857-45A2-B90D-ECC1CAA7344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42E1D74-24BF-4D2A-8701-9A8D57FD187A}"/>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BFAD710-D439-426E-BE2E-B1BDDE11AFC9}"/>
              </a:ext>
            </a:extLst>
          </p:cNvPr>
          <p:cNvSpPr>
            <a:spLocks noGrp="1"/>
          </p:cNvSpPr>
          <p:nvPr>
            <p:ph type="dt" sz="half" idx="10"/>
          </p:nvPr>
        </p:nvSpPr>
        <p:spPr/>
        <p:txBody>
          <a:bodyPr/>
          <a:lstStyle/>
          <a:p>
            <a:fld id="{4F34AFB9-F75C-485B-B98D-03B7C4B5C9E8}"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297FB8C1-C3F9-4579-A7C6-E07669EDBFE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0C43394-8EF5-4940-8C44-10823BC7C58A}"/>
              </a:ext>
            </a:extLst>
          </p:cNvPr>
          <p:cNvSpPr>
            <a:spLocks noGrp="1"/>
          </p:cNvSpPr>
          <p:nvPr>
            <p:ph type="sldNum" sz="quarter" idx="12"/>
          </p:nvPr>
        </p:nvSpPr>
        <p:spPr/>
        <p:txBody>
          <a:body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706160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BE6A440-C754-4513-B077-47F837A872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38CA14CA-BAA6-45A0-9D78-B7F9FF3C3E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731924D9-D413-4BC5-9385-1D60D51730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34AFB9-F75C-485B-B98D-03B7C4B5C9E8}" type="datetimeFigureOut">
              <a:rPr lang="zh-CN" altLang="en-US" smtClean="0"/>
              <a:t>2026/5/19</a:t>
            </a:fld>
            <a:endParaRPr lang="zh-CN" altLang="en-US"/>
          </a:p>
        </p:txBody>
      </p:sp>
      <p:sp>
        <p:nvSpPr>
          <p:cNvPr id="5" name="页脚占位符 4">
            <a:extLst>
              <a:ext uri="{FF2B5EF4-FFF2-40B4-BE49-F238E27FC236}">
                <a16:creationId xmlns:a16="http://schemas.microsoft.com/office/drawing/2014/main" id="{E83B7C0F-EAD4-45D9-B9B8-4830677301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E62F70E-F3D1-4158-9806-609CA93018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CB0468-1B3D-4F6A-B91C-6DC657431CA5}" type="slidenum">
              <a:rPr lang="zh-CN" altLang="en-US" smtClean="0"/>
              <a:t>‹#›</a:t>
            </a:fld>
            <a:endParaRPr lang="zh-CN" altLang="en-US"/>
          </a:p>
        </p:txBody>
      </p:sp>
    </p:spTree>
    <p:extLst>
      <p:ext uri="{BB962C8B-B14F-4D97-AF65-F5344CB8AC3E}">
        <p14:creationId xmlns:p14="http://schemas.microsoft.com/office/powerpoint/2010/main" val="2129592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图片 53">
            <a:extLst>
              <a:ext uri="{FF2B5EF4-FFF2-40B4-BE49-F238E27FC236}">
                <a16:creationId xmlns:a16="http://schemas.microsoft.com/office/drawing/2014/main" id="{FF4C84E5-6BAD-4EAF-A6DA-BC29D50C19E4}"/>
              </a:ext>
            </a:extLst>
          </p:cNvPr>
          <p:cNvPicPr>
            <a:picLocks noChangeAspect="1"/>
          </p:cNvPicPr>
          <p:nvPr/>
        </p:nvPicPr>
        <p:blipFill>
          <a:blip r:embed="rId3"/>
          <a:stretch>
            <a:fillRect/>
          </a:stretch>
        </p:blipFill>
        <p:spPr>
          <a:xfrm>
            <a:off x="5217751" y="1920755"/>
            <a:ext cx="2434391" cy="1660069"/>
          </a:xfrm>
          <a:prstGeom prst="rect">
            <a:avLst/>
          </a:prstGeom>
        </p:spPr>
      </p:pic>
      <p:pic>
        <p:nvPicPr>
          <p:cNvPr id="55" name="图片 54">
            <a:extLst>
              <a:ext uri="{FF2B5EF4-FFF2-40B4-BE49-F238E27FC236}">
                <a16:creationId xmlns:a16="http://schemas.microsoft.com/office/drawing/2014/main" id="{9BE1B30E-201A-4722-B5BA-D6B83B998B82}"/>
              </a:ext>
            </a:extLst>
          </p:cNvPr>
          <p:cNvPicPr>
            <a:picLocks noChangeAspect="1"/>
          </p:cNvPicPr>
          <p:nvPr/>
        </p:nvPicPr>
        <p:blipFill>
          <a:blip r:embed="rId4"/>
          <a:stretch>
            <a:fillRect/>
          </a:stretch>
        </p:blipFill>
        <p:spPr>
          <a:xfrm>
            <a:off x="544945" y="1835702"/>
            <a:ext cx="3901684" cy="1810230"/>
          </a:xfrm>
          <a:prstGeom prst="rect">
            <a:avLst/>
          </a:prstGeom>
        </p:spPr>
      </p:pic>
      <p:sp>
        <p:nvSpPr>
          <p:cNvPr id="56" name="bk object 19">
            <a:extLst>
              <a:ext uri="{FF2B5EF4-FFF2-40B4-BE49-F238E27FC236}">
                <a16:creationId xmlns:a16="http://schemas.microsoft.com/office/drawing/2014/main" id="{89B1972E-7B66-40E0-8876-B3F0C84DDE52}"/>
              </a:ext>
            </a:extLst>
          </p:cNvPr>
          <p:cNvSpPr/>
          <p:nvPr/>
        </p:nvSpPr>
        <p:spPr>
          <a:xfrm>
            <a:off x="0" y="764479"/>
            <a:ext cx="12192000" cy="25401"/>
          </a:xfrm>
          <a:prstGeom prst="rect">
            <a:avLst/>
          </a:prstGeom>
          <a:blipFill>
            <a:blip r:embed="rId5" cstate="print"/>
            <a:stretch>
              <a:fillRect/>
            </a:stretch>
          </a:blipFill>
        </p:spPr>
        <p:txBody>
          <a:bodyPr wrap="square" lIns="0" tIns="0" rIns="0" bIns="0" rtlCol="0"/>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a:solidFill>
                <a:prstClr val="black"/>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7" name="bk object 18">
            <a:extLst>
              <a:ext uri="{FF2B5EF4-FFF2-40B4-BE49-F238E27FC236}">
                <a16:creationId xmlns:a16="http://schemas.microsoft.com/office/drawing/2014/main" id="{EDAC932A-739D-46AC-B07E-BD74DEC42C34}"/>
              </a:ext>
            </a:extLst>
          </p:cNvPr>
          <p:cNvSpPr/>
          <p:nvPr/>
        </p:nvSpPr>
        <p:spPr>
          <a:xfrm>
            <a:off x="493795" y="0"/>
            <a:ext cx="695325" cy="692785"/>
          </a:xfrm>
          <a:custGeom>
            <a:avLst/>
            <a:gdLst/>
            <a:ahLst/>
            <a:cxnLst/>
            <a:rect l="l" t="t" r="r" b="b"/>
            <a:pathLst>
              <a:path w="695325" h="692785">
                <a:moveTo>
                  <a:pt x="694860" y="0"/>
                </a:moveTo>
                <a:lnTo>
                  <a:pt x="0" y="0"/>
                </a:lnTo>
                <a:lnTo>
                  <a:pt x="0" y="576648"/>
                </a:lnTo>
                <a:lnTo>
                  <a:pt x="9101" y="621727"/>
                </a:lnTo>
                <a:lnTo>
                  <a:pt x="33920" y="658540"/>
                </a:lnTo>
                <a:lnTo>
                  <a:pt x="70733" y="683359"/>
                </a:lnTo>
                <a:lnTo>
                  <a:pt x="115812" y="692461"/>
                </a:lnTo>
                <a:lnTo>
                  <a:pt x="579048" y="692461"/>
                </a:lnTo>
                <a:lnTo>
                  <a:pt x="624127" y="683359"/>
                </a:lnTo>
                <a:lnTo>
                  <a:pt x="660940" y="658540"/>
                </a:lnTo>
                <a:lnTo>
                  <a:pt x="685759" y="621727"/>
                </a:lnTo>
                <a:lnTo>
                  <a:pt x="694860" y="576648"/>
                </a:lnTo>
                <a:lnTo>
                  <a:pt x="694860" y="0"/>
                </a:lnTo>
                <a:close/>
              </a:path>
            </a:pathLst>
          </a:custGeom>
          <a:solidFill>
            <a:srgbClr val="002A7E"/>
          </a:solidFill>
        </p:spPr>
        <p:txBody>
          <a:bodyPr wrap="square" lIns="0" tIns="0" rIns="0" bIns="0" rtlCol="0" anchor="ctr" anchorCtr="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800" b="1" dirty="0">
                <a:solidFill>
                  <a:prstClr val="white"/>
                </a:solidFill>
                <a:latin typeface="Arial" panose="020B0604020202020204" pitchFamily="34" charset="0"/>
                <a:ea typeface="微软雅黑" panose="020B0503020204020204" charset="-122"/>
                <a:cs typeface="+mn-ea"/>
                <a:sym typeface="Arial" panose="020B0604020202020204" pitchFamily="34" charset="0"/>
              </a:rPr>
              <a:t>二</a:t>
            </a:r>
            <a:r>
              <a:rPr lang="en-US" altLang="zh-CN" sz="2800" b="1" dirty="0">
                <a:solidFill>
                  <a:prstClr val="white"/>
                </a:solidFill>
                <a:latin typeface="Arial" panose="020B0604020202020204" pitchFamily="34" charset="0"/>
                <a:ea typeface="微软雅黑" panose="020B0503020204020204" charset="-122"/>
                <a:cs typeface="+mn-ea"/>
                <a:sym typeface="Arial" panose="020B0604020202020204" pitchFamily="34" charset="0"/>
              </a:rPr>
              <a:t> </a:t>
            </a:r>
            <a:endParaRPr sz="2800" b="1" dirty="0">
              <a:solidFill>
                <a:prstClr val="white"/>
              </a:solidFill>
              <a:latin typeface="Arial" panose="020B0604020202020204" pitchFamily="34" charset="0"/>
              <a:ea typeface="微软雅黑" panose="020B0503020204020204" charset="-122"/>
              <a:cs typeface="+mn-ea"/>
              <a:sym typeface="Arial" panose="020B0604020202020204" pitchFamily="34" charset="0"/>
            </a:endParaRPr>
          </a:p>
        </p:txBody>
      </p:sp>
      <p:sp>
        <p:nvSpPr>
          <p:cNvPr id="58" name="文本框 57">
            <a:extLst>
              <a:ext uri="{FF2B5EF4-FFF2-40B4-BE49-F238E27FC236}">
                <a16:creationId xmlns:a16="http://schemas.microsoft.com/office/drawing/2014/main" id="{83C67B7D-4BA8-460B-86B7-9D9833B7CE37}"/>
              </a:ext>
            </a:extLst>
          </p:cNvPr>
          <p:cNvSpPr txBox="1"/>
          <p:nvPr/>
        </p:nvSpPr>
        <p:spPr>
          <a:xfrm>
            <a:off x="1402916" y="115558"/>
            <a:ext cx="4801314" cy="461665"/>
          </a:xfrm>
          <a:prstGeom prst="rect">
            <a:avLst/>
          </a:prstGeom>
          <a:noFill/>
        </p:spPr>
        <p:txBody>
          <a:bodyPr wrap="none" rtlCol="0" anchor="ctr" anchorCtr="0">
            <a:spAutoFit/>
          </a:bodyPr>
          <a:lstStyle/>
          <a:p>
            <a:r>
              <a:rPr lang="zh-CN" altLang="en-US" sz="2400" b="1" dirty="0">
                <a:solidFill>
                  <a:prstClr val="black"/>
                </a:solidFill>
                <a:latin typeface="Arial" panose="020B0604020202020204" pitchFamily="34" charset="0"/>
                <a:ea typeface="微软雅黑" panose="020B0503020204020204" charset="-122"/>
                <a:cs typeface="+mn-ea"/>
                <a:sym typeface="Arial" panose="020B0604020202020204" pitchFamily="34" charset="0"/>
              </a:rPr>
              <a:t>代表成果：服务器无感知数据分析</a:t>
            </a:r>
          </a:p>
        </p:txBody>
      </p:sp>
      <p:sp>
        <p:nvSpPr>
          <p:cNvPr id="59" name="文本框 58">
            <a:extLst>
              <a:ext uri="{FF2B5EF4-FFF2-40B4-BE49-F238E27FC236}">
                <a16:creationId xmlns:a16="http://schemas.microsoft.com/office/drawing/2014/main" id="{9696CF6F-2407-4020-AAA0-9A10F160D35B}"/>
              </a:ext>
            </a:extLst>
          </p:cNvPr>
          <p:cNvSpPr txBox="1"/>
          <p:nvPr/>
        </p:nvSpPr>
        <p:spPr>
          <a:xfrm>
            <a:off x="11304801" y="267633"/>
            <a:ext cx="786808" cy="369332"/>
          </a:xfrm>
          <a:prstGeom prst="rect">
            <a:avLst/>
          </a:prstGeom>
          <a:noFill/>
        </p:spPr>
        <p:txBody>
          <a:bodyPr wrap="square">
            <a:spAutoFit/>
          </a:bodyPr>
          <a:lstStyle/>
          <a:p>
            <a:fld id="{F5304E13-479D-BD4F-B4A7-78935B937A33}" type="slidenum">
              <a:rPr kumimoji="1" lang="zh-CN" altLang="en-US" smtClean="0">
                <a:solidFill>
                  <a:prstClr val="black"/>
                </a:solidFill>
                <a:latin typeface="Arial"/>
                <a:ea typeface="微软雅黑"/>
              </a:rPr>
              <a:pPr/>
              <a:t>1</a:t>
            </a:fld>
            <a:endParaRPr lang="en-US" dirty="0">
              <a:solidFill>
                <a:prstClr val="black"/>
              </a:solidFill>
              <a:latin typeface="Arial"/>
              <a:ea typeface="微软雅黑"/>
            </a:endParaRPr>
          </a:p>
        </p:txBody>
      </p:sp>
      <p:sp>
        <p:nvSpPr>
          <p:cNvPr id="75" name="矩形: 圆角 28">
            <a:extLst>
              <a:ext uri="{FF2B5EF4-FFF2-40B4-BE49-F238E27FC236}">
                <a16:creationId xmlns:a16="http://schemas.microsoft.com/office/drawing/2014/main" id="{CB779333-EFF5-4370-A9A0-5C889A1B5AED}"/>
              </a:ext>
            </a:extLst>
          </p:cNvPr>
          <p:cNvSpPr/>
          <p:nvPr/>
        </p:nvSpPr>
        <p:spPr>
          <a:xfrm>
            <a:off x="346075" y="1371361"/>
            <a:ext cx="11513185" cy="568960"/>
          </a:xfrm>
          <a:prstGeom prst="roundRect">
            <a:avLst>
              <a:gd name="adj" fmla="val 3558"/>
            </a:avLst>
          </a:prstGeom>
          <a:solidFill>
            <a:sysClr val="window" lastClr="FFFFFF"/>
          </a:solidFill>
          <a:ln w="6350" cap="flat" cmpd="sng" algn="ctr">
            <a:solidFill>
              <a:srgbClr val="003399">
                <a:alpha val="28000"/>
              </a:srgbClr>
            </a:solidFill>
            <a:prstDash val="solid"/>
            <a:miter lim="800000"/>
          </a:ln>
          <a:effectLst>
            <a:outerShdw blurRad="203200" dist="88900" dir="5400000" sx="96000" sy="96000" algn="t" rotWithShape="0">
              <a:srgbClr val="003399">
                <a:alpha val="23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dirty="0">
              <a:ln>
                <a:noFill/>
              </a:ln>
              <a:solidFill>
                <a:prstClr val="white"/>
              </a:solidFill>
              <a:effectLst/>
              <a:uLnTx/>
              <a:uFillTx/>
              <a:latin typeface="Roboto" panose="02000000000000000000"/>
              <a:ea typeface="思源黑体 CN Regular"/>
              <a:cs typeface="+mn-cs"/>
            </a:endParaRPr>
          </a:p>
        </p:txBody>
      </p:sp>
      <p:sp>
        <p:nvSpPr>
          <p:cNvPr id="76" name="文本框 7">
            <a:extLst>
              <a:ext uri="{FF2B5EF4-FFF2-40B4-BE49-F238E27FC236}">
                <a16:creationId xmlns:a16="http://schemas.microsoft.com/office/drawing/2014/main" id="{81A069F6-CD79-4753-AAB8-3B0C28E530D2}"/>
              </a:ext>
            </a:extLst>
          </p:cNvPr>
          <p:cNvSpPr txBox="1"/>
          <p:nvPr/>
        </p:nvSpPr>
        <p:spPr>
          <a:xfrm>
            <a:off x="522339" y="1450217"/>
            <a:ext cx="11160000" cy="460375"/>
          </a:xfrm>
          <a:prstGeom prst="rect">
            <a:avLst/>
          </a:prstGeom>
          <a:noFill/>
        </p:spPr>
        <p:txBody>
          <a:bodyPr wrap="square">
            <a:spAutoFit/>
          </a:bodyPr>
          <a:lstStyle>
            <a:defPPr>
              <a:defRPr lang="en-US"/>
            </a:defPPr>
            <a:lvl1pPr marL="342900" indent="-342900">
              <a:buFont typeface="Wingdings" panose="05000000000000000000" pitchFamily="2" charset="2"/>
              <a:buChar char="Ø"/>
              <a:defRPr sz="2000" b="1">
                <a:solidFill>
                  <a:srgbClr val="2E8DBB"/>
                </a:solidFill>
                <a:latin typeface="微软雅黑" panose="020B0503020204020204" charset="-122"/>
                <a:ea typeface="微软雅黑" panose="020B0503020204020204" charset="-122"/>
              </a:defRPr>
            </a:lvl1pPr>
          </a:lstStyle>
          <a:p>
            <a:pPr marL="0" lvl="1">
              <a:lnSpc>
                <a:spcPct val="120000"/>
              </a:lnSpc>
              <a:spcBef>
                <a:spcPct val="0"/>
              </a:spcBef>
              <a:buSzPct val="95000"/>
              <a:defRPr/>
            </a:pPr>
            <a:r>
              <a:rPr lang="zh-CN" altLang="en-US" sz="2000" b="1" dirty="0">
                <a:solidFill>
                  <a:prstClr val="black"/>
                </a:solidFill>
                <a:latin typeface="微软雅黑" panose="020B0503020204020204" charset="-122"/>
                <a:ea typeface="微软雅黑" panose="020B0503020204020204" charset="-122"/>
              </a:rPr>
              <a:t>动态且有限的广域网带宽和冷启动等突发行为给单个阶段内的并行函数带来了异构的资源需求。</a:t>
            </a:r>
          </a:p>
        </p:txBody>
      </p:sp>
      <p:sp>
        <p:nvSpPr>
          <p:cNvPr id="77" name="任意多边形: 形状 70">
            <a:extLst>
              <a:ext uri="{FF2B5EF4-FFF2-40B4-BE49-F238E27FC236}">
                <a16:creationId xmlns:a16="http://schemas.microsoft.com/office/drawing/2014/main" id="{6048C47E-7976-49C8-AAF4-05C640C28373}"/>
              </a:ext>
            </a:extLst>
          </p:cNvPr>
          <p:cNvSpPr/>
          <p:nvPr>
            <p:custDataLst>
              <p:tags r:id="rId1"/>
            </p:custDataLst>
          </p:nvPr>
        </p:nvSpPr>
        <p:spPr>
          <a:xfrm>
            <a:off x="345595" y="794246"/>
            <a:ext cx="11545570" cy="574124"/>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1" fmla="*/ 0 w 10035"/>
              <a:gd name="connsiteY0-2" fmla="*/ 10012 h 10012"/>
              <a:gd name="connsiteX1-3" fmla="*/ 0 w 10035"/>
              <a:gd name="connsiteY1-4" fmla="*/ 12 h 10012"/>
              <a:gd name="connsiteX2-5" fmla="*/ 10035 w 10035"/>
              <a:gd name="connsiteY2-6" fmla="*/ 0 h 10012"/>
              <a:gd name="connsiteX3-7" fmla="*/ 10000 w 10035"/>
              <a:gd name="connsiteY3-8" fmla="*/ 8012 h 10012"/>
              <a:gd name="connsiteX4-9" fmla="*/ 0 w 10035"/>
              <a:gd name="connsiteY4-10" fmla="*/ 10012 h 10012"/>
              <a:gd name="connsiteX0-11" fmla="*/ 0 w 10035"/>
              <a:gd name="connsiteY0-12" fmla="*/ 10012 h 10012"/>
              <a:gd name="connsiteX1-13" fmla="*/ 0 w 10035"/>
              <a:gd name="connsiteY1-14" fmla="*/ 12 h 10012"/>
              <a:gd name="connsiteX2-15" fmla="*/ 10035 w 10035"/>
              <a:gd name="connsiteY2-16" fmla="*/ 0 h 10012"/>
              <a:gd name="connsiteX3-17" fmla="*/ 9965 w 10035"/>
              <a:gd name="connsiteY3-18" fmla="*/ 9867 h 10012"/>
              <a:gd name="connsiteX4-19" fmla="*/ 0 w 10035"/>
              <a:gd name="connsiteY4-20" fmla="*/ 10012 h 10012"/>
              <a:gd name="connsiteX0-21" fmla="*/ 0 w 10035"/>
              <a:gd name="connsiteY0-22" fmla="*/ 10012 h 10012"/>
              <a:gd name="connsiteX1-23" fmla="*/ 0 w 10035"/>
              <a:gd name="connsiteY1-24" fmla="*/ 12 h 10012"/>
              <a:gd name="connsiteX2-25" fmla="*/ 10035 w 10035"/>
              <a:gd name="connsiteY2-26" fmla="*/ 0 h 10012"/>
              <a:gd name="connsiteX3-27" fmla="*/ 9965 w 10035"/>
              <a:gd name="connsiteY3-28" fmla="*/ 9945 h 10012"/>
              <a:gd name="connsiteX4-29" fmla="*/ 0 w 10035"/>
              <a:gd name="connsiteY4-30" fmla="*/ 10012 h 10012"/>
              <a:gd name="connsiteX0-31" fmla="*/ 0 w 10035"/>
              <a:gd name="connsiteY0-32" fmla="*/ 10012 h 10023"/>
              <a:gd name="connsiteX1-33" fmla="*/ 0 w 10035"/>
              <a:gd name="connsiteY1-34" fmla="*/ 12 h 10023"/>
              <a:gd name="connsiteX2-35" fmla="*/ 10035 w 10035"/>
              <a:gd name="connsiteY2-36" fmla="*/ 0 h 10023"/>
              <a:gd name="connsiteX3-37" fmla="*/ 9965 w 10035"/>
              <a:gd name="connsiteY3-38" fmla="*/ 10023 h 10023"/>
              <a:gd name="connsiteX4-39" fmla="*/ 0 w 10035"/>
              <a:gd name="connsiteY4-40" fmla="*/ 10012 h 10023"/>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35" h="10023">
                <a:moveTo>
                  <a:pt x="0" y="10012"/>
                </a:moveTo>
                <a:lnTo>
                  <a:pt x="0" y="12"/>
                </a:lnTo>
                <a:lnTo>
                  <a:pt x="10035" y="0"/>
                </a:lnTo>
                <a:cubicBezTo>
                  <a:pt x="10023" y="2671"/>
                  <a:pt x="9977" y="7352"/>
                  <a:pt x="9965" y="10023"/>
                </a:cubicBezTo>
                <a:lnTo>
                  <a:pt x="0" y="10012"/>
                </a:lnTo>
                <a:close/>
              </a:path>
            </a:pathLst>
          </a:custGeom>
          <a:solidFill>
            <a:srgbClr val="003F87"/>
          </a:solidFill>
          <a:ln w="12700" cap="flat" cmpd="sng" algn="ctr">
            <a:noFill/>
            <a:prstDash val="solid"/>
            <a:miter lim="800000"/>
          </a:ln>
          <a:effectLst/>
        </p:spPr>
        <p:txBody>
          <a:bodyPr spcFirstLastPara="0" vert="horz" wrap="square" lIns="266701" tIns="845686" rIns="263922" bIns="845687" numCol="1" spcCol="1270" anchor="t" anchorCtr="0">
            <a:noAutofit/>
          </a:bodyPr>
          <a:lstStyle/>
          <a:p>
            <a:pPr marL="0" marR="0" lvl="1" indent="0" defTabSz="1466850" eaLnBrk="1" fontAlgn="auto" latinLnBrk="0" hangingPunct="1">
              <a:lnSpc>
                <a:spcPct val="40000"/>
              </a:lnSpc>
              <a:spcBef>
                <a:spcPct val="0"/>
              </a:spcBef>
              <a:spcAft>
                <a:spcPct val="15000"/>
              </a:spcAft>
              <a:buClrTx/>
              <a:buSzTx/>
              <a:buFontTx/>
              <a:buNone/>
              <a:tabLst/>
              <a:defRPr/>
            </a:pPr>
            <a:r>
              <a:rPr kumimoji="0" lang="zh-CN" altLang="en-US" sz="2400" b="1" i="0"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cs typeface="+mn-cs"/>
              </a:rPr>
              <a:t>适用于广域网带宽和冷启动的细粒度函数级编排</a:t>
            </a:r>
          </a:p>
        </p:txBody>
      </p:sp>
      <p:sp>
        <p:nvSpPr>
          <p:cNvPr id="78" name="文本框 19">
            <a:extLst>
              <a:ext uri="{FF2B5EF4-FFF2-40B4-BE49-F238E27FC236}">
                <a16:creationId xmlns:a16="http://schemas.microsoft.com/office/drawing/2014/main" id="{5DE0064E-E256-4396-BA24-3857E88E7676}"/>
              </a:ext>
            </a:extLst>
          </p:cNvPr>
          <p:cNvSpPr txBox="1"/>
          <p:nvPr/>
        </p:nvSpPr>
        <p:spPr>
          <a:xfrm>
            <a:off x="493794" y="6290258"/>
            <a:ext cx="11496373" cy="737235"/>
          </a:xfrm>
          <a:prstGeom prst="rect">
            <a:avLst/>
          </a:prstGeom>
          <a:noFill/>
        </p:spPr>
        <p:txBody>
          <a:bodyPr wrap="square" rtlCol="0">
            <a:spAutoFit/>
          </a:bodyPr>
          <a:lstStyle/>
          <a:p>
            <a:pPr defTabSz="913765"/>
            <a:r>
              <a:rPr lang="en-US" altLang="zh-CN" sz="1400" dirty="0">
                <a:solidFill>
                  <a:srgbClr val="000000"/>
                </a:solidFill>
                <a:latin typeface="Arial"/>
                <a:ea typeface="黑体" panose="02010609060101010101" charset="-122"/>
              </a:rPr>
              <a:t>Demeter: Fine-grained Function Orchestration for Geo-distributed Serverless Analytics.</a:t>
            </a:r>
            <a:r>
              <a:rPr lang="zh-CN" altLang="en-US" sz="1400" i="1" dirty="0">
                <a:solidFill>
                  <a:srgbClr val="FF0000"/>
                </a:solidFill>
                <a:latin typeface="Arial"/>
                <a:ea typeface="黑体" panose="02010609060101010101" charset="-122"/>
              </a:rPr>
              <a:t> </a:t>
            </a:r>
            <a:r>
              <a:rPr lang="en-US" altLang="zh-CN" sz="1400" i="1" dirty="0">
                <a:solidFill>
                  <a:srgbClr val="FF0000"/>
                </a:solidFill>
                <a:latin typeface="Arial"/>
                <a:ea typeface="黑体" panose="02010609060101010101" charset="-122"/>
              </a:rPr>
              <a:t>IEEE INFOCOM 2024 </a:t>
            </a:r>
            <a:r>
              <a:rPr lang="zh-CN" altLang="en-US" sz="1400" i="1" dirty="0">
                <a:solidFill>
                  <a:srgbClr val="FF0000"/>
                </a:solidFill>
                <a:latin typeface="Arial"/>
                <a:ea typeface="黑体" panose="02010609060101010101" charset="-122"/>
              </a:rPr>
              <a:t>（</a:t>
            </a:r>
            <a:r>
              <a:rPr lang="en-US" altLang="zh-CN" sz="1400" i="1" dirty="0">
                <a:solidFill>
                  <a:srgbClr val="FF0000"/>
                </a:solidFill>
                <a:latin typeface="Arial"/>
                <a:ea typeface="黑体" panose="02010609060101010101" charset="-122"/>
              </a:rPr>
              <a:t>CCF A </a:t>
            </a:r>
            <a:r>
              <a:rPr lang="zh-CN" altLang="en-US" sz="1400" i="1" dirty="0">
                <a:solidFill>
                  <a:srgbClr val="FF0000"/>
                </a:solidFill>
                <a:latin typeface="Arial"/>
                <a:ea typeface="黑体" panose="02010609060101010101" charset="-122"/>
              </a:rPr>
              <a:t>会议）</a:t>
            </a:r>
          </a:p>
          <a:p>
            <a:pPr defTabSz="913765"/>
            <a:endParaRPr lang="zh-CN" altLang="en-US" sz="1400" dirty="0">
              <a:solidFill>
                <a:srgbClr val="000000"/>
              </a:solidFill>
              <a:latin typeface="Arial"/>
              <a:ea typeface="黑体" panose="02010609060101010101" charset="-122"/>
            </a:endParaRPr>
          </a:p>
          <a:p>
            <a:pPr defTabSz="913765"/>
            <a:endParaRPr lang="zh-CN" altLang="en-US" sz="1400" i="1" dirty="0">
              <a:solidFill>
                <a:srgbClr val="FF0000"/>
              </a:solidFill>
              <a:latin typeface="Arial"/>
              <a:ea typeface="黑体" panose="02010609060101010101" charset="-122"/>
            </a:endParaRPr>
          </a:p>
        </p:txBody>
      </p:sp>
      <p:pic>
        <p:nvPicPr>
          <p:cNvPr id="79" name="图片 78">
            <a:extLst>
              <a:ext uri="{FF2B5EF4-FFF2-40B4-BE49-F238E27FC236}">
                <a16:creationId xmlns:a16="http://schemas.microsoft.com/office/drawing/2014/main" id="{B5DC5A37-CD91-44E2-B89A-8102F723F17F}"/>
              </a:ext>
            </a:extLst>
          </p:cNvPr>
          <p:cNvPicPr>
            <a:picLocks noChangeAspect="1"/>
          </p:cNvPicPr>
          <p:nvPr/>
        </p:nvPicPr>
        <p:blipFill>
          <a:blip r:embed="rId6"/>
          <a:stretch>
            <a:fillRect/>
          </a:stretch>
        </p:blipFill>
        <p:spPr>
          <a:xfrm>
            <a:off x="723427" y="3978292"/>
            <a:ext cx="5618133" cy="1914526"/>
          </a:xfrm>
          <a:prstGeom prst="rect">
            <a:avLst/>
          </a:prstGeom>
        </p:spPr>
      </p:pic>
      <p:cxnSp>
        <p:nvCxnSpPr>
          <p:cNvPr id="80" name="直接连接符 79">
            <a:extLst>
              <a:ext uri="{FF2B5EF4-FFF2-40B4-BE49-F238E27FC236}">
                <a16:creationId xmlns:a16="http://schemas.microsoft.com/office/drawing/2014/main" id="{B9F1A603-9050-49B4-98E5-4BD1804FD234}"/>
              </a:ext>
            </a:extLst>
          </p:cNvPr>
          <p:cNvCxnSpPr/>
          <p:nvPr/>
        </p:nvCxnSpPr>
        <p:spPr>
          <a:xfrm>
            <a:off x="6461929" y="3966288"/>
            <a:ext cx="0" cy="2227428"/>
          </a:xfrm>
          <a:prstGeom prst="line">
            <a:avLst/>
          </a:prstGeom>
          <a:noFill/>
          <a:ln w="25400" cap="flat" cmpd="sng" algn="ctr">
            <a:solidFill>
              <a:srgbClr val="4874CB"/>
            </a:solidFill>
            <a:prstDash val="sysDash"/>
            <a:miter lim="800000"/>
          </a:ln>
          <a:effectLst/>
        </p:spPr>
      </p:cxnSp>
      <p:pic>
        <p:nvPicPr>
          <p:cNvPr id="81" name="图片 80">
            <a:extLst>
              <a:ext uri="{FF2B5EF4-FFF2-40B4-BE49-F238E27FC236}">
                <a16:creationId xmlns:a16="http://schemas.microsoft.com/office/drawing/2014/main" id="{F11A0571-4B60-4FDD-9830-B0BC2F4B120D}"/>
              </a:ext>
            </a:extLst>
          </p:cNvPr>
          <p:cNvPicPr>
            <a:picLocks noChangeAspect="1"/>
          </p:cNvPicPr>
          <p:nvPr/>
        </p:nvPicPr>
        <p:blipFill>
          <a:blip r:embed="rId7"/>
          <a:stretch>
            <a:fillRect/>
          </a:stretch>
        </p:blipFill>
        <p:spPr>
          <a:xfrm>
            <a:off x="8298372" y="2242315"/>
            <a:ext cx="3016121" cy="1345886"/>
          </a:xfrm>
          <a:prstGeom prst="rect">
            <a:avLst/>
          </a:prstGeom>
        </p:spPr>
      </p:pic>
      <p:sp>
        <p:nvSpPr>
          <p:cNvPr id="82" name="左箭头 33">
            <a:extLst>
              <a:ext uri="{FF2B5EF4-FFF2-40B4-BE49-F238E27FC236}">
                <a16:creationId xmlns:a16="http://schemas.microsoft.com/office/drawing/2014/main" id="{BA8222AA-3BB4-44D0-A5D0-DB0B873E9567}"/>
              </a:ext>
            </a:extLst>
          </p:cNvPr>
          <p:cNvSpPr/>
          <p:nvPr/>
        </p:nvSpPr>
        <p:spPr>
          <a:xfrm rot="10800000">
            <a:off x="4266834" y="2433338"/>
            <a:ext cx="961411" cy="323473"/>
          </a:xfrm>
          <a:prstGeom prst="leftArrow">
            <a:avLst>
              <a:gd name="adj1" fmla="val 50000"/>
              <a:gd name="adj2" fmla="val 80260"/>
            </a:avLst>
          </a:prstGeom>
          <a:solidFill>
            <a:srgbClr val="943B0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0000"/>
              </a:solidFill>
              <a:effectLst/>
              <a:highlight>
                <a:srgbClr val="FF0000"/>
              </a:highlight>
              <a:uLnTx/>
              <a:uFillTx/>
              <a:latin typeface="Gill Sans MT" panose="020B0502020104020203" pitchFamily="34" charset="0"/>
              <a:ea typeface="微软雅黑"/>
              <a:cs typeface="+mn-cs"/>
            </a:endParaRPr>
          </a:p>
        </p:txBody>
      </p:sp>
      <p:sp>
        <p:nvSpPr>
          <p:cNvPr id="83" name="文本框 82">
            <a:extLst>
              <a:ext uri="{FF2B5EF4-FFF2-40B4-BE49-F238E27FC236}">
                <a16:creationId xmlns:a16="http://schemas.microsoft.com/office/drawing/2014/main" id="{1040307E-AFE3-45D5-806C-10C220603BA0}"/>
              </a:ext>
            </a:extLst>
          </p:cNvPr>
          <p:cNvSpPr txBox="1"/>
          <p:nvPr/>
        </p:nvSpPr>
        <p:spPr>
          <a:xfrm>
            <a:off x="4335072" y="2198697"/>
            <a:ext cx="662901" cy="338554"/>
          </a:xfrm>
          <a:prstGeom prst="rect">
            <a:avLst/>
          </a:prstGeom>
          <a:noFill/>
        </p:spPr>
        <p:txBody>
          <a:bodyPr wrap="square">
            <a:spAutoFit/>
          </a:bodyPr>
          <a:lstStyle/>
          <a:p>
            <a:r>
              <a:rPr lang="zh-CN" altLang="en-US" sz="1600" b="1">
                <a:solidFill>
                  <a:prstClr val="black"/>
                </a:solidFill>
                <a:latin typeface="Arial"/>
                <a:ea typeface="微软雅黑"/>
              </a:rPr>
              <a:t>转化</a:t>
            </a:r>
            <a:endParaRPr lang="zh-CN" altLang="en-US" b="1">
              <a:solidFill>
                <a:prstClr val="black"/>
              </a:solidFill>
              <a:latin typeface="Arial"/>
              <a:ea typeface="微软雅黑"/>
            </a:endParaRPr>
          </a:p>
        </p:txBody>
      </p:sp>
      <p:pic>
        <p:nvPicPr>
          <p:cNvPr id="84" name="图片 83">
            <a:extLst>
              <a:ext uri="{FF2B5EF4-FFF2-40B4-BE49-F238E27FC236}">
                <a16:creationId xmlns:a16="http://schemas.microsoft.com/office/drawing/2014/main" id="{58408600-C7B7-4A59-961D-F9C9BCD8DAEF}"/>
              </a:ext>
            </a:extLst>
          </p:cNvPr>
          <p:cNvPicPr>
            <a:picLocks noChangeAspect="1"/>
          </p:cNvPicPr>
          <p:nvPr/>
        </p:nvPicPr>
        <p:blipFill>
          <a:blip r:embed="rId8"/>
          <a:stretch>
            <a:fillRect/>
          </a:stretch>
        </p:blipFill>
        <p:spPr>
          <a:xfrm>
            <a:off x="7389896" y="2277260"/>
            <a:ext cx="526241" cy="333333"/>
          </a:xfrm>
          <a:prstGeom prst="rect">
            <a:avLst/>
          </a:prstGeom>
        </p:spPr>
      </p:pic>
      <p:sp>
        <p:nvSpPr>
          <p:cNvPr id="85" name="文本框 84">
            <a:extLst>
              <a:ext uri="{FF2B5EF4-FFF2-40B4-BE49-F238E27FC236}">
                <a16:creationId xmlns:a16="http://schemas.microsoft.com/office/drawing/2014/main" id="{135A242C-9011-4831-BBD8-768CAB47B995}"/>
              </a:ext>
            </a:extLst>
          </p:cNvPr>
          <p:cNvSpPr txBox="1"/>
          <p:nvPr/>
        </p:nvSpPr>
        <p:spPr>
          <a:xfrm>
            <a:off x="8860381" y="1950337"/>
            <a:ext cx="1810577" cy="338554"/>
          </a:xfrm>
          <a:prstGeom prst="rect">
            <a:avLst/>
          </a:prstGeom>
          <a:noFill/>
        </p:spPr>
        <p:txBody>
          <a:bodyPr wrap="square">
            <a:spAutoFit/>
          </a:bodyPr>
          <a:lstStyle/>
          <a:p>
            <a:r>
              <a:rPr lang="zh-CN" altLang="en-US" sz="1600" b="1">
                <a:solidFill>
                  <a:prstClr val="black"/>
                </a:solidFill>
                <a:latin typeface="Arial"/>
                <a:ea typeface="微软雅黑"/>
              </a:rPr>
              <a:t>服务器无感知函数</a:t>
            </a:r>
          </a:p>
        </p:txBody>
      </p:sp>
      <p:sp>
        <p:nvSpPr>
          <p:cNvPr id="86" name="文本框 85">
            <a:extLst>
              <a:ext uri="{FF2B5EF4-FFF2-40B4-BE49-F238E27FC236}">
                <a16:creationId xmlns:a16="http://schemas.microsoft.com/office/drawing/2014/main" id="{D3FC4CF3-F4D3-462D-A85F-3972490B5A67}"/>
              </a:ext>
            </a:extLst>
          </p:cNvPr>
          <p:cNvSpPr txBox="1"/>
          <p:nvPr/>
        </p:nvSpPr>
        <p:spPr>
          <a:xfrm>
            <a:off x="1208594" y="3601009"/>
            <a:ext cx="2519652" cy="338554"/>
          </a:xfrm>
          <a:prstGeom prst="rect">
            <a:avLst/>
          </a:prstGeom>
          <a:noFill/>
        </p:spPr>
        <p:txBody>
          <a:bodyPr wrap="square" rtlCol="0">
            <a:spAutoFit/>
          </a:bodyPr>
          <a:lstStyle/>
          <a:p>
            <a:r>
              <a:rPr lang="zh-CN" altLang="en-US" sz="1600" b="1">
                <a:solidFill>
                  <a:prstClr val="black"/>
                </a:solidFill>
                <a:latin typeface="Arial"/>
                <a:ea typeface="微软雅黑"/>
              </a:rPr>
              <a:t>大数据</a:t>
            </a:r>
            <a:r>
              <a:rPr lang="en-US" altLang="zh-CN" sz="1600" b="1">
                <a:solidFill>
                  <a:prstClr val="black"/>
                </a:solidFill>
                <a:latin typeface="Arial"/>
                <a:ea typeface="微软雅黑"/>
              </a:rPr>
              <a:t>/</a:t>
            </a:r>
            <a:r>
              <a:rPr lang="zh-CN" altLang="en-US" sz="1600" b="1">
                <a:solidFill>
                  <a:prstClr val="black"/>
                </a:solidFill>
                <a:latin typeface="Arial"/>
                <a:ea typeface="微软雅黑"/>
              </a:rPr>
              <a:t>类</a:t>
            </a:r>
            <a:r>
              <a:rPr lang="en-US" altLang="zh-CN" sz="1600" b="1">
                <a:solidFill>
                  <a:prstClr val="black"/>
                </a:solidFill>
                <a:latin typeface="Arial"/>
                <a:ea typeface="微软雅黑"/>
              </a:rPr>
              <a:t>SQL</a:t>
            </a:r>
            <a:r>
              <a:rPr lang="zh-CN" altLang="en-US" sz="1600" b="1">
                <a:solidFill>
                  <a:prstClr val="black"/>
                </a:solidFill>
                <a:latin typeface="Arial"/>
                <a:ea typeface="微软雅黑"/>
              </a:rPr>
              <a:t>查询作业图</a:t>
            </a:r>
          </a:p>
        </p:txBody>
      </p:sp>
      <p:sp>
        <p:nvSpPr>
          <p:cNvPr id="87" name="文本框 86">
            <a:extLst>
              <a:ext uri="{FF2B5EF4-FFF2-40B4-BE49-F238E27FC236}">
                <a16:creationId xmlns:a16="http://schemas.microsoft.com/office/drawing/2014/main" id="{530E1F2A-F050-48C8-804E-446B6AB8320E}"/>
              </a:ext>
            </a:extLst>
          </p:cNvPr>
          <p:cNvSpPr txBox="1"/>
          <p:nvPr/>
        </p:nvSpPr>
        <p:spPr>
          <a:xfrm>
            <a:off x="5734394" y="3601009"/>
            <a:ext cx="1447642" cy="338554"/>
          </a:xfrm>
          <a:prstGeom prst="rect">
            <a:avLst/>
          </a:prstGeom>
          <a:noFill/>
        </p:spPr>
        <p:txBody>
          <a:bodyPr wrap="square" rtlCol="0">
            <a:spAutoFit/>
          </a:bodyPr>
          <a:lstStyle/>
          <a:p>
            <a:r>
              <a:rPr lang="zh-CN" altLang="en-US" sz="1600" b="1">
                <a:solidFill>
                  <a:prstClr val="black"/>
                </a:solidFill>
                <a:latin typeface="Arial"/>
                <a:ea typeface="微软雅黑"/>
              </a:rPr>
              <a:t>子任务执行图</a:t>
            </a:r>
          </a:p>
        </p:txBody>
      </p:sp>
      <p:sp>
        <p:nvSpPr>
          <p:cNvPr id="88" name="文本框 87">
            <a:extLst>
              <a:ext uri="{FF2B5EF4-FFF2-40B4-BE49-F238E27FC236}">
                <a16:creationId xmlns:a16="http://schemas.microsoft.com/office/drawing/2014/main" id="{F8A8E219-1483-45A9-8382-6E7B97A40026}"/>
              </a:ext>
            </a:extLst>
          </p:cNvPr>
          <p:cNvSpPr txBox="1"/>
          <p:nvPr/>
        </p:nvSpPr>
        <p:spPr>
          <a:xfrm>
            <a:off x="9213337" y="3597141"/>
            <a:ext cx="1253208" cy="338554"/>
          </a:xfrm>
          <a:prstGeom prst="rect">
            <a:avLst/>
          </a:prstGeom>
          <a:noFill/>
        </p:spPr>
        <p:txBody>
          <a:bodyPr wrap="square" rtlCol="0">
            <a:spAutoFit/>
          </a:bodyPr>
          <a:lstStyle/>
          <a:p>
            <a:r>
              <a:rPr lang="zh-CN" altLang="en-US" sz="1600" b="1">
                <a:solidFill>
                  <a:prstClr val="black"/>
                </a:solidFill>
                <a:latin typeface="Arial"/>
                <a:ea typeface="微软雅黑"/>
              </a:rPr>
              <a:t>函数执行图</a:t>
            </a:r>
          </a:p>
        </p:txBody>
      </p:sp>
      <p:pic>
        <p:nvPicPr>
          <p:cNvPr id="89" name="图片 88">
            <a:extLst>
              <a:ext uri="{FF2B5EF4-FFF2-40B4-BE49-F238E27FC236}">
                <a16:creationId xmlns:a16="http://schemas.microsoft.com/office/drawing/2014/main" id="{7FDB5556-0D41-48C3-AD67-AE8D16209454}"/>
              </a:ext>
            </a:extLst>
          </p:cNvPr>
          <p:cNvPicPr>
            <a:picLocks noChangeAspect="1"/>
          </p:cNvPicPr>
          <p:nvPr/>
        </p:nvPicPr>
        <p:blipFill>
          <a:blip r:embed="rId8"/>
          <a:stretch>
            <a:fillRect/>
          </a:stretch>
        </p:blipFill>
        <p:spPr>
          <a:xfrm>
            <a:off x="7245567" y="2529034"/>
            <a:ext cx="526241" cy="333333"/>
          </a:xfrm>
          <a:prstGeom prst="rect">
            <a:avLst/>
          </a:prstGeom>
        </p:spPr>
      </p:pic>
      <p:pic>
        <p:nvPicPr>
          <p:cNvPr id="90" name="图片 89">
            <a:extLst>
              <a:ext uri="{FF2B5EF4-FFF2-40B4-BE49-F238E27FC236}">
                <a16:creationId xmlns:a16="http://schemas.microsoft.com/office/drawing/2014/main" id="{5C30585D-3F41-44F6-9464-B7D1C8655053}"/>
              </a:ext>
            </a:extLst>
          </p:cNvPr>
          <p:cNvPicPr>
            <a:picLocks noChangeAspect="1"/>
          </p:cNvPicPr>
          <p:nvPr/>
        </p:nvPicPr>
        <p:blipFill>
          <a:blip r:embed="rId9"/>
          <a:stretch>
            <a:fillRect/>
          </a:stretch>
        </p:blipFill>
        <p:spPr>
          <a:xfrm>
            <a:off x="6730463" y="4080736"/>
            <a:ext cx="4673485" cy="1831132"/>
          </a:xfrm>
          <a:prstGeom prst="rect">
            <a:avLst/>
          </a:prstGeom>
        </p:spPr>
      </p:pic>
      <p:sp>
        <p:nvSpPr>
          <p:cNvPr id="91" name="文本框 90">
            <a:extLst>
              <a:ext uri="{FF2B5EF4-FFF2-40B4-BE49-F238E27FC236}">
                <a16:creationId xmlns:a16="http://schemas.microsoft.com/office/drawing/2014/main" id="{8553C3B4-8425-4183-A82F-D2C24A78AB51}"/>
              </a:ext>
            </a:extLst>
          </p:cNvPr>
          <p:cNvSpPr txBox="1"/>
          <p:nvPr/>
        </p:nvSpPr>
        <p:spPr>
          <a:xfrm>
            <a:off x="448672" y="4117989"/>
            <a:ext cx="248267" cy="461665"/>
          </a:xfrm>
          <a:prstGeom prst="rect">
            <a:avLst/>
          </a:prstGeom>
          <a:noFill/>
          <a:ln w="25400">
            <a:solidFill>
              <a:srgbClr val="FF0000"/>
            </a:solidFill>
          </a:ln>
        </p:spPr>
        <p:txBody>
          <a:bodyPr wrap="square">
            <a:spAutoFit/>
          </a:bodyPr>
          <a:lstStyle/>
          <a:p>
            <a:pPr algn="ctr"/>
            <a:r>
              <a:rPr lang="zh-CN" altLang="en-US" sz="1200" b="1">
                <a:solidFill>
                  <a:srgbClr val="FF0000"/>
                </a:solidFill>
                <a:latin typeface="微软雅黑"/>
                <a:ea typeface="微软雅黑"/>
              </a:rPr>
              <a:t>有限</a:t>
            </a:r>
            <a:endParaRPr lang="zh-CN" altLang="en-US" sz="1200">
              <a:solidFill>
                <a:srgbClr val="FF0000"/>
              </a:solidFill>
              <a:latin typeface="Arial"/>
              <a:ea typeface="微软雅黑"/>
            </a:endParaRPr>
          </a:p>
        </p:txBody>
      </p:sp>
      <p:cxnSp>
        <p:nvCxnSpPr>
          <p:cNvPr id="92" name="直接箭头连接符 91">
            <a:extLst>
              <a:ext uri="{FF2B5EF4-FFF2-40B4-BE49-F238E27FC236}">
                <a16:creationId xmlns:a16="http://schemas.microsoft.com/office/drawing/2014/main" id="{452E8C58-0033-4477-8FE7-2DEC45B5BE50}"/>
              </a:ext>
            </a:extLst>
          </p:cNvPr>
          <p:cNvCxnSpPr>
            <a:stCxn id="91" idx="3"/>
          </p:cNvCxnSpPr>
          <p:nvPr/>
        </p:nvCxnSpPr>
        <p:spPr>
          <a:xfrm>
            <a:off x="696939" y="4348822"/>
            <a:ext cx="605605" cy="0"/>
          </a:xfrm>
          <a:prstGeom prst="straightConnector1">
            <a:avLst/>
          </a:prstGeom>
          <a:noFill/>
          <a:ln w="25400" cap="flat" cmpd="sng" algn="ctr">
            <a:solidFill>
              <a:srgbClr val="FF0000"/>
            </a:solidFill>
            <a:prstDash val="solid"/>
            <a:miter lim="800000"/>
            <a:tailEnd type="triangle" w="med" len="lg"/>
          </a:ln>
          <a:effectLst/>
        </p:spPr>
      </p:cxnSp>
      <p:sp>
        <p:nvSpPr>
          <p:cNvPr id="93" name="文本框 92">
            <a:extLst>
              <a:ext uri="{FF2B5EF4-FFF2-40B4-BE49-F238E27FC236}">
                <a16:creationId xmlns:a16="http://schemas.microsoft.com/office/drawing/2014/main" id="{01130158-4275-4066-A5C1-C9947B63DC0C}"/>
              </a:ext>
            </a:extLst>
          </p:cNvPr>
          <p:cNvSpPr txBox="1"/>
          <p:nvPr/>
        </p:nvSpPr>
        <p:spPr>
          <a:xfrm>
            <a:off x="4401487" y="4584945"/>
            <a:ext cx="490553" cy="276999"/>
          </a:xfrm>
          <a:prstGeom prst="rect">
            <a:avLst/>
          </a:prstGeom>
          <a:noFill/>
          <a:ln w="25400">
            <a:solidFill>
              <a:srgbClr val="FF0000"/>
            </a:solidFill>
          </a:ln>
        </p:spPr>
        <p:txBody>
          <a:bodyPr wrap="square">
            <a:spAutoFit/>
          </a:bodyPr>
          <a:lstStyle/>
          <a:p>
            <a:pPr algn="ctr"/>
            <a:r>
              <a:rPr lang="zh-CN" altLang="en-US" sz="1200" b="1">
                <a:solidFill>
                  <a:srgbClr val="FF0000"/>
                </a:solidFill>
                <a:latin typeface="微软雅黑"/>
                <a:ea typeface="微软雅黑"/>
              </a:rPr>
              <a:t>动态</a:t>
            </a:r>
            <a:endParaRPr lang="zh-CN" altLang="en-US" sz="1200">
              <a:solidFill>
                <a:srgbClr val="FF0000"/>
              </a:solidFill>
              <a:latin typeface="Arial"/>
              <a:ea typeface="微软雅黑"/>
            </a:endParaRPr>
          </a:p>
        </p:txBody>
      </p:sp>
      <p:cxnSp>
        <p:nvCxnSpPr>
          <p:cNvPr id="94" name="直接箭头连接符 93">
            <a:extLst>
              <a:ext uri="{FF2B5EF4-FFF2-40B4-BE49-F238E27FC236}">
                <a16:creationId xmlns:a16="http://schemas.microsoft.com/office/drawing/2014/main" id="{6BF62382-0ECE-4CA3-BBFE-9E84563ED8FB}"/>
              </a:ext>
            </a:extLst>
          </p:cNvPr>
          <p:cNvCxnSpPr>
            <a:stCxn id="93" idx="1"/>
          </p:cNvCxnSpPr>
          <p:nvPr/>
        </p:nvCxnSpPr>
        <p:spPr>
          <a:xfrm flipH="1">
            <a:off x="3889598" y="4723445"/>
            <a:ext cx="511889" cy="276789"/>
          </a:xfrm>
          <a:prstGeom prst="straightConnector1">
            <a:avLst/>
          </a:prstGeom>
          <a:noFill/>
          <a:ln w="25400" cap="flat" cmpd="sng" algn="ctr">
            <a:solidFill>
              <a:srgbClr val="FF0000"/>
            </a:solidFill>
            <a:prstDash val="solid"/>
            <a:miter lim="800000"/>
            <a:tailEnd type="triangle" w="med" len="lg"/>
          </a:ln>
          <a:effectLst/>
        </p:spPr>
      </p:cxnSp>
      <p:sp>
        <p:nvSpPr>
          <p:cNvPr id="95" name="文本框 94">
            <a:extLst>
              <a:ext uri="{FF2B5EF4-FFF2-40B4-BE49-F238E27FC236}">
                <a16:creationId xmlns:a16="http://schemas.microsoft.com/office/drawing/2014/main" id="{00D93ECB-4626-4E8C-8E1E-5A00FA25EDA2}"/>
              </a:ext>
            </a:extLst>
          </p:cNvPr>
          <p:cNvSpPr txBox="1"/>
          <p:nvPr/>
        </p:nvSpPr>
        <p:spPr>
          <a:xfrm>
            <a:off x="1657807" y="5877417"/>
            <a:ext cx="3636439" cy="338554"/>
          </a:xfrm>
          <a:prstGeom prst="rect">
            <a:avLst/>
          </a:prstGeom>
          <a:noFill/>
        </p:spPr>
        <p:txBody>
          <a:bodyPr wrap="square">
            <a:spAutoFit/>
          </a:bodyPr>
          <a:lstStyle/>
          <a:p>
            <a:pPr algn="ctr"/>
            <a:r>
              <a:rPr lang="zh-CN" altLang="en-US" sz="1600" b="1">
                <a:solidFill>
                  <a:prstClr val="black"/>
                </a:solidFill>
                <a:latin typeface="微软雅黑"/>
                <a:ea typeface="微软雅黑"/>
              </a:rPr>
              <a:t>异构 </a:t>
            </a:r>
            <a:r>
              <a:rPr lang="en-US" altLang="zh-CN" sz="1600" b="1">
                <a:solidFill>
                  <a:prstClr val="black"/>
                </a:solidFill>
                <a:latin typeface="微软雅黑"/>
                <a:ea typeface="微软雅黑"/>
              </a:rPr>
              <a:t>(</a:t>
            </a:r>
            <a:r>
              <a:rPr lang="zh-CN" altLang="en-US" sz="1600" b="1">
                <a:solidFill>
                  <a:prstClr val="black"/>
                </a:solidFill>
                <a:latin typeface="微软雅黑"/>
                <a:ea typeface="微软雅黑"/>
              </a:rPr>
              <a:t>有限且动态</a:t>
            </a:r>
            <a:r>
              <a:rPr lang="en-US" altLang="zh-CN" sz="1600" b="1">
                <a:solidFill>
                  <a:prstClr val="black"/>
                </a:solidFill>
                <a:latin typeface="微软雅黑"/>
                <a:ea typeface="微软雅黑"/>
              </a:rPr>
              <a:t>) </a:t>
            </a:r>
            <a:r>
              <a:rPr lang="zh-CN" altLang="en-US" sz="1600" b="1">
                <a:solidFill>
                  <a:prstClr val="black"/>
                </a:solidFill>
                <a:latin typeface="微软雅黑"/>
                <a:ea typeface="微软雅黑"/>
              </a:rPr>
              <a:t>的广域网带宽</a:t>
            </a:r>
          </a:p>
        </p:txBody>
      </p:sp>
      <p:sp>
        <p:nvSpPr>
          <p:cNvPr id="96" name="文本框 95">
            <a:extLst>
              <a:ext uri="{FF2B5EF4-FFF2-40B4-BE49-F238E27FC236}">
                <a16:creationId xmlns:a16="http://schemas.microsoft.com/office/drawing/2014/main" id="{0F7E195B-AE40-4E05-A356-AA0336980B6F}"/>
              </a:ext>
            </a:extLst>
          </p:cNvPr>
          <p:cNvSpPr txBox="1"/>
          <p:nvPr/>
        </p:nvSpPr>
        <p:spPr>
          <a:xfrm>
            <a:off x="6009182" y="5855162"/>
            <a:ext cx="6096000" cy="338554"/>
          </a:xfrm>
          <a:prstGeom prst="rect">
            <a:avLst/>
          </a:prstGeom>
          <a:noFill/>
        </p:spPr>
        <p:txBody>
          <a:bodyPr wrap="square">
            <a:spAutoFit/>
          </a:bodyPr>
          <a:lstStyle/>
          <a:p>
            <a:pPr algn="ctr"/>
            <a:r>
              <a:rPr lang="zh-CN" altLang="en-US" sz="1600" b="1">
                <a:solidFill>
                  <a:prstClr val="black"/>
                </a:solidFill>
                <a:latin typeface="Helvetica" pitchFamily="2" charset="0"/>
                <a:ea typeface="微软雅黑"/>
              </a:rPr>
              <a:t>示例</a:t>
            </a:r>
            <a:r>
              <a:rPr lang="en-US" altLang="zh-CN" sz="1600" b="1">
                <a:solidFill>
                  <a:prstClr val="black"/>
                </a:solidFill>
                <a:latin typeface="Helvetica" pitchFamily="2" charset="0"/>
                <a:ea typeface="微软雅黑"/>
              </a:rPr>
              <a:t>:</a:t>
            </a:r>
            <a:r>
              <a:rPr lang="zh-CN" altLang="en-US" sz="1600" b="1">
                <a:solidFill>
                  <a:prstClr val="black"/>
                </a:solidFill>
                <a:latin typeface="Helvetica" pitchFamily="2" charset="0"/>
                <a:ea typeface="微软雅黑"/>
              </a:rPr>
              <a:t> 阶段内   </a:t>
            </a:r>
            <a:r>
              <a:rPr lang="zh-CN" altLang="en-US" sz="1600" b="1">
                <a:solidFill>
                  <a:srgbClr val="FF0000"/>
                </a:solidFill>
                <a:latin typeface="Helvetica" pitchFamily="2" charset="0"/>
                <a:ea typeface="微软雅黑"/>
              </a:rPr>
              <a:t>细粒度函数级编排</a:t>
            </a:r>
            <a:endParaRPr lang="zh-CN" altLang="en-US" sz="1600" b="1">
              <a:solidFill>
                <a:srgbClr val="FF0000"/>
              </a:solidFill>
              <a:latin typeface="微软雅黑"/>
              <a:ea typeface="微软雅黑"/>
            </a:endParaRPr>
          </a:p>
        </p:txBody>
      </p:sp>
      <p:sp>
        <p:nvSpPr>
          <p:cNvPr id="97" name="左箭头 33">
            <a:extLst>
              <a:ext uri="{FF2B5EF4-FFF2-40B4-BE49-F238E27FC236}">
                <a16:creationId xmlns:a16="http://schemas.microsoft.com/office/drawing/2014/main" id="{D03D5760-3666-4C64-9C4E-2E3C4EBA8ABC}"/>
              </a:ext>
            </a:extLst>
          </p:cNvPr>
          <p:cNvSpPr/>
          <p:nvPr/>
        </p:nvSpPr>
        <p:spPr>
          <a:xfrm rot="10800000">
            <a:off x="7700563" y="2433339"/>
            <a:ext cx="962089" cy="323473"/>
          </a:xfrm>
          <a:prstGeom prst="leftArrow">
            <a:avLst>
              <a:gd name="adj1" fmla="val 50000"/>
              <a:gd name="adj2" fmla="val 80260"/>
            </a:avLst>
          </a:prstGeom>
          <a:solidFill>
            <a:srgbClr val="943B0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srgbClr val="FF0000"/>
              </a:solidFill>
              <a:effectLst/>
              <a:highlight>
                <a:srgbClr val="FF0000"/>
              </a:highlight>
              <a:uLnTx/>
              <a:uFillTx/>
              <a:latin typeface="Gill Sans MT" panose="020B0502020104020203" pitchFamily="34" charset="0"/>
              <a:ea typeface="微软雅黑"/>
              <a:cs typeface="+mn-cs"/>
            </a:endParaRPr>
          </a:p>
        </p:txBody>
      </p:sp>
      <p:sp>
        <p:nvSpPr>
          <p:cNvPr id="98" name="文本框 97">
            <a:extLst>
              <a:ext uri="{FF2B5EF4-FFF2-40B4-BE49-F238E27FC236}">
                <a16:creationId xmlns:a16="http://schemas.microsoft.com/office/drawing/2014/main" id="{C271B2D0-054D-4513-91EA-D69BDEF3B1E9}"/>
              </a:ext>
            </a:extLst>
          </p:cNvPr>
          <p:cNvSpPr txBox="1"/>
          <p:nvPr/>
        </p:nvSpPr>
        <p:spPr>
          <a:xfrm>
            <a:off x="7752591" y="2179241"/>
            <a:ext cx="758459" cy="338554"/>
          </a:xfrm>
          <a:prstGeom prst="rect">
            <a:avLst/>
          </a:prstGeom>
          <a:noFill/>
        </p:spPr>
        <p:txBody>
          <a:bodyPr wrap="square">
            <a:spAutoFit/>
          </a:bodyPr>
          <a:lstStyle/>
          <a:p>
            <a:r>
              <a:rPr lang="zh-CN" altLang="en-US" sz="1600" b="1">
                <a:solidFill>
                  <a:prstClr val="black"/>
                </a:solidFill>
                <a:latin typeface="Arial"/>
                <a:ea typeface="微软雅黑"/>
              </a:rPr>
              <a:t>部署</a:t>
            </a:r>
          </a:p>
        </p:txBody>
      </p:sp>
      <p:cxnSp>
        <p:nvCxnSpPr>
          <p:cNvPr id="99" name="直接连接符 98">
            <a:extLst>
              <a:ext uri="{FF2B5EF4-FFF2-40B4-BE49-F238E27FC236}">
                <a16:creationId xmlns:a16="http://schemas.microsoft.com/office/drawing/2014/main" id="{153E1F68-25A1-4D99-9A40-74B274BB98DA}"/>
              </a:ext>
            </a:extLst>
          </p:cNvPr>
          <p:cNvCxnSpPr/>
          <p:nvPr/>
        </p:nvCxnSpPr>
        <p:spPr>
          <a:xfrm>
            <a:off x="397828" y="3966288"/>
            <a:ext cx="11276012" cy="0"/>
          </a:xfrm>
          <a:prstGeom prst="line">
            <a:avLst/>
          </a:prstGeom>
          <a:noFill/>
          <a:ln w="25400" cap="flat" cmpd="sng" algn="ctr">
            <a:solidFill>
              <a:srgbClr val="4874CB"/>
            </a:solidFill>
            <a:prstDash val="sysDash"/>
            <a:miter lim="800000"/>
          </a:ln>
          <a:effectLst/>
        </p:spPr>
      </p:cxnSp>
      <p:sp>
        <p:nvSpPr>
          <p:cNvPr id="100" name="文本框 99">
            <a:extLst>
              <a:ext uri="{FF2B5EF4-FFF2-40B4-BE49-F238E27FC236}">
                <a16:creationId xmlns:a16="http://schemas.microsoft.com/office/drawing/2014/main" id="{17B418AA-8167-4442-89AE-A27A661121AC}"/>
              </a:ext>
            </a:extLst>
          </p:cNvPr>
          <p:cNvSpPr txBox="1"/>
          <p:nvPr/>
        </p:nvSpPr>
        <p:spPr>
          <a:xfrm>
            <a:off x="8281158" y="3063548"/>
            <a:ext cx="1718876" cy="517274"/>
          </a:xfrm>
          <a:prstGeom prst="rect">
            <a:avLst/>
          </a:prstGeom>
          <a:noFill/>
          <a:ln w="25400">
            <a:solidFill>
              <a:srgbClr val="FF0000"/>
            </a:solidFill>
          </a:ln>
        </p:spPr>
        <p:txBody>
          <a:bodyPr wrap="square">
            <a:spAutoFit/>
          </a:bodyPr>
          <a:lstStyle/>
          <a:p>
            <a:pPr algn="ctr"/>
            <a:endParaRPr lang="zh-CN" altLang="en-US" sz="1000">
              <a:solidFill>
                <a:srgbClr val="FF0000"/>
              </a:solidFill>
              <a:latin typeface="Arial"/>
              <a:ea typeface="微软雅黑"/>
            </a:endParaRPr>
          </a:p>
        </p:txBody>
      </p:sp>
      <p:cxnSp>
        <p:nvCxnSpPr>
          <p:cNvPr id="101" name="直接箭头连接符 100">
            <a:extLst>
              <a:ext uri="{FF2B5EF4-FFF2-40B4-BE49-F238E27FC236}">
                <a16:creationId xmlns:a16="http://schemas.microsoft.com/office/drawing/2014/main" id="{78F1AB50-06FB-4644-B136-966C81C97DF2}"/>
              </a:ext>
            </a:extLst>
          </p:cNvPr>
          <p:cNvCxnSpPr>
            <a:stCxn id="100" idx="2"/>
          </p:cNvCxnSpPr>
          <p:nvPr/>
        </p:nvCxnSpPr>
        <p:spPr>
          <a:xfrm flipH="1">
            <a:off x="8225631" y="3580822"/>
            <a:ext cx="914965" cy="1105215"/>
          </a:xfrm>
          <a:prstGeom prst="straightConnector1">
            <a:avLst/>
          </a:prstGeom>
          <a:noFill/>
          <a:ln w="25400" cap="flat" cmpd="sng" algn="ctr">
            <a:solidFill>
              <a:srgbClr val="FF0000"/>
            </a:solidFill>
            <a:prstDash val="solid"/>
            <a:miter lim="800000"/>
            <a:tailEnd type="triangle" w="med" len="lg"/>
          </a:ln>
          <a:effectLst/>
        </p:spPr>
      </p:cxnSp>
      <p:sp>
        <p:nvSpPr>
          <p:cNvPr id="102" name="矩形 101">
            <a:extLst>
              <a:ext uri="{FF2B5EF4-FFF2-40B4-BE49-F238E27FC236}">
                <a16:creationId xmlns:a16="http://schemas.microsoft.com/office/drawing/2014/main" id="{044EB0B5-5EC8-43EA-B62E-4AE455F00135}"/>
              </a:ext>
            </a:extLst>
          </p:cNvPr>
          <p:cNvSpPr/>
          <p:nvPr/>
        </p:nvSpPr>
        <p:spPr>
          <a:xfrm>
            <a:off x="8837929" y="5903035"/>
            <a:ext cx="1760215" cy="276999"/>
          </a:xfrm>
          <a:prstGeom prst="rect">
            <a:avLst/>
          </a:prstGeom>
          <a:noFill/>
          <a:ln w="2540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Arial"/>
              <a:ea typeface="微软雅黑"/>
              <a:cs typeface="+mn-cs"/>
            </a:endParaRPr>
          </a:p>
        </p:txBody>
      </p:sp>
      <p:cxnSp>
        <p:nvCxnSpPr>
          <p:cNvPr id="103" name="直接箭头连接符 102">
            <a:extLst>
              <a:ext uri="{FF2B5EF4-FFF2-40B4-BE49-F238E27FC236}">
                <a16:creationId xmlns:a16="http://schemas.microsoft.com/office/drawing/2014/main" id="{74BB2793-C057-46E2-85D9-01DB93257426}"/>
              </a:ext>
            </a:extLst>
          </p:cNvPr>
          <p:cNvCxnSpPr>
            <a:stCxn id="102" idx="0"/>
          </p:cNvCxnSpPr>
          <p:nvPr/>
        </p:nvCxnSpPr>
        <p:spPr>
          <a:xfrm flipV="1">
            <a:off x="9718037" y="5675600"/>
            <a:ext cx="645163" cy="227435"/>
          </a:xfrm>
          <a:prstGeom prst="straightConnector1">
            <a:avLst/>
          </a:prstGeom>
          <a:noFill/>
          <a:ln w="22225" cap="flat" cmpd="sng" algn="ctr">
            <a:solidFill>
              <a:srgbClr val="FF0000"/>
            </a:solidFill>
            <a:prstDash val="solid"/>
            <a:miter lim="800000"/>
            <a:headEnd w="lg" len="med"/>
            <a:tailEnd type="triangle" w="med" len="lg"/>
          </a:ln>
          <a:effectLst/>
        </p:spPr>
      </p:cxnSp>
      <p:sp>
        <p:nvSpPr>
          <p:cNvPr id="104" name="文本框 103">
            <a:extLst>
              <a:ext uri="{FF2B5EF4-FFF2-40B4-BE49-F238E27FC236}">
                <a16:creationId xmlns:a16="http://schemas.microsoft.com/office/drawing/2014/main" id="{CF678C05-4B4A-46E7-9805-79A2709A7359}"/>
              </a:ext>
            </a:extLst>
          </p:cNvPr>
          <p:cNvSpPr txBox="1"/>
          <p:nvPr/>
        </p:nvSpPr>
        <p:spPr>
          <a:xfrm>
            <a:off x="6605093" y="5895893"/>
            <a:ext cx="800854" cy="276999"/>
          </a:xfrm>
          <a:prstGeom prst="rect">
            <a:avLst/>
          </a:prstGeom>
          <a:noFill/>
          <a:ln w="25400">
            <a:solidFill>
              <a:srgbClr val="FF0000"/>
            </a:solidFill>
          </a:ln>
        </p:spPr>
        <p:txBody>
          <a:bodyPr wrap="square">
            <a:spAutoFit/>
          </a:bodyPr>
          <a:lstStyle/>
          <a:p>
            <a:pPr algn="ctr"/>
            <a:r>
              <a:rPr lang="zh-CN" altLang="en-US" sz="1200" b="1">
                <a:solidFill>
                  <a:srgbClr val="FF0000"/>
                </a:solidFill>
                <a:latin typeface="微软雅黑"/>
                <a:ea typeface="微软雅黑"/>
              </a:rPr>
              <a:t>延迟倾斜</a:t>
            </a:r>
            <a:endParaRPr lang="zh-CN" altLang="en-US" sz="1200">
              <a:solidFill>
                <a:srgbClr val="FF0000"/>
              </a:solidFill>
              <a:latin typeface="Arial"/>
              <a:ea typeface="微软雅黑"/>
            </a:endParaRPr>
          </a:p>
        </p:txBody>
      </p:sp>
      <p:sp>
        <p:nvSpPr>
          <p:cNvPr id="105" name="文本框 104">
            <a:extLst>
              <a:ext uri="{FF2B5EF4-FFF2-40B4-BE49-F238E27FC236}">
                <a16:creationId xmlns:a16="http://schemas.microsoft.com/office/drawing/2014/main" id="{0D7CDD4B-DFBD-4531-9E5E-D7EFC7ED3638}"/>
              </a:ext>
            </a:extLst>
          </p:cNvPr>
          <p:cNvSpPr txBox="1"/>
          <p:nvPr/>
        </p:nvSpPr>
        <p:spPr>
          <a:xfrm>
            <a:off x="8504403" y="4421160"/>
            <a:ext cx="801521" cy="276999"/>
          </a:xfrm>
          <a:prstGeom prst="rect">
            <a:avLst/>
          </a:prstGeom>
          <a:noFill/>
          <a:ln w="25400">
            <a:solidFill>
              <a:srgbClr val="FF0000"/>
            </a:solidFill>
          </a:ln>
        </p:spPr>
        <p:txBody>
          <a:bodyPr wrap="square">
            <a:spAutoFit/>
          </a:bodyPr>
          <a:lstStyle/>
          <a:p>
            <a:pPr algn="ctr"/>
            <a:r>
              <a:rPr lang="zh-CN" altLang="en-US" sz="1200" b="1">
                <a:solidFill>
                  <a:srgbClr val="FF0000"/>
                </a:solidFill>
                <a:latin typeface="微软雅黑"/>
                <a:ea typeface="微软雅黑"/>
              </a:rPr>
              <a:t>均匀配置</a:t>
            </a:r>
            <a:endParaRPr lang="zh-CN" altLang="en-US" sz="1200">
              <a:solidFill>
                <a:srgbClr val="FF0000"/>
              </a:solidFill>
              <a:latin typeface="Arial"/>
              <a:ea typeface="微软雅黑"/>
            </a:endParaRPr>
          </a:p>
        </p:txBody>
      </p:sp>
    </p:spTree>
    <p:extLst>
      <p:ext uri="{BB962C8B-B14F-4D97-AF65-F5344CB8AC3E}">
        <p14:creationId xmlns:p14="http://schemas.microsoft.com/office/powerpoint/2010/main" val="26333551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48.65173228346458,&quot;left&quot;:101.41637795275591,&quot;top&quot;:117.93330708661418,&quot;width&quot;:758.0084251968503}"/>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105</Words>
  <Application>Microsoft Office PowerPoint</Application>
  <PresentationFormat>宽屏</PresentationFormat>
  <Paragraphs>18</Paragraphs>
  <Slides>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vt:i4>
      </vt:variant>
    </vt:vector>
  </HeadingPairs>
  <TitlesOfParts>
    <vt:vector size="11" baseType="lpstr">
      <vt:lpstr>等线</vt:lpstr>
      <vt:lpstr>等线 Light</vt:lpstr>
      <vt:lpstr>黑体</vt:lpstr>
      <vt:lpstr>思源黑体 CN Regular</vt:lpstr>
      <vt:lpstr>微软雅黑</vt:lpstr>
      <vt:lpstr>Arial</vt:lpstr>
      <vt:lpstr>Gill Sans MT</vt:lpstr>
      <vt:lpstr>Helvetica</vt:lpstr>
      <vt:lpstr>Roboto</vt:lpstr>
      <vt:lpstr>Office 主题​​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ZZM</dc:creator>
  <cp:lastModifiedBy>ZZM</cp:lastModifiedBy>
  <cp:revision>4</cp:revision>
  <dcterms:created xsi:type="dcterms:W3CDTF">2026-05-19T12:30:22Z</dcterms:created>
  <dcterms:modified xsi:type="dcterms:W3CDTF">2026-05-19T12:41:09Z</dcterms:modified>
</cp:coreProperties>
</file>