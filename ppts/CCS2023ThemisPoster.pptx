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18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5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05969-857F-4959-876C-4AC174078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724217-0C20-4D7E-AF88-2A8262F1D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011AC-826D-4D77-8F87-446F7D00B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74BA6-7437-40F5-BF1E-40176C09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DDE782-9F59-4CB0-96F2-713D80C8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39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430837-E839-4F25-A110-13BCF5A1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360D6-314B-4CA8-ABBB-5E4E4DB28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497055-ABC9-4E3D-9D9B-AF54AD514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F4DBBF-9F69-48DA-B744-19287AFD1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EA34C5-8BCD-480D-9DBB-94D4DB75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90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32C89-1BEF-4372-8747-16A704C74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F26452-F6AC-4F34-B18D-B7A76EC11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BB4810-74CB-4ECD-BEB3-1078CA0E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58801F-9CD9-4733-8D81-56BCC53C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EB79F-E23B-4732-B063-F48152B5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24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D9273-FE92-479A-8339-CE868D68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0965DA-72F6-4EE9-95B3-4948C768D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A97795-F3E8-4510-9FC7-21DFB498E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2B348F-4A7A-4602-879E-67F1D0E6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5EF639-0907-4FF6-97C3-E294E024B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8B9471-6918-417D-AE16-EC3CAE4B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43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6986D-2266-421C-994B-EC19CED1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569F84-333E-45EA-9341-BBA957D66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0010DE-D72C-4355-99F5-BFD42ABE9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688286-1562-4832-97A5-9EC055C5E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016189-C0C8-4EB1-9A2C-D83DCC204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C78DF9-43B1-49E8-AA98-BEAB4D165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83742D-7417-4732-A7C0-7C10C904D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196843-7856-4531-B527-CC752487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30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BA13D-92E0-4203-B38B-A8C69EA5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D57C69-C0B6-4FE1-8CB8-6B611D77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40A965-1D9C-4AF6-AF5D-01BA5FDFD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2B82C8-DB24-40AE-B75F-341873CF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12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B334CF-2B32-4AEA-84AE-46230AF95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770DDA-2D46-42F5-B6A9-5AFC6EF3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62F03D-7DA9-492D-8F94-72AE4FA9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13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6093A-ED7E-4757-B9F4-14A6E79F4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D19B68-4BD5-483C-A571-0E77BFDE1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B62867-0A7A-4159-828A-F54462722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C7B0D3-DF1B-4854-939E-CEA82BA0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2891B9-7AE7-4033-ABF3-06C01066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77E58D-C106-46FE-8476-B37AAE9D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37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680EDC-05D3-4CCF-BF75-424A7A39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90CA33-87F7-4A6F-831C-35E1454A1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9E82BA-9579-4CB7-A150-90D066FBA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C9A9D4-B84E-406E-AC5B-34E09E69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CC7D52-F513-40FD-8293-A18D2E35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1C79DE-EB15-425E-A265-E24463E7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87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F0B44-86FF-4835-A086-5367F343B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83615F-CA5C-478B-BBED-6CC8DA68F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6265F-F40F-4A59-B5E6-968FA32AD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92EEEB-11BD-4DDA-9E94-4884B174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81AF02-E235-4A3A-8BEE-F778A324C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74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CF36A1-9857-45A2-B90D-ECC1CAA73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2E1D74-24BF-4D2A-8701-9A8D57FD1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FAD710-D439-426E-BE2E-B1BDDE11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FB8C1-C3F9-4579-A7C6-E07669ED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C43394-8EF5-4940-8C44-10823BC7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60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E6A440-C754-4513-B077-47F837A87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CA14CA-BAA6-45A0-9D78-B7F9FF3C3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1924D9-D413-4BC5-9385-1D60D5173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3B7C0F-EAD4-45D9-B9B8-483067730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62F70E-F3D1-4158-9806-609CA9301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59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E944E8C-FFE2-431E-AC19-6246308C2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790" y="2553556"/>
            <a:ext cx="5122718" cy="2946400"/>
          </a:xfrm>
          <a:prstGeom prst="rect">
            <a:avLst/>
          </a:prstGeom>
        </p:spPr>
      </p:pic>
      <p:sp>
        <p:nvSpPr>
          <p:cNvPr id="45" name="bk object 19">
            <a:extLst>
              <a:ext uri="{FF2B5EF4-FFF2-40B4-BE49-F238E27FC236}">
                <a16:creationId xmlns:a16="http://schemas.microsoft.com/office/drawing/2014/main" id="{2A77D5EF-D757-4FE6-9442-8D86E5735841}"/>
              </a:ext>
            </a:extLst>
          </p:cNvPr>
          <p:cNvSpPr/>
          <p:nvPr/>
        </p:nvSpPr>
        <p:spPr>
          <a:xfrm>
            <a:off x="0" y="764479"/>
            <a:ext cx="12192000" cy="2540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6" name="bk object 18">
            <a:extLst>
              <a:ext uri="{FF2B5EF4-FFF2-40B4-BE49-F238E27FC236}">
                <a16:creationId xmlns:a16="http://schemas.microsoft.com/office/drawing/2014/main" id="{503E7D83-ADF7-430D-B380-76F03034DBE7}"/>
              </a:ext>
            </a:extLst>
          </p:cNvPr>
          <p:cNvSpPr/>
          <p:nvPr/>
        </p:nvSpPr>
        <p:spPr>
          <a:xfrm>
            <a:off x="493795" y="0"/>
            <a:ext cx="695325" cy="692785"/>
          </a:xfrm>
          <a:custGeom>
            <a:avLst/>
            <a:gdLst/>
            <a:ahLst/>
            <a:cxnLst/>
            <a:rect l="l" t="t" r="r" b="b"/>
            <a:pathLst>
              <a:path w="695325" h="692785">
                <a:moveTo>
                  <a:pt x="694860" y="0"/>
                </a:moveTo>
                <a:lnTo>
                  <a:pt x="0" y="0"/>
                </a:lnTo>
                <a:lnTo>
                  <a:pt x="0" y="576648"/>
                </a:lnTo>
                <a:lnTo>
                  <a:pt x="9101" y="621727"/>
                </a:lnTo>
                <a:lnTo>
                  <a:pt x="33920" y="658540"/>
                </a:lnTo>
                <a:lnTo>
                  <a:pt x="70733" y="683359"/>
                </a:lnTo>
                <a:lnTo>
                  <a:pt x="115812" y="692461"/>
                </a:lnTo>
                <a:lnTo>
                  <a:pt x="579048" y="692461"/>
                </a:lnTo>
                <a:lnTo>
                  <a:pt x="624127" y="683359"/>
                </a:lnTo>
                <a:lnTo>
                  <a:pt x="660940" y="658540"/>
                </a:lnTo>
                <a:lnTo>
                  <a:pt x="685759" y="621727"/>
                </a:lnTo>
                <a:lnTo>
                  <a:pt x="694860" y="576648"/>
                </a:lnTo>
                <a:lnTo>
                  <a:pt x="694860" y="0"/>
                </a:lnTo>
                <a:close/>
              </a:path>
            </a:pathLst>
          </a:custGeom>
          <a:solidFill>
            <a:srgbClr val="002A7E"/>
          </a:solidFill>
        </p:spPr>
        <p:txBody>
          <a:bodyPr wrap="square" lIns="0" tIns="0" rIns="0" bIns="0" rtlCol="0" anchor="ctr" anchorCtr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二</a:t>
            </a:r>
            <a:endParaRPr sz="2800" b="1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2104440-C344-4EC3-AB8D-5ED4C83848E9}"/>
              </a:ext>
            </a:extLst>
          </p:cNvPr>
          <p:cNvSpPr txBox="1"/>
          <p:nvPr/>
        </p:nvSpPr>
        <p:spPr>
          <a:xfrm>
            <a:off x="1402916" y="115558"/>
            <a:ext cx="5416868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代表成果：</a:t>
            </a: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水印扰动下的对抗样本检测</a:t>
            </a:r>
            <a:endParaRPr lang="zh-CN" altLang="en-US" sz="24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8" name="文本框 4">
            <a:extLst>
              <a:ext uri="{FF2B5EF4-FFF2-40B4-BE49-F238E27FC236}">
                <a16:creationId xmlns:a16="http://schemas.microsoft.com/office/drawing/2014/main" id="{ED94564E-D7C9-4B8D-84A2-8E984E351D41}"/>
              </a:ext>
            </a:extLst>
          </p:cNvPr>
          <p:cNvSpPr txBox="1"/>
          <p:nvPr/>
        </p:nvSpPr>
        <p:spPr>
          <a:xfrm>
            <a:off x="11304801" y="267633"/>
            <a:ext cx="786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F5304E13-479D-BD4F-B4A7-78935B937A33}" type="slidenum">
              <a:rPr kumimoji="1" lang="zh-CN" altLang="en-US" smtClean="0">
                <a:solidFill>
                  <a:prstClr val="black"/>
                </a:solidFill>
                <a:latin typeface="Arial"/>
                <a:ea typeface="微软雅黑"/>
              </a:rPr>
              <a:pPr/>
              <a:t>1</a:t>
            </a:fld>
            <a:endParaRPr lang="en-US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412BE57-0AEC-402A-A5EA-A3DB5DCC178C}"/>
              </a:ext>
            </a:extLst>
          </p:cNvPr>
          <p:cNvSpPr/>
          <p:nvPr/>
        </p:nvSpPr>
        <p:spPr>
          <a:xfrm>
            <a:off x="455695" y="5675235"/>
            <a:ext cx="11365009" cy="673704"/>
          </a:xfrm>
          <a:prstGeom prst="rect">
            <a:avLst/>
          </a:prstGeom>
          <a:solidFill>
            <a:srgbClr val="003F87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>
              <a:defRPr/>
            </a:pP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在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ImageNet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InceptionV3/VGG19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和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5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类会议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logo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水印扰动上，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Themis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分别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达到 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99.91% 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和 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96.12% 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检测准确率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，相比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5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种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SOTA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检测方法提升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超过 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15% accuracy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；同时具有更高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AUC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检测开销仅约 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0.04s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任意多边形: 形状 70">
            <a:extLst>
              <a:ext uri="{FF2B5EF4-FFF2-40B4-BE49-F238E27FC236}">
                <a16:creationId xmlns:a16="http://schemas.microsoft.com/office/drawing/2014/main" id="{8107DE78-5433-4F8B-858A-CAF4A978093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45595" y="788462"/>
            <a:ext cx="11545570" cy="574124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-1" fmla="*/ 0 w 10035"/>
              <a:gd name="connsiteY0-2" fmla="*/ 10012 h 10012"/>
              <a:gd name="connsiteX1-3" fmla="*/ 0 w 10035"/>
              <a:gd name="connsiteY1-4" fmla="*/ 12 h 10012"/>
              <a:gd name="connsiteX2-5" fmla="*/ 10035 w 10035"/>
              <a:gd name="connsiteY2-6" fmla="*/ 0 h 10012"/>
              <a:gd name="connsiteX3-7" fmla="*/ 10000 w 10035"/>
              <a:gd name="connsiteY3-8" fmla="*/ 8012 h 10012"/>
              <a:gd name="connsiteX4-9" fmla="*/ 0 w 10035"/>
              <a:gd name="connsiteY4-10" fmla="*/ 10012 h 10012"/>
              <a:gd name="connsiteX0-11" fmla="*/ 0 w 10035"/>
              <a:gd name="connsiteY0-12" fmla="*/ 10012 h 10012"/>
              <a:gd name="connsiteX1-13" fmla="*/ 0 w 10035"/>
              <a:gd name="connsiteY1-14" fmla="*/ 12 h 10012"/>
              <a:gd name="connsiteX2-15" fmla="*/ 10035 w 10035"/>
              <a:gd name="connsiteY2-16" fmla="*/ 0 h 10012"/>
              <a:gd name="connsiteX3-17" fmla="*/ 9965 w 10035"/>
              <a:gd name="connsiteY3-18" fmla="*/ 9867 h 10012"/>
              <a:gd name="connsiteX4-19" fmla="*/ 0 w 10035"/>
              <a:gd name="connsiteY4-20" fmla="*/ 10012 h 10012"/>
              <a:gd name="connsiteX0-21" fmla="*/ 0 w 10035"/>
              <a:gd name="connsiteY0-22" fmla="*/ 10012 h 10012"/>
              <a:gd name="connsiteX1-23" fmla="*/ 0 w 10035"/>
              <a:gd name="connsiteY1-24" fmla="*/ 12 h 10012"/>
              <a:gd name="connsiteX2-25" fmla="*/ 10035 w 10035"/>
              <a:gd name="connsiteY2-26" fmla="*/ 0 h 10012"/>
              <a:gd name="connsiteX3-27" fmla="*/ 9965 w 10035"/>
              <a:gd name="connsiteY3-28" fmla="*/ 9945 h 10012"/>
              <a:gd name="connsiteX4-29" fmla="*/ 0 w 10035"/>
              <a:gd name="connsiteY4-30" fmla="*/ 10012 h 10012"/>
              <a:gd name="connsiteX0-31" fmla="*/ 0 w 10035"/>
              <a:gd name="connsiteY0-32" fmla="*/ 10012 h 10023"/>
              <a:gd name="connsiteX1-33" fmla="*/ 0 w 10035"/>
              <a:gd name="connsiteY1-34" fmla="*/ 12 h 10023"/>
              <a:gd name="connsiteX2-35" fmla="*/ 10035 w 10035"/>
              <a:gd name="connsiteY2-36" fmla="*/ 0 h 10023"/>
              <a:gd name="connsiteX3-37" fmla="*/ 9965 w 10035"/>
              <a:gd name="connsiteY3-38" fmla="*/ 10023 h 10023"/>
              <a:gd name="connsiteX4-39" fmla="*/ 0 w 10035"/>
              <a:gd name="connsiteY4-40" fmla="*/ 10012 h 1002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5" h="10023">
                <a:moveTo>
                  <a:pt x="0" y="10012"/>
                </a:moveTo>
                <a:lnTo>
                  <a:pt x="0" y="12"/>
                </a:lnTo>
                <a:lnTo>
                  <a:pt x="10035" y="0"/>
                </a:lnTo>
                <a:cubicBezTo>
                  <a:pt x="10023" y="2671"/>
                  <a:pt x="9977" y="7352"/>
                  <a:pt x="9965" y="10023"/>
                </a:cubicBezTo>
                <a:lnTo>
                  <a:pt x="0" y="10012"/>
                </a:lnTo>
                <a:close/>
              </a:path>
            </a:pathLst>
          </a:custGeom>
          <a:solidFill>
            <a:srgbClr val="003F8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266701" tIns="845686" rIns="263922" bIns="845687" numCol="1" spcCol="1270" anchor="t" anchorCtr="0">
            <a:noAutofit/>
          </a:bodyPr>
          <a:lstStyle/>
          <a:p>
            <a:pPr marL="0" lvl="1" defTabSz="1466850">
              <a:lnSpc>
                <a:spcPct val="400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lang="zh-CN" altLang="en-US" sz="24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基于</a:t>
            </a:r>
            <a:r>
              <a:rPr lang="zh-CN" altLang="en-US" sz="24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可用信息理论</a:t>
            </a:r>
            <a:r>
              <a:rPr lang="zh-CN" altLang="en-US" sz="24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的水印对抗样本检测方法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4" name="文本框 19">
            <a:extLst>
              <a:ext uri="{FF2B5EF4-FFF2-40B4-BE49-F238E27FC236}">
                <a16:creationId xmlns:a16="http://schemas.microsoft.com/office/drawing/2014/main" id="{07186F90-1D5C-4B0E-ADAB-4308D6D8C78D}"/>
              </a:ext>
            </a:extLst>
          </p:cNvPr>
          <p:cNvSpPr txBox="1"/>
          <p:nvPr/>
        </p:nvSpPr>
        <p:spPr>
          <a:xfrm>
            <a:off x="420134" y="6418713"/>
            <a:ext cx="11595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3765"/>
            <a:r>
              <a:rPr lang="en-US" altLang="zh-CN" sz="1400" i="1" dirty="0">
                <a:solidFill>
                  <a:srgbClr val="000000"/>
                </a:solidFill>
                <a:latin typeface="Arial"/>
                <a:ea typeface="黑体" panose="02010609060101010101" pitchFamily="49" charset="-122"/>
              </a:rPr>
              <a:t>Poster: Detecting Adversarial Examples Hidden under Watermark Perturbation via Usable Information Theory. </a:t>
            </a:r>
            <a:r>
              <a:rPr lang="en-US" altLang="zh-CN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(ACM CCS 2023)</a:t>
            </a:r>
            <a:endParaRPr lang="zh-CN" altLang="en-US" sz="1400" i="1" dirty="0">
              <a:solidFill>
                <a:srgbClr val="FF0000"/>
              </a:solidFill>
              <a:latin typeface="Arial"/>
              <a:ea typeface="黑体" panose="02010609060101010101" pitchFamily="49" charset="-122"/>
            </a:endParaRPr>
          </a:p>
        </p:txBody>
      </p:sp>
      <p:sp>
        <p:nvSpPr>
          <p:cNvPr id="23" name="文本框 19">
            <a:extLst>
              <a:ext uri="{FF2B5EF4-FFF2-40B4-BE49-F238E27FC236}">
                <a16:creationId xmlns:a16="http://schemas.microsoft.com/office/drawing/2014/main" id="{F851F652-D5A5-417A-BBBB-EF142C5F73DB}"/>
              </a:ext>
            </a:extLst>
          </p:cNvPr>
          <p:cNvSpPr txBox="1"/>
          <p:nvPr/>
        </p:nvSpPr>
        <p:spPr>
          <a:xfrm>
            <a:off x="11046508" y="2873167"/>
            <a:ext cx="69037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显著区分水印 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AE 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与正常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未成功攻击样本</a:t>
            </a:r>
          </a:p>
        </p:txBody>
      </p:sp>
      <p:sp>
        <p:nvSpPr>
          <p:cNvPr id="21" name="文本框 19">
            <a:extLst>
              <a:ext uri="{FF2B5EF4-FFF2-40B4-BE49-F238E27FC236}">
                <a16:creationId xmlns:a16="http://schemas.microsoft.com/office/drawing/2014/main" id="{8AB882A9-B10F-4585-B6E2-A7DFCEA1E25A}"/>
              </a:ext>
            </a:extLst>
          </p:cNvPr>
          <p:cNvSpPr txBox="1"/>
          <p:nvPr/>
        </p:nvSpPr>
        <p:spPr>
          <a:xfrm>
            <a:off x="4874903" y="2808419"/>
            <a:ext cx="73925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基于逐点的可用信息判断样本是否为水印 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AE</a:t>
            </a:r>
            <a:endParaRPr lang="zh-CN" altLang="en-US" sz="16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矩形: 圆角 28">
            <a:extLst>
              <a:ext uri="{FF2B5EF4-FFF2-40B4-BE49-F238E27FC236}">
                <a16:creationId xmlns:a16="http://schemas.microsoft.com/office/drawing/2014/main" id="{D67A5DDC-E7A5-449D-B1E1-86D8CA00A6F0}"/>
              </a:ext>
            </a:extLst>
          </p:cNvPr>
          <p:cNvSpPr/>
          <p:nvPr/>
        </p:nvSpPr>
        <p:spPr>
          <a:xfrm>
            <a:off x="345874" y="1422594"/>
            <a:ext cx="11512931" cy="956829"/>
          </a:xfrm>
          <a:prstGeom prst="roundRect">
            <a:avLst>
              <a:gd name="adj" fmla="val 3558"/>
            </a:avLst>
          </a:prstGeom>
          <a:solidFill>
            <a:sysClr val="window" lastClr="FFFFFF"/>
          </a:solidFill>
          <a:ln w="6350" cap="flat" cmpd="sng" algn="ctr">
            <a:solidFill>
              <a:srgbClr val="003399">
                <a:alpha val="28000"/>
              </a:srgbClr>
            </a:solidFill>
            <a:prstDash val="solid"/>
            <a:miter lim="800000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Regular"/>
              <a:cs typeface="+mn-cs"/>
            </a:endParaRPr>
          </a:p>
        </p:txBody>
      </p:sp>
      <p:sp>
        <p:nvSpPr>
          <p:cNvPr id="50" name="文本框 7">
            <a:extLst>
              <a:ext uri="{FF2B5EF4-FFF2-40B4-BE49-F238E27FC236}">
                <a16:creationId xmlns:a16="http://schemas.microsoft.com/office/drawing/2014/main" id="{700408FA-D0AD-4A5F-BA7E-1DB4212A8642}"/>
              </a:ext>
            </a:extLst>
          </p:cNvPr>
          <p:cNvSpPr txBox="1"/>
          <p:nvPr/>
        </p:nvSpPr>
        <p:spPr>
          <a:xfrm>
            <a:off x="522339" y="1501187"/>
            <a:ext cx="11160000" cy="79970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Wingdings" panose="05000000000000000000" pitchFamily="2" charset="2"/>
              <a:buChar char="Ø"/>
              <a:defRPr sz="2000" b="1">
                <a:solidFill>
                  <a:srgbClr val="2E8DB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1">
              <a:lnSpc>
                <a:spcPct val="120000"/>
              </a:lnSpc>
              <a:spcBef>
                <a:spcPct val="0"/>
              </a:spcBef>
              <a:buSzPct val="95000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图像水印常用于版权保护，但攻击者可通过调整水印位置、尺度和透明度，将可见 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logo 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水印作为扰动生成对抗样本；水印不同于传统噪声扰动，现有 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AE 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检测方法对此类攻击检测效果较差。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93948E2-5B0F-4CCF-BC75-751231B840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89" y="2553556"/>
            <a:ext cx="4316361" cy="303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3551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173228346458,&quot;left&quot;:101.41637795275591,&quot;top&quot;:117.93330708661418,&quot;width&quot;:758.0084251968503}"/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786</TotalTime>
  <Words>162</Words>
  <Application>Microsoft Office PowerPoint</Application>
  <PresentationFormat>宽屏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等线 Light</vt:lpstr>
      <vt:lpstr>黑体</vt:lpstr>
      <vt:lpstr>思源黑体 CN Regular</vt:lpstr>
      <vt:lpstr>微软雅黑</vt:lpstr>
      <vt:lpstr>Arial</vt:lpstr>
      <vt:lpstr>Roboto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ZZM</dc:creator>
  <cp:lastModifiedBy>ZZM</cp:lastModifiedBy>
  <cp:revision>46</cp:revision>
  <dcterms:created xsi:type="dcterms:W3CDTF">2026-05-19T12:30:22Z</dcterms:created>
  <dcterms:modified xsi:type="dcterms:W3CDTF">2026-05-20T02:14:44Z</dcterms:modified>
</cp:coreProperties>
</file>