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C0CEE-9FFC-4485-B473-5F37748A6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D21F2F-C645-4352-B324-1DF9F4B0B4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" name="矩形: 圆角 28">
            <a:extLst>
              <a:ext uri="{FF2B5EF4-FFF2-40B4-BE49-F238E27FC236}">
                <a16:creationId xmlns:a16="http://schemas.microsoft.com/office/drawing/2014/main" id="{D5508D3C-648A-4985-894D-5562AB79BB83}"/>
              </a:ext>
            </a:extLst>
          </p:cNvPr>
          <p:cNvSpPr/>
          <p:nvPr/>
        </p:nvSpPr>
        <p:spPr>
          <a:xfrm>
            <a:off x="349885" y="1372870"/>
            <a:ext cx="11513185" cy="521335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36" name="bk object 19">
            <a:extLst>
              <a:ext uri="{FF2B5EF4-FFF2-40B4-BE49-F238E27FC236}">
                <a16:creationId xmlns:a16="http://schemas.microsoft.com/office/drawing/2014/main" id="{DB213901-420C-42D7-A2A6-D447299D7B0C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bk object 18">
            <a:extLst>
              <a:ext uri="{FF2B5EF4-FFF2-40B4-BE49-F238E27FC236}">
                <a16:creationId xmlns:a16="http://schemas.microsoft.com/office/drawing/2014/main" id="{CFAEA105-EA8A-40DE-B6F3-9A02974E9FB3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B37CEA-8BF0-476E-ADC4-2D9FB6FFD89B}"/>
              </a:ext>
            </a:extLst>
          </p:cNvPr>
          <p:cNvSpPr txBox="1"/>
          <p:nvPr/>
        </p:nvSpPr>
        <p:spPr>
          <a:xfrm>
            <a:off x="1402916" y="115558"/>
            <a:ext cx="4834978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Yu Gothic Medium" panose="020B0500000000000000" charset="-128"/>
              </a:rPr>
              <a:t>服务器无感知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MoE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推理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6305C6C-8044-446A-B866-3FEE6B5C16E4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0" name="任意多边形: 形状 70">
            <a:extLst>
              <a:ext uri="{FF2B5EF4-FFF2-40B4-BE49-F238E27FC236}">
                <a16:creationId xmlns:a16="http://schemas.microsoft.com/office/drawing/2014/main" id="{22BF51ED-97BD-4A23-BBAF-A1F2E270E3F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稀疏且细粒度的弹性专家拓展</a:t>
            </a:r>
          </a:p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19">
            <a:extLst>
              <a:ext uri="{FF2B5EF4-FFF2-40B4-BE49-F238E27FC236}">
                <a16:creationId xmlns:a16="http://schemas.microsoft.com/office/drawing/2014/main" id="{69E8072E-5D5C-47F4-B11B-D190AA933276}"/>
              </a:ext>
            </a:extLst>
          </p:cNvPr>
          <p:cNvSpPr txBox="1"/>
          <p:nvPr/>
        </p:nvSpPr>
        <p:spPr>
          <a:xfrm>
            <a:off x="323214" y="6290258"/>
            <a:ext cx="11539855" cy="60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buClr>
                <a:srgbClr val="006C39"/>
              </a:buClr>
            </a:pP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sMoE: Elastic MoE-Based Inference with Serverless Computing via Spare Expert Scaling. </a:t>
            </a:r>
            <a:r>
              <a:rPr lang="en-US" altLang="zh-CN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(IEEE/ACM DAC 2026. CCF A </a:t>
            </a:r>
            <a:r>
              <a:rPr lang="zh-CN" altLang="en-US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会议</a:t>
            </a:r>
            <a:r>
              <a:rPr lang="en-US" altLang="zh-CN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)</a:t>
            </a:r>
            <a:endParaRPr lang="zh-CN" altLang="en-US" sz="1400" i="1" dirty="0">
              <a:solidFill>
                <a:srgbClr val="FF0000"/>
              </a:solidFill>
              <a:latin typeface="Helvetica" pitchFamily="2" charset="0"/>
              <a:ea typeface="黑体" panose="02010609060101010101" charset="-122"/>
              <a:sym typeface="+mn-ea"/>
            </a:endParaRPr>
          </a:p>
          <a:p>
            <a:pPr>
              <a:lnSpc>
                <a:spcPct val="125000"/>
              </a:lnSpc>
              <a:buClr>
                <a:srgbClr val="006C39"/>
              </a:buClr>
            </a:pPr>
            <a:endParaRPr lang="zh-CN" altLang="en-US" sz="1400" i="1" dirty="0">
              <a:solidFill>
                <a:prstClr val="black"/>
              </a:solidFill>
              <a:latin typeface="Helvetica" pitchFamily="2" charset="0"/>
              <a:ea typeface="黑体" panose="02010609060101010101" charset="-122"/>
              <a:sym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DE3C56-F39C-47E5-AB0C-2B90B130BA4D}"/>
              </a:ext>
            </a:extLst>
          </p:cNvPr>
          <p:cNvSpPr/>
          <p:nvPr/>
        </p:nvSpPr>
        <p:spPr>
          <a:xfrm>
            <a:off x="323215" y="5318760"/>
            <a:ext cx="11539855" cy="823595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192EC1-4195-4884-BBE8-85632A37FDB4}"/>
              </a:ext>
            </a:extLst>
          </p:cNvPr>
          <p:cNvSpPr txBox="1"/>
          <p:nvPr/>
        </p:nvSpPr>
        <p:spPr>
          <a:xfrm>
            <a:off x="472587" y="1343863"/>
            <a:ext cx="11161696" cy="42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25000"/>
              </a:lnSpc>
              <a:buClr>
                <a:srgbClr val="44546A"/>
              </a:buClr>
            </a:pPr>
            <a:r>
              <a:rPr lang="zh-CN" altLang="en-US" sz="1900" b="1" dirty="0">
                <a:solidFill>
                  <a:prstClr val="black"/>
                </a:solidFill>
                <a:latin typeface="Arial"/>
                <a:ea typeface="微软雅黑"/>
              </a:rPr>
              <a:t>传统基于服务器的</a:t>
            </a:r>
            <a:r>
              <a:rPr lang="en-US" altLang="zh-CN" sz="1900" b="1" dirty="0" err="1">
                <a:solidFill>
                  <a:prstClr val="black"/>
                </a:solidFill>
                <a:latin typeface="Arial"/>
                <a:ea typeface="微软雅黑"/>
              </a:rPr>
              <a:t>MoE</a:t>
            </a:r>
            <a:r>
              <a:rPr lang="zh-CN" altLang="en-US" sz="1900" b="1" dirty="0">
                <a:solidFill>
                  <a:prstClr val="black"/>
                </a:solidFill>
                <a:latin typeface="Arial"/>
                <a:ea typeface="微软雅黑"/>
              </a:rPr>
              <a:t>推理会由于专家的</a:t>
            </a:r>
            <a:r>
              <a:rPr lang="en-US" altLang="zh-CN" sz="1900" b="1" dirty="0">
                <a:solidFill>
                  <a:prstClr val="black"/>
                </a:solidFill>
                <a:latin typeface="Arial"/>
                <a:ea typeface="微软雅黑"/>
              </a:rPr>
              <a:t>token</a:t>
            </a:r>
            <a:r>
              <a:rPr lang="zh-CN" altLang="en-US" sz="1900" b="1" dirty="0">
                <a:solidFill>
                  <a:prstClr val="black"/>
                </a:solidFill>
                <a:latin typeface="Arial"/>
                <a:ea typeface="微软雅黑"/>
              </a:rPr>
              <a:t>负载不均衡造成资源闲置。</a:t>
            </a:r>
            <a:endParaRPr lang="en-US" altLang="zh-CN" sz="1900" b="1" dirty="0">
              <a:solidFill>
                <a:prstClr val="black"/>
              </a:solidFill>
              <a:latin typeface="Arial"/>
              <a:ea typeface="微软雅黑"/>
              <a:cs typeface="黑体" panose="02010609060101010101" charset="-122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82D2159A-CE98-40F6-A51F-389B9518E0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177" r="-216"/>
          <a:stretch>
            <a:fillRect/>
          </a:stretch>
        </p:blipFill>
        <p:spPr>
          <a:xfrm>
            <a:off x="7033260" y="1822892"/>
            <a:ext cx="2062332" cy="167419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DCCEFDF1-490D-45F6-89B1-4F21F7F148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251"/>
          <a:stretch>
            <a:fillRect/>
          </a:stretch>
        </p:blipFill>
        <p:spPr>
          <a:xfrm>
            <a:off x="9258300" y="1920939"/>
            <a:ext cx="2221636" cy="151175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A3815EE-550F-41D2-AFB4-9AD45F5029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221" r="-1772"/>
          <a:stretch>
            <a:fillRect/>
          </a:stretch>
        </p:blipFill>
        <p:spPr>
          <a:xfrm>
            <a:off x="4445538" y="3566745"/>
            <a:ext cx="1833742" cy="1547482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5F27DE84-F3AF-4835-A0A8-49C0AB4E2B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960"/>
          <a:stretch>
            <a:fillRect/>
          </a:stretch>
        </p:blipFill>
        <p:spPr>
          <a:xfrm>
            <a:off x="4485506" y="1799881"/>
            <a:ext cx="2171036" cy="172356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0009CDC0-64D8-4D22-8D7F-B56B90AAC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84" y="1923061"/>
            <a:ext cx="3685029" cy="2947644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A595804D-F7E2-4BE6-B242-716278D7EE43}"/>
              </a:ext>
            </a:extLst>
          </p:cNvPr>
          <p:cNvSpPr txBox="1"/>
          <p:nvPr/>
        </p:nvSpPr>
        <p:spPr>
          <a:xfrm>
            <a:off x="2062303" y="4878552"/>
            <a:ext cx="2303954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服务器无感知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/>
                <a:ea typeface="微软雅黑"/>
              </a:rPr>
              <a:t>MoE</a:t>
            </a:r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推理</a:t>
            </a:r>
            <a:endParaRPr lang="zh-CN" altLang="en-US" sz="160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24EC9F7-F201-49E3-9601-11E9FBFF00AE}"/>
              </a:ext>
            </a:extLst>
          </p:cNvPr>
          <p:cNvSpPr txBox="1"/>
          <p:nvPr/>
        </p:nvSpPr>
        <p:spPr>
          <a:xfrm>
            <a:off x="3598855" y="1872262"/>
            <a:ext cx="509934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闲置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47DD320-DC34-4D28-906D-B9AFE75A893B}"/>
              </a:ext>
            </a:extLst>
          </p:cNvPr>
          <p:cNvSpPr txBox="1"/>
          <p:nvPr/>
        </p:nvSpPr>
        <p:spPr>
          <a:xfrm>
            <a:off x="3598854" y="3828643"/>
            <a:ext cx="509935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释放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7C3F6BF1-C2EC-4B6D-9B75-4EF403869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530" y="3542949"/>
            <a:ext cx="5048926" cy="1651258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B9EF285F-F51C-4F68-B707-E14E790A083E}"/>
              </a:ext>
            </a:extLst>
          </p:cNvPr>
          <p:cNvSpPr txBox="1"/>
          <p:nvPr/>
        </p:nvSpPr>
        <p:spPr>
          <a:xfrm>
            <a:off x="690809" y="4866595"/>
            <a:ext cx="1461309" cy="33855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传统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/>
                <a:ea typeface="微软雅黑"/>
              </a:rPr>
              <a:t>MoE</a:t>
            </a:r>
            <a:r>
              <a:rPr lang="zh-CN" altLang="en-US" sz="1600" b="1" dirty="0">
                <a:solidFill>
                  <a:prstClr val="black"/>
                </a:solidFill>
                <a:latin typeface="微软雅黑"/>
                <a:ea typeface="微软雅黑"/>
              </a:rPr>
              <a:t>推理</a:t>
            </a:r>
            <a:endParaRPr lang="zh-CN" altLang="en-US" sz="160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F1961DF-DD62-422B-8D48-11C3E3D11982}"/>
              </a:ext>
            </a:extLst>
          </p:cNvPr>
          <p:cNvCxnSpPr/>
          <p:nvPr/>
        </p:nvCxnSpPr>
        <p:spPr>
          <a:xfrm>
            <a:off x="4357146" y="1818508"/>
            <a:ext cx="0" cy="3473146"/>
          </a:xfrm>
          <a:prstGeom prst="line">
            <a:avLst/>
          </a:prstGeom>
          <a:noFill/>
          <a:ln w="25400" cap="flat" cmpd="sng" algn="ctr">
            <a:solidFill>
              <a:srgbClr val="4874CB"/>
            </a:solidFill>
            <a:prstDash val="sysDash"/>
            <a:miter lim="800000"/>
          </a:ln>
          <a:effectLst/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AB657B9-E882-4EEE-956A-C2EFE01C6FA6}"/>
              </a:ext>
            </a:extLst>
          </p:cNvPr>
          <p:cNvCxnSpPr/>
          <p:nvPr/>
        </p:nvCxnSpPr>
        <p:spPr>
          <a:xfrm flipV="1">
            <a:off x="4357146" y="3497090"/>
            <a:ext cx="7092310" cy="29184"/>
          </a:xfrm>
          <a:prstGeom prst="line">
            <a:avLst/>
          </a:prstGeom>
          <a:noFill/>
          <a:ln w="25400" cap="flat" cmpd="sng" algn="ctr">
            <a:solidFill>
              <a:srgbClr val="4874CB"/>
            </a:solidFill>
            <a:prstDash val="sysDash"/>
            <a:miter lim="800000"/>
          </a:ln>
          <a:effectLst/>
        </p:spPr>
      </p:cxnSp>
      <p:sp>
        <p:nvSpPr>
          <p:cNvPr id="56" name="箭头: 下 15">
            <a:extLst>
              <a:ext uri="{FF2B5EF4-FFF2-40B4-BE49-F238E27FC236}">
                <a16:creationId xmlns:a16="http://schemas.microsoft.com/office/drawing/2014/main" id="{125C6DE8-52D2-4B52-8ED9-50DE406DF7C2}"/>
              </a:ext>
            </a:extLst>
          </p:cNvPr>
          <p:cNvSpPr/>
          <p:nvPr/>
        </p:nvSpPr>
        <p:spPr>
          <a:xfrm rot="16200000">
            <a:off x="6605015" y="1825565"/>
            <a:ext cx="359924" cy="546102"/>
          </a:xfrm>
          <a:prstGeom prst="downArrow">
            <a:avLst>
              <a:gd name="adj1" fmla="val 56705"/>
              <a:gd name="adj2" fmla="val 33514"/>
            </a:avLst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E0F57D-E633-4567-8780-81645371FFEF}"/>
              </a:ext>
            </a:extLst>
          </p:cNvPr>
          <p:cNvSpPr txBox="1"/>
          <p:nvPr/>
        </p:nvSpPr>
        <p:spPr>
          <a:xfrm>
            <a:off x="6380989" y="1976807"/>
            <a:ext cx="652271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导致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224C47F-84A8-4C9B-AE3F-6F8F0A1132C4}"/>
              </a:ext>
            </a:extLst>
          </p:cNvPr>
          <p:cNvSpPr txBox="1"/>
          <p:nvPr/>
        </p:nvSpPr>
        <p:spPr>
          <a:xfrm>
            <a:off x="6377200" y="2820538"/>
            <a:ext cx="65227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并发度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C19A16F-E2F0-48C5-815C-70A011DFEAFC}"/>
              </a:ext>
            </a:extLst>
          </p:cNvPr>
          <p:cNvCxnSpPr/>
          <p:nvPr/>
        </p:nvCxnSpPr>
        <p:spPr>
          <a:xfrm flipH="1">
            <a:off x="6155531" y="2938462"/>
            <a:ext cx="221669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28AC17E7-ECE0-45C1-A371-2FC8F25E83BD}"/>
              </a:ext>
            </a:extLst>
          </p:cNvPr>
          <p:cNvSpPr txBox="1"/>
          <p:nvPr/>
        </p:nvSpPr>
        <p:spPr>
          <a:xfrm>
            <a:off x="10630609" y="2085489"/>
            <a:ext cx="849327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配置空间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94D15D1-A88D-4391-BA18-99622310D1CE}"/>
              </a:ext>
            </a:extLst>
          </p:cNvPr>
          <p:cNvSpPr txBox="1"/>
          <p:nvPr/>
        </p:nvSpPr>
        <p:spPr>
          <a:xfrm>
            <a:off x="8094774" y="2959037"/>
            <a:ext cx="849327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层内依赖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D66EFA2-E9F8-4207-824D-3142D76BFC05}"/>
              </a:ext>
            </a:extLst>
          </p:cNvPr>
          <p:cNvSpPr txBox="1"/>
          <p:nvPr/>
        </p:nvSpPr>
        <p:spPr>
          <a:xfrm>
            <a:off x="5662598" y="4909329"/>
            <a:ext cx="849327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跨层依赖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36A9C2-A0C8-4061-B3E1-C057F25C7563}"/>
              </a:ext>
            </a:extLst>
          </p:cNvPr>
          <p:cNvSpPr txBox="1"/>
          <p:nvPr/>
        </p:nvSpPr>
        <p:spPr>
          <a:xfrm>
            <a:off x="4400432" y="3202965"/>
            <a:ext cx="65227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/>
                <a:ea typeface="微软雅黑"/>
              </a:rPr>
              <a:t>Token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133BC5A-CE05-4ABC-8F88-580187BC607C}"/>
              </a:ext>
            </a:extLst>
          </p:cNvPr>
          <p:cNvCxnSpPr>
            <a:stCxn id="63" idx="0"/>
          </p:cNvCxnSpPr>
          <p:nvPr/>
        </p:nvCxnSpPr>
        <p:spPr>
          <a:xfrm flipV="1">
            <a:off x="4726568" y="2879725"/>
            <a:ext cx="121657" cy="32324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D71D42-7261-46D2-9B53-9BD6AEA316F8}"/>
              </a:ext>
            </a:extLst>
          </p:cNvPr>
          <p:cNvSpPr txBox="1"/>
          <p:nvPr/>
        </p:nvSpPr>
        <p:spPr>
          <a:xfrm>
            <a:off x="477520" y="5295265"/>
            <a:ext cx="11358245" cy="786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900" b="1" dirty="0">
                <a:solidFill>
                  <a:prstClr val="white"/>
                </a:solidFill>
                <a:latin typeface="Arial"/>
                <a:ea typeface="微软雅黑"/>
              </a:rPr>
              <a:t>服务器无感知</a:t>
            </a:r>
            <a:r>
              <a:rPr lang="en-US" altLang="zh-CN" sz="1900" b="1" dirty="0" err="1">
                <a:solidFill>
                  <a:prstClr val="white"/>
                </a:solidFill>
                <a:latin typeface="Arial"/>
                <a:ea typeface="微软雅黑"/>
              </a:rPr>
              <a:t>MoE</a:t>
            </a:r>
            <a:r>
              <a:rPr lang="zh-CN" altLang="en-US" sz="1900" b="1" dirty="0">
                <a:solidFill>
                  <a:prstClr val="white"/>
                </a:solidFill>
                <a:latin typeface="Arial"/>
                <a:ea typeface="微软雅黑"/>
              </a:rPr>
              <a:t>推理将专家部署为轻量级函数可在闲置时自动释放资源。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专家流行度在输入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token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和请求并发度上均倾斜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,</a:t>
            </a:r>
            <a:r>
              <a:rPr lang="en-US" altLang="zh-CN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 Scatter-gather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</a:rPr>
              <a:t>操作造成层内和跨层依赖</a:t>
            </a:r>
            <a:r>
              <a:rPr lang="zh-CN" altLang="en-US" sz="1900" b="1" dirty="0">
                <a:solidFill>
                  <a:prstClr val="white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，导致专家配置空间和性能变化模式复杂。</a:t>
            </a:r>
            <a:endParaRPr lang="zh-CN" altLang="en-US" sz="1900" b="1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Yu Gothic Medium</vt:lpstr>
      <vt:lpstr>等线</vt:lpstr>
      <vt:lpstr>等线 Light</vt:lpstr>
      <vt:lpstr>黑体</vt:lpstr>
      <vt:lpstr>思源黑体 CN Regular</vt:lpstr>
      <vt:lpstr>微软雅黑</vt:lpstr>
      <vt:lpstr>Arial</vt:lpstr>
      <vt:lpstr>Helvetica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</cp:revision>
  <dcterms:created xsi:type="dcterms:W3CDTF">2026-05-19T12:30:22Z</dcterms:created>
  <dcterms:modified xsi:type="dcterms:W3CDTF">2026-05-19T15:15:32Z</dcterms:modified>
</cp:coreProperties>
</file>