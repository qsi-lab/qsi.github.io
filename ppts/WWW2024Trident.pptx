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1A0BCA5C-4D8C-4515-BBFA-15030C0E2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562" y="2455805"/>
            <a:ext cx="4630859" cy="3255481"/>
          </a:xfrm>
          <a:prstGeom prst="rect">
            <a:avLst/>
          </a:prstGeom>
        </p:spPr>
      </p:pic>
      <p:sp>
        <p:nvSpPr>
          <p:cNvPr id="45" name="bk object 19">
            <a:extLst>
              <a:ext uri="{FF2B5EF4-FFF2-40B4-BE49-F238E27FC236}">
                <a16:creationId xmlns:a16="http://schemas.microsoft.com/office/drawing/2014/main" id="{2A77D5EF-D757-4FE6-9442-8D86E5735841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bk object 18">
            <a:extLst>
              <a:ext uri="{FF2B5EF4-FFF2-40B4-BE49-F238E27FC236}">
                <a16:creationId xmlns:a16="http://schemas.microsoft.com/office/drawing/2014/main" id="{503E7D83-ADF7-430D-B380-76F03034DBE7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2104440-C344-4EC3-AB8D-5ED4C83848E9}"/>
              </a:ext>
            </a:extLst>
          </p:cNvPr>
          <p:cNvSpPr txBox="1"/>
          <p:nvPr/>
        </p:nvSpPr>
        <p:spPr>
          <a:xfrm>
            <a:off x="1402916" y="115558"/>
            <a:ext cx="6647974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未知加密流量细粒度检测与增量更新</a:t>
            </a:r>
            <a:endParaRPr lang="zh-CN" altLang="en-US" sz="2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8" name="文本框 4">
            <a:extLst>
              <a:ext uri="{FF2B5EF4-FFF2-40B4-BE49-F238E27FC236}">
                <a16:creationId xmlns:a16="http://schemas.microsoft.com/office/drawing/2014/main" id="{ED94564E-D7C9-4B8D-84A2-8E984E351D41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412BE57-0AEC-402A-A5EA-A3DB5DCC178C}"/>
              </a:ext>
            </a:extLst>
          </p:cNvPr>
          <p:cNvSpPr/>
          <p:nvPr/>
        </p:nvSpPr>
        <p:spPr>
          <a:xfrm>
            <a:off x="432834" y="5854102"/>
            <a:ext cx="11398805" cy="603848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Trident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相比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16 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种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SOTA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方法整体表现更优；在概念漂移场景下仍保持强鲁棒性，多分类异常检测约达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90% ACC/AMI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IDS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时间偏移下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Trident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达到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96.71% ACC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任意多边形: 形状 70">
            <a:extLst>
              <a:ext uri="{FF2B5EF4-FFF2-40B4-BE49-F238E27FC236}">
                <a16:creationId xmlns:a16="http://schemas.microsoft.com/office/drawing/2014/main" id="{8107DE78-5433-4F8B-858A-CAF4A978093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8462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lvl="1" defTabSz="1466850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面向未知攻击流量的</a:t>
            </a: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细粒度与类增量</a:t>
            </a: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检测框架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4" name="文本框 19">
            <a:extLst>
              <a:ext uri="{FF2B5EF4-FFF2-40B4-BE49-F238E27FC236}">
                <a16:creationId xmlns:a16="http://schemas.microsoft.com/office/drawing/2014/main" id="{07186F90-1D5C-4B0E-ADAB-4308D6D8C78D}"/>
              </a:ext>
            </a:extLst>
          </p:cNvPr>
          <p:cNvSpPr txBox="1"/>
          <p:nvPr/>
        </p:nvSpPr>
        <p:spPr>
          <a:xfrm>
            <a:off x="356633" y="6464108"/>
            <a:ext cx="11671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3765"/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Trident: A Universal Framework for Fine-Grained and Class-Incremental Unknown Traffic Detection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（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WWW 2024 Oral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） 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PC batch 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的 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Top-2 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论文</a:t>
            </a:r>
            <a:endParaRPr lang="zh-CN" altLang="en-US" sz="1400" i="1" dirty="0">
              <a:solidFill>
                <a:srgbClr val="FF0000"/>
              </a:solidFill>
              <a:latin typeface="Arial"/>
              <a:ea typeface="黑体" panose="02010609060101010101" pitchFamily="49" charset="-122"/>
            </a:endParaRPr>
          </a:p>
        </p:txBody>
      </p:sp>
      <p:sp>
        <p:nvSpPr>
          <p:cNvPr id="23" name="文本框 19">
            <a:extLst>
              <a:ext uri="{FF2B5EF4-FFF2-40B4-BE49-F238E27FC236}">
                <a16:creationId xmlns:a16="http://schemas.microsoft.com/office/drawing/2014/main" id="{F851F652-D5A5-417A-BBBB-EF142C5F73DB}"/>
              </a:ext>
            </a:extLst>
          </p:cNvPr>
          <p:cNvSpPr txBox="1"/>
          <p:nvPr/>
        </p:nvSpPr>
        <p:spPr>
          <a:xfrm>
            <a:off x="6383196" y="2485486"/>
            <a:ext cx="1970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单类异常检测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9E5BF38-D44D-4F73-ABFA-2EBB753607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4107" y="2434518"/>
            <a:ext cx="4667394" cy="164486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6557F7DC-D1D0-4DE2-8FB2-4799FF55DC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057" y="4133294"/>
            <a:ext cx="4737847" cy="1699584"/>
          </a:xfrm>
          <a:prstGeom prst="rect">
            <a:avLst/>
          </a:prstGeom>
        </p:spPr>
      </p:pic>
      <p:sp>
        <p:nvSpPr>
          <p:cNvPr id="49" name="矩形: 圆角 28">
            <a:extLst>
              <a:ext uri="{FF2B5EF4-FFF2-40B4-BE49-F238E27FC236}">
                <a16:creationId xmlns:a16="http://schemas.microsoft.com/office/drawing/2014/main" id="{D67A5DDC-E7A5-449D-B1E1-86D8CA00A6F0}"/>
              </a:ext>
            </a:extLst>
          </p:cNvPr>
          <p:cNvSpPr/>
          <p:nvPr/>
        </p:nvSpPr>
        <p:spPr>
          <a:xfrm>
            <a:off x="345874" y="1422594"/>
            <a:ext cx="11512931" cy="956829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50" name="文本框 7">
            <a:extLst>
              <a:ext uri="{FF2B5EF4-FFF2-40B4-BE49-F238E27FC236}">
                <a16:creationId xmlns:a16="http://schemas.microsoft.com/office/drawing/2014/main" id="{700408FA-D0AD-4A5F-BA7E-1DB4212A8642}"/>
              </a:ext>
            </a:extLst>
          </p:cNvPr>
          <p:cNvSpPr txBox="1"/>
          <p:nvPr/>
        </p:nvSpPr>
        <p:spPr>
          <a:xfrm>
            <a:off x="522339" y="1501187"/>
            <a:ext cx="11160000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传统异常检测型 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NIDS 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通常只能判断流量“正常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异常”，难以进一步区分不同未知攻击类别；同时面对概念漂移和新攻击类别时，现有模型难以高效增量更新。</a:t>
            </a:r>
          </a:p>
        </p:txBody>
      </p:sp>
      <p:sp>
        <p:nvSpPr>
          <p:cNvPr id="27" name="文本框 19">
            <a:extLst>
              <a:ext uri="{FF2B5EF4-FFF2-40B4-BE49-F238E27FC236}">
                <a16:creationId xmlns:a16="http://schemas.microsoft.com/office/drawing/2014/main" id="{6D018D67-E621-4E65-9DC5-54BDA0B31C64}"/>
              </a:ext>
            </a:extLst>
          </p:cNvPr>
          <p:cNvSpPr txBox="1"/>
          <p:nvPr/>
        </p:nvSpPr>
        <p:spPr>
          <a:xfrm>
            <a:off x="6383196" y="4122252"/>
            <a:ext cx="1970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极值理论采样</a:t>
            </a:r>
          </a:p>
        </p:txBody>
      </p:sp>
      <p:sp>
        <p:nvSpPr>
          <p:cNvPr id="28" name="文本框 19">
            <a:extLst>
              <a:ext uri="{FF2B5EF4-FFF2-40B4-BE49-F238E27FC236}">
                <a16:creationId xmlns:a16="http://schemas.microsoft.com/office/drawing/2014/main" id="{494B7CCF-9140-45B3-BF7C-51F35241D7AB}"/>
              </a:ext>
            </a:extLst>
          </p:cNvPr>
          <p:cNvSpPr txBox="1"/>
          <p:nvPr/>
        </p:nvSpPr>
        <p:spPr>
          <a:xfrm>
            <a:off x="356416" y="2945687"/>
            <a:ext cx="9700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Trident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将已知类识别与新类检测解耦为多个独立单类学习任务</a:t>
            </a: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153</Words>
  <Application>Microsoft Office PowerPoint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思源黑体 CN Regular</vt:lpstr>
      <vt:lpstr>微软雅黑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25</cp:revision>
  <dcterms:created xsi:type="dcterms:W3CDTF">2026-05-19T12:30:22Z</dcterms:created>
  <dcterms:modified xsi:type="dcterms:W3CDTF">2026-05-19T15:30:12Z</dcterms:modified>
</cp:coreProperties>
</file>