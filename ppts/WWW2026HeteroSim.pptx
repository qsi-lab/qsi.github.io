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: 圆角 28">
            <a:extLst>
              <a:ext uri="{FF2B5EF4-FFF2-40B4-BE49-F238E27FC236}">
                <a16:creationId xmlns:a16="http://schemas.microsoft.com/office/drawing/2014/main" id="{1BB9F602-3CFF-4226-961C-224E2AC5081C}"/>
              </a:ext>
            </a:extLst>
          </p:cNvPr>
          <p:cNvSpPr/>
          <p:nvPr/>
        </p:nvSpPr>
        <p:spPr>
          <a:xfrm>
            <a:off x="349885" y="1372870"/>
            <a:ext cx="11513185" cy="521335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73" name="bk object 19">
            <a:extLst>
              <a:ext uri="{FF2B5EF4-FFF2-40B4-BE49-F238E27FC236}">
                <a16:creationId xmlns:a16="http://schemas.microsoft.com/office/drawing/2014/main" id="{88FB8BC2-C03A-471B-844D-CBB57C1703EF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4" name="bk object 18">
            <a:extLst>
              <a:ext uri="{FF2B5EF4-FFF2-40B4-BE49-F238E27FC236}">
                <a16:creationId xmlns:a16="http://schemas.microsoft.com/office/drawing/2014/main" id="{D355B2D2-2EA1-4E52-A630-9733759AC3F0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AF6A46E-3D6C-41A5-92A4-27C017938839}"/>
              </a:ext>
            </a:extLst>
          </p:cNvPr>
          <p:cNvSpPr txBox="1"/>
          <p:nvPr/>
        </p:nvSpPr>
        <p:spPr>
          <a:xfrm>
            <a:off x="1402916" y="115558"/>
            <a:ext cx="4201791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LLM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训练空间探索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D484B28-A5AF-4E1B-9F4B-067A8D69B63D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77" name="任意多边形: 形状 70">
            <a:extLst>
              <a:ext uri="{FF2B5EF4-FFF2-40B4-BE49-F238E27FC236}">
                <a16:creationId xmlns:a16="http://schemas.microsoft.com/office/drawing/2014/main" id="{0993564D-193F-4A31-9109-9257149E40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94246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marR="0" lvl="1" indent="0" defTabSz="1466850" eaLnBrk="1" fontAlgn="auto" latinLnBrk="0" hangingPunct="1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异构集群下的高保真、低延迟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LLM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训练模拟</a:t>
            </a:r>
          </a:p>
          <a:p>
            <a:pPr marL="0" marR="0" lvl="1" indent="0" defTabSz="1466850" eaLnBrk="1" fontAlgn="auto" latinLnBrk="0" hangingPunct="1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8" name="文本框 19">
            <a:extLst>
              <a:ext uri="{FF2B5EF4-FFF2-40B4-BE49-F238E27FC236}">
                <a16:creationId xmlns:a16="http://schemas.microsoft.com/office/drawing/2014/main" id="{2F918AB0-1BB2-4E4C-B634-41952041C595}"/>
              </a:ext>
            </a:extLst>
          </p:cNvPr>
          <p:cNvSpPr txBox="1"/>
          <p:nvPr/>
        </p:nvSpPr>
        <p:spPr>
          <a:xfrm>
            <a:off x="323214" y="6290258"/>
            <a:ext cx="11666953" cy="336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buClr>
                <a:srgbClr val="006C39"/>
              </a:buClr>
            </a:pPr>
            <a:r>
              <a:rPr lang="en-US" altLang="zh-CN" sz="1400" i="1" dirty="0" err="1">
                <a:solidFill>
                  <a:prstClr val="black"/>
                </a:solidFill>
                <a:latin typeface="Helvetica" pitchFamily="2" charset="0"/>
                <a:ea typeface="微软雅黑"/>
                <a:cs typeface="Times New Roman" panose="02020603050405020304" pitchFamily="18" charset="0"/>
                <a:sym typeface="+mn-ea"/>
              </a:rPr>
              <a:t>HeteroSim</a:t>
            </a:r>
            <a:r>
              <a:rPr lang="en-US" altLang="zh-CN" sz="1400" i="1" dirty="0">
                <a:solidFill>
                  <a:prstClr val="black"/>
                </a:solidFill>
                <a:latin typeface="Helvetica" pitchFamily="2" charset="0"/>
                <a:ea typeface="微软雅黑"/>
                <a:cs typeface="Times New Roman" panose="02020603050405020304" pitchFamily="18" charset="0"/>
                <a:sym typeface="+mn-ea"/>
              </a:rPr>
              <a:t>: Towards High-Fidelity Heterogeneous LLM Training Simulation on GPUs</a:t>
            </a:r>
            <a:r>
              <a:rPr lang="en-US" altLang="zh-CN" sz="1400" i="1" dirty="0">
                <a:solidFill>
                  <a:prstClr val="black"/>
                </a:solidFill>
                <a:latin typeface="Helvetica" pitchFamily="2" charset="0"/>
                <a:ea typeface="微软雅黑"/>
                <a:sym typeface="+mn-ea"/>
              </a:rPr>
              <a:t>,</a:t>
            </a:r>
            <a:r>
              <a:rPr lang="en-US" altLang="zh-CN" sz="1400" i="1" dirty="0">
                <a:solidFill>
                  <a:srgbClr val="B30402"/>
                </a:solidFill>
                <a:latin typeface="Helvetica" pitchFamily="2" charset="0"/>
                <a:ea typeface="微软雅黑"/>
                <a:sym typeface="+mn-ea"/>
              </a:rPr>
              <a:t> </a:t>
            </a:r>
            <a:r>
              <a:rPr lang="en-US" altLang="zh-CN" sz="1400" i="1" dirty="0">
                <a:solidFill>
                  <a:srgbClr val="FF0000"/>
                </a:solidFill>
                <a:latin typeface="Helvetica" pitchFamily="2" charset="0"/>
                <a:ea typeface="微软雅黑"/>
                <a:sym typeface="+mn-ea"/>
              </a:rPr>
              <a:t>ACM WWW 2026.</a:t>
            </a:r>
            <a:r>
              <a:rPr lang="zh-CN" altLang="en-US" sz="1400" dirty="0">
                <a:solidFill>
                  <a:srgbClr val="FF0000"/>
                </a:solidFill>
                <a:latin typeface="Helvetica" pitchFamily="2" charset="0"/>
                <a:ea typeface="微软雅黑"/>
                <a:sym typeface="+mn-ea"/>
              </a:rPr>
              <a:t>（</a:t>
            </a:r>
            <a:r>
              <a:rPr lang="en-US" altLang="zh-CN" sz="1400" dirty="0">
                <a:solidFill>
                  <a:srgbClr val="FF0000"/>
                </a:solidFill>
                <a:latin typeface="Helvetica" pitchFamily="2" charset="0"/>
                <a:ea typeface="微软雅黑"/>
                <a:sym typeface="+mn-ea"/>
              </a:rPr>
              <a:t>CCF A</a:t>
            </a:r>
            <a:r>
              <a:rPr lang="zh-CN" altLang="en-US" sz="1400" dirty="0">
                <a:solidFill>
                  <a:srgbClr val="FF0000"/>
                </a:solidFill>
                <a:latin typeface="Helvetica" pitchFamily="2" charset="0"/>
                <a:ea typeface="微软雅黑"/>
                <a:sym typeface="+mn-ea"/>
              </a:rPr>
              <a:t> 会议）</a:t>
            </a:r>
            <a:endParaRPr lang="zh-CN" altLang="en-US" sz="1400" i="1" dirty="0">
              <a:solidFill>
                <a:srgbClr val="FF0000"/>
              </a:solidFill>
              <a:latin typeface="Helvetica" pitchFamily="2" charset="0"/>
              <a:ea typeface="黑体" panose="02010609060101010101" charset="-122"/>
              <a:sym typeface="+mn-ea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BC388C0-CB79-4AAD-8415-A4CCE5E1D784}"/>
              </a:ext>
            </a:extLst>
          </p:cNvPr>
          <p:cNvSpPr/>
          <p:nvPr/>
        </p:nvSpPr>
        <p:spPr>
          <a:xfrm>
            <a:off x="323215" y="5318760"/>
            <a:ext cx="11539855" cy="823595"/>
          </a:xfrm>
          <a:prstGeom prst="rect">
            <a:avLst/>
          </a:prstGeom>
          <a:solidFill>
            <a:srgbClr val="002A7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A755981B-7F98-4F17-B168-1422ECAC2B1F}"/>
              </a:ext>
            </a:extLst>
          </p:cNvPr>
          <p:cNvSpPr txBox="1"/>
          <p:nvPr/>
        </p:nvSpPr>
        <p:spPr>
          <a:xfrm>
            <a:off x="472587" y="1343863"/>
            <a:ext cx="11161696" cy="424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25000"/>
              </a:lnSpc>
              <a:buClr>
                <a:srgbClr val="44546A"/>
              </a:buClr>
            </a:pPr>
            <a:r>
              <a:rPr lang="zh-CN" altLang="en-US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传统</a:t>
            </a:r>
            <a:r>
              <a:rPr lang="en-US" altLang="zh-CN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LLM</a:t>
            </a:r>
            <a:r>
              <a:rPr lang="zh-CN" altLang="en-US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训练模拟框架不支持对复杂的异构集群环境 </a:t>
            </a:r>
            <a:r>
              <a:rPr lang="en-US" altLang="zh-CN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(</a:t>
            </a:r>
            <a:r>
              <a:rPr lang="zh-CN" altLang="en-US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混合</a:t>
            </a:r>
            <a:r>
              <a:rPr lang="en-US" altLang="zh-CN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GPU/</a:t>
            </a:r>
            <a:r>
              <a:rPr lang="zh-CN" altLang="en-US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加速器，机内</a:t>
            </a:r>
            <a:r>
              <a:rPr lang="en-US" altLang="zh-CN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/</a:t>
            </a:r>
            <a:r>
              <a:rPr lang="zh-CN" altLang="en-US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机间互联协议代际</a:t>
            </a:r>
            <a:r>
              <a:rPr lang="en-US" altLang="zh-CN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)</a:t>
            </a:r>
            <a:r>
              <a:rPr lang="zh-CN" altLang="en-US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。</a:t>
            </a:r>
            <a:endParaRPr lang="en-US" altLang="zh-CN" sz="1900" b="1" dirty="0">
              <a:solidFill>
                <a:prstClr val="black"/>
              </a:solidFill>
              <a:latin typeface="Helvetica" pitchFamily="2" charset="0"/>
              <a:ea typeface="微软雅黑"/>
              <a:cs typeface="黑体" panose="02010609060101010101" charset="-122"/>
            </a:endParaRPr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C0BC4638-454D-42A0-BFBB-BC716D86F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024" y="1931142"/>
            <a:ext cx="2026796" cy="1459758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B597B4E9-FEEF-4CBB-91D1-60CEA8D47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6545" y="1936267"/>
            <a:ext cx="3690835" cy="2945167"/>
          </a:xfrm>
          <a:prstGeom prst="rect">
            <a:avLst/>
          </a:prstGeom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C00816EC-1CF9-4F86-82CD-FBDF2937F4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446" y="1897922"/>
            <a:ext cx="5227654" cy="1889218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65D60D87-5DDF-45E3-AEB0-C473993285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474" y="3866554"/>
            <a:ext cx="5060991" cy="1320920"/>
          </a:xfrm>
          <a:prstGeom prst="rect">
            <a:avLst/>
          </a:prstGeom>
        </p:spPr>
      </p:pic>
      <p:sp>
        <p:nvSpPr>
          <p:cNvPr id="85" name="文本框 84">
            <a:extLst>
              <a:ext uri="{FF2B5EF4-FFF2-40B4-BE49-F238E27FC236}">
                <a16:creationId xmlns:a16="http://schemas.microsoft.com/office/drawing/2014/main" id="{1BE3EC1A-4C4B-40B3-A057-C10F49475FED}"/>
              </a:ext>
            </a:extLst>
          </p:cNvPr>
          <p:cNvSpPr txBox="1"/>
          <p:nvPr/>
        </p:nvSpPr>
        <p:spPr>
          <a:xfrm>
            <a:off x="554279" y="3429000"/>
            <a:ext cx="1098309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异构集群环境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DA4BD55E-4EAE-4E47-887A-A68F52068C30}"/>
              </a:ext>
            </a:extLst>
          </p:cNvPr>
          <p:cNvSpPr txBox="1"/>
          <p:nvPr/>
        </p:nvSpPr>
        <p:spPr>
          <a:xfrm>
            <a:off x="554015" y="3992831"/>
            <a:ext cx="279104" cy="108952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200" b="1" dirty="0">
                <a:solidFill>
                  <a:srgbClr val="FF0000"/>
                </a:solidFill>
                <a:latin typeface="微软雅黑"/>
                <a:ea typeface="微软雅黑"/>
              </a:rPr>
              <a:t>5</a:t>
            </a:r>
            <a:r>
              <a:rPr lang="zh-CN" altLang="en-US" sz="1200" b="1" dirty="0">
                <a:solidFill>
                  <a:srgbClr val="FF0000"/>
                </a:solidFill>
                <a:latin typeface="微软雅黑"/>
                <a:ea typeface="微软雅黑"/>
              </a:rPr>
              <a:t>种异构级别</a:t>
            </a:r>
            <a:endParaRPr lang="zh-CN" altLang="en-US" sz="1200" dirty="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10C0E367-233B-42A8-8CAB-1BA3B2F514C6}"/>
              </a:ext>
            </a:extLst>
          </p:cNvPr>
          <p:cNvSpPr txBox="1"/>
          <p:nvPr/>
        </p:nvSpPr>
        <p:spPr>
          <a:xfrm>
            <a:off x="3371971" y="3677628"/>
            <a:ext cx="1726202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不同</a:t>
            </a:r>
            <a:r>
              <a:rPr lang="en-US" altLang="zh-CN" sz="1200" b="1">
                <a:solidFill>
                  <a:srgbClr val="FF0000"/>
                </a:solidFill>
                <a:latin typeface="微软雅黑"/>
                <a:ea typeface="微软雅黑"/>
              </a:rPr>
              <a:t>PCIe/Nvlink</a:t>
            </a:r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代际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65D775D5-E967-4287-8037-EAF21739A831}"/>
              </a:ext>
            </a:extLst>
          </p:cNvPr>
          <p:cNvCxnSpPr>
            <a:stCxn id="87" idx="2"/>
          </p:cNvCxnSpPr>
          <p:nvPr/>
        </p:nvCxnSpPr>
        <p:spPr>
          <a:xfrm flipH="1">
            <a:off x="3756555" y="3954627"/>
            <a:ext cx="478517" cy="642986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417E4080-9BE6-44CE-8B34-36AA181AAE3B}"/>
              </a:ext>
            </a:extLst>
          </p:cNvPr>
          <p:cNvSpPr txBox="1"/>
          <p:nvPr/>
        </p:nvSpPr>
        <p:spPr>
          <a:xfrm>
            <a:off x="6268434" y="4881434"/>
            <a:ext cx="3066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>
                <a:solidFill>
                  <a:prstClr val="black"/>
                </a:solidFill>
                <a:latin typeface="Arial"/>
                <a:ea typeface="微软雅黑"/>
              </a:rPr>
              <a:t>异构</a:t>
            </a:r>
            <a:r>
              <a:rPr lang="en-US" altLang="zh-CN" sz="1600" b="1">
                <a:solidFill>
                  <a:prstClr val="black"/>
                </a:solidFill>
                <a:latin typeface="Arial"/>
                <a:ea typeface="微软雅黑"/>
              </a:rPr>
              <a:t>LLM</a:t>
            </a:r>
            <a:r>
              <a:rPr lang="zh-CN" altLang="en-US" sz="1600" b="1">
                <a:solidFill>
                  <a:prstClr val="black"/>
                </a:solidFill>
                <a:latin typeface="Arial"/>
                <a:ea typeface="微软雅黑"/>
              </a:rPr>
              <a:t>训练模拟器的基本结构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34757932-8DE5-4E90-9C79-DEDB052DB735}"/>
              </a:ext>
            </a:extLst>
          </p:cNvPr>
          <p:cNvSpPr txBox="1"/>
          <p:nvPr/>
        </p:nvSpPr>
        <p:spPr>
          <a:xfrm>
            <a:off x="7892841" y="3249711"/>
            <a:ext cx="814838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通信规划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B169A79C-886F-4EED-8E85-49C0CBF84837}"/>
              </a:ext>
            </a:extLst>
          </p:cNvPr>
          <p:cNvSpPr txBox="1"/>
          <p:nvPr/>
        </p:nvSpPr>
        <p:spPr>
          <a:xfrm>
            <a:off x="6862261" y="3249711"/>
            <a:ext cx="809701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>
                <a:solidFill>
                  <a:srgbClr val="FF0000"/>
                </a:solidFill>
                <a:latin typeface="微软雅黑"/>
                <a:ea typeface="微软雅黑"/>
              </a:rPr>
              <a:t>计算规划</a:t>
            </a:r>
            <a:endParaRPr lang="zh-CN" altLang="en-US" sz="120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CE40D268-8FB4-48FF-848E-3F9C24CC6067}"/>
              </a:ext>
            </a:extLst>
          </p:cNvPr>
          <p:cNvCxnSpPr>
            <a:stCxn id="90" idx="0"/>
          </p:cNvCxnSpPr>
          <p:nvPr/>
        </p:nvCxnSpPr>
        <p:spPr>
          <a:xfrm flipV="1">
            <a:off x="8300260" y="3118401"/>
            <a:ext cx="2568" cy="13131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91846C2A-BBCE-4391-A39C-EEDE436156C1}"/>
              </a:ext>
            </a:extLst>
          </p:cNvPr>
          <p:cNvCxnSpPr>
            <a:stCxn id="91" idx="2"/>
          </p:cNvCxnSpPr>
          <p:nvPr/>
        </p:nvCxnSpPr>
        <p:spPr>
          <a:xfrm>
            <a:off x="7267112" y="3526710"/>
            <a:ext cx="0" cy="135601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pic>
        <p:nvPicPr>
          <p:cNvPr id="94" name="图片 93">
            <a:extLst>
              <a:ext uri="{FF2B5EF4-FFF2-40B4-BE49-F238E27FC236}">
                <a16:creationId xmlns:a16="http://schemas.microsoft.com/office/drawing/2014/main" id="{B0171275-2E64-4995-B429-30DE9121DB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025" y="3679110"/>
            <a:ext cx="2026796" cy="1460910"/>
          </a:xfrm>
          <a:prstGeom prst="rect">
            <a:avLst/>
          </a:prstGeom>
        </p:spPr>
      </p:pic>
      <p:sp>
        <p:nvSpPr>
          <p:cNvPr id="95" name="文本框 94">
            <a:extLst>
              <a:ext uri="{FF2B5EF4-FFF2-40B4-BE49-F238E27FC236}">
                <a16:creationId xmlns:a16="http://schemas.microsoft.com/office/drawing/2014/main" id="{75E1B73D-C1C6-45A2-BF51-6A954CE818D8}"/>
              </a:ext>
            </a:extLst>
          </p:cNvPr>
          <p:cNvSpPr txBox="1"/>
          <p:nvPr/>
        </p:nvSpPr>
        <p:spPr>
          <a:xfrm>
            <a:off x="10245752" y="3411855"/>
            <a:ext cx="949105" cy="2769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/>
                <a:ea typeface="微软雅黑"/>
              </a:rPr>
              <a:t>我们的方案</a:t>
            </a:r>
            <a:endParaRPr lang="zh-CN" altLang="en-US" sz="1200" dirty="0">
              <a:solidFill>
                <a:srgbClr val="FF0000"/>
              </a:solidFill>
              <a:latin typeface="Arial"/>
              <a:ea typeface="微软雅黑"/>
            </a:endParaRP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F20B7727-0953-4D2E-B431-586DE2BDF67A}"/>
              </a:ext>
            </a:extLst>
          </p:cNvPr>
          <p:cNvCxnSpPr>
            <a:stCxn id="95" idx="3"/>
          </p:cNvCxnSpPr>
          <p:nvPr/>
        </p:nvCxnSpPr>
        <p:spPr>
          <a:xfrm flipV="1">
            <a:off x="11194857" y="3290612"/>
            <a:ext cx="166563" cy="259743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15DA27EE-8706-4889-8FFD-24F52BDFD2FF}"/>
              </a:ext>
            </a:extLst>
          </p:cNvPr>
          <p:cNvCxnSpPr>
            <a:stCxn id="95" idx="3"/>
          </p:cNvCxnSpPr>
          <p:nvPr/>
        </p:nvCxnSpPr>
        <p:spPr>
          <a:xfrm>
            <a:off x="11194857" y="3550355"/>
            <a:ext cx="1" cy="1037733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tailEnd type="triangle" w="med" len="lg"/>
          </a:ln>
          <a:effectLst/>
        </p:spPr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E4592603-65A6-4A1B-9122-C09A646E3DAA}"/>
              </a:ext>
            </a:extLst>
          </p:cNvPr>
          <p:cNvSpPr txBox="1"/>
          <p:nvPr/>
        </p:nvSpPr>
        <p:spPr>
          <a:xfrm>
            <a:off x="477344" y="5291654"/>
            <a:ext cx="11257456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900" b="1" dirty="0">
                <a:solidFill>
                  <a:srgbClr val="E7E6E6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基于可拔插中间表示 </a:t>
            </a:r>
            <a:r>
              <a:rPr lang="en-US" altLang="zh-CN" sz="1900" b="1" dirty="0">
                <a:solidFill>
                  <a:srgbClr val="E7E6E6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(IR) </a:t>
            </a:r>
            <a:r>
              <a:rPr lang="zh-CN" altLang="en-US" sz="1900" b="1" dirty="0">
                <a:solidFill>
                  <a:srgbClr val="E7E6E6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的负载编译器显式刻画并行策略及通信计算</a:t>
            </a:r>
            <a:r>
              <a:rPr lang="en-US" altLang="zh-CN" sz="1900" b="1" dirty="0">
                <a:solidFill>
                  <a:srgbClr val="E7E6E6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Overlap</a:t>
            </a:r>
            <a:r>
              <a:rPr lang="zh-CN" altLang="en-US" sz="1900" b="1" dirty="0">
                <a:solidFill>
                  <a:srgbClr val="E7E6E6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，通过异构感知的计算规划器和</a:t>
            </a:r>
            <a:r>
              <a:rPr lang="en-US" altLang="zh-CN" sz="1900" b="1" dirty="0">
                <a:solidFill>
                  <a:srgbClr val="E7E6E6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NCCL</a:t>
            </a:r>
            <a:r>
              <a:rPr lang="zh-CN" altLang="en-US" sz="1900" b="1" dirty="0">
                <a:solidFill>
                  <a:srgbClr val="E7E6E6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库辅助的集合通信规划器</a:t>
            </a:r>
            <a:r>
              <a:rPr lang="zh-CN" altLang="en-US" sz="1900" b="1" dirty="0">
                <a:solidFill>
                  <a:prstClr val="white"/>
                </a:solidFill>
                <a:latin typeface="微软雅黑"/>
                <a:ea typeface="微软雅黑"/>
              </a:rPr>
              <a:t>跨多种异构等级和</a:t>
            </a:r>
            <a:r>
              <a:rPr lang="en-US" altLang="zh-CN" sz="1900" b="1" dirty="0">
                <a:solidFill>
                  <a:prstClr val="white"/>
                </a:solidFill>
                <a:latin typeface="微软雅黑"/>
                <a:ea typeface="微软雅黑"/>
              </a:rPr>
              <a:t>LLM</a:t>
            </a:r>
            <a:r>
              <a:rPr lang="zh-CN" altLang="en-US" sz="1900" b="1" dirty="0">
                <a:solidFill>
                  <a:prstClr val="white"/>
                </a:solidFill>
                <a:latin typeface="微软雅黑"/>
                <a:ea typeface="微软雅黑"/>
              </a:rPr>
              <a:t>负载，实现高精度与低延迟训练时间模拟。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152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等线</vt:lpstr>
      <vt:lpstr>等线 Light</vt:lpstr>
      <vt:lpstr>黑体</vt:lpstr>
      <vt:lpstr>思源黑体 CN Regular</vt:lpstr>
      <vt:lpstr>微软雅黑</vt:lpstr>
      <vt:lpstr>Arial</vt:lpstr>
      <vt:lpstr>Helvetica</vt:lpstr>
      <vt:lpstr>Roboto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6</cp:revision>
  <dcterms:created xsi:type="dcterms:W3CDTF">2026-05-19T12:30:22Z</dcterms:created>
  <dcterms:modified xsi:type="dcterms:W3CDTF">2026-05-19T15:16:11Z</dcterms:modified>
</cp:coreProperties>
</file>