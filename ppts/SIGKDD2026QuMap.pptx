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2026/8/8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bk object 19">
            <a:extLst>
              <a:ext uri="{FF2B5EF4-FFF2-40B4-BE49-F238E27FC236}">
                <a16:creationId xmlns:a16="http://schemas.microsoft.com/office/drawing/2014/main" id="{88FB8BC2-C03A-471B-844D-CBB57C1703EF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4" name="bk object 18">
            <a:extLst>
              <a:ext uri="{FF2B5EF4-FFF2-40B4-BE49-F238E27FC236}">
                <a16:creationId xmlns:a16="http://schemas.microsoft.com/office/drawing/2014/main" id="{D355B2D2-2EA1-4E52-A630-9733759AC3F0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8AF6A46E-3D6C-41A5-92A4-27C017938839}"/>
              </a:ext>
            </a:extLst>
          </p:cNvPr>
          <p:cNvSpPr txBox="1"/>
          <p:nvPr/>
        </p:nvSpPr>
        <p:spPr>
          <a:xfrm>
            <a:off x="1402916" y="115558"/>
            <a:ext cx="7707559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代表成果：量子电路后端编译数据集与</a:t>
            </a:r>
            <a:r>
              <a:rPr lang="en-US" altLang="zh-CN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ML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任务基准测试</a:t>
            </a: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1D484B28-A5AF-4E1B-9F4B-067A8D69B63D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pic>
        <p:nvPicPr>
          <p:cNvPr id="13" name="图片 12" descr="图示&#10;&#10;AI 生成的内容可能不正确。">
            <a:extLst>
              <a:ext uri="{FF2B5EF4-FFF2-40B4-BE49-F238E27FC236}">
                <a16:creationId xmlns:a16="http://schemas.microsoft.com/office/drawing/2014/main" id="{6B339C42-4732-496C-A01B-FC7E81DF3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595" y="2542032"/>
            <a:ext cx="6096000" cy="2164493"/>
          </a:xfrm>
          <a:prstGeom prst="rect">
            <a:avLst/>
          </a:prstGeom>
        </p:spPr>
      </p:pic>
      <p:sp>
        <p:nvSpPr>
          <p:cNvPr id="14" name="矩形: 圆角 28">
            <a:extLst>
              <a:ext uri="{FF2B5EF4-FFF2-40B4-BE49-F238E27FC236}">
                <a16:creationId xmlns:a16="http://schemas.microsoft.com/office/drawing/2014/main" id="{25F09BEF-3A6A-4331-8A8C-9FC47E0FB6AC}"/>
              </a:ext>
            </a:extLst>
          </p:cNvPr>
          <p:cNvSpPr/>
          <p:nvPr/>
        </p:nvSpPr>
        <p:spPr>
          <a:xfrm>
            <a:off x="307970" y="1392183"/>
            <a:ext cx="11636082" cy="1123740"/>
          </a:xfrm>
          <a:prstGeom prst="roundRect">
            <a:avLst>
              <a:gd name="adj" fmla="val 3558"/>
            </a:avLst>
          </a:prstGeom>
          <a:solidFill>
            <a:schemeClr val="bg1"/>
          </a:solidFill>
          <a:ln w="6350">
            <a:solidFill>
              <a:srgbClr val="003399">
                <a:alpha val="28000"/>
              </a:srgbClr>
            </a:solidFill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lvl="1" indent="-342900">
              <a:lnSpc>
                <a:spcPct val="120000"/>
              </a:lnSpc>
              <a:spcBef>
                <a:spcPct val="0"/>
              </a:spcBef>
              <a:buSzPct val="95000"/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量子映射基准：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首创多后端映射数据，构建 </a:t>
            </a:r>
            <a:r>
              <a:rPr lang="en-US" altLang="zh-CN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 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万电路跨设备标准集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ct val="0"/>
              </a:spcBef>
              <a:buSzPct val="95000"/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映射性能预测：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提出多指标联合预测，将量子比特布局评估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从编译级降至学习级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1" indent="-342900">
              <a:lnSpc>
                <a:spcPct val="120000"/>
              </a:lnSpc>
              <a:spcBef>
                <a:spcPct val="0"/>
              </a:spcBef>
              <a:buSzPct val="95000"/>
              <a:buFont typeface="Wingdings" pitchFamily="2" charset="2"/>
              <a:buChar char="n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布局质量排序：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构建映射排序任务，相比于</a:t>
            </a:r>
            <a:r>
              <a:rPr lang="en-US" altLang="zh-CN" sz="2000" b="1" dirty="0" err="1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Qiskit</a:t>
            </a:r>
            <a:r>
              <a:rPr lang="zh-CN" altLang="en-US" sz="2000" b="1" dirty="0">
                <a:solidFill>
                  <a:srgbClr val="04418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基线，将量子比特布局</a:t>
            </a:r>
            <a:r>
              <a:rPr lang="zh-CN" altLang="en-US" sz="2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选择效率提升数倍</a:t>
            </a:r>
            <a:endParaRPr lang="en-US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0">
            <a:extLst>
              <a:ext uri="{FF2B5EF4-FFF2-40B4-BE49-F238E27FC236}">
                <a16:creationId xmlns:a16="http://schemas.microsoft.com/office/drawing/2014/main" id="{F34982AB-1B1D-4A3E-B14F-1613507D65B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1507" y="4870666"/>
            <a:ext cx="6141563" cy="1922576"/>
          </a:xfrm>
          <a:prstGeom prst="rect">
            <a:avLst/>
          </a:prstGeom>
        </p:spPr>
      </p:pic>
      <p:pic>
        <p:nvPicPr>
          <p:cNvPr id="16" name="图片 24">
            <a:extLst>
              <a:ext uri="{FF2B5EF4-FFF2-40B4-BE49-F238E27FC236}">
                <a16:creationId xmlns:a16="http://schemas.microsoft.com/office/drawing/2014/main" id="{1A9379E6-172A-4367-B64F-D928913DE104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55086" y="2528026"/>
            <a:ext cx="4643646" cy="2358386"/>
          </a:xfrm>
          <a:prstGeom prst="rect">
            <a:avLst/>
          </a:prstGeom>
        </p:spPr>
      </p:pic>
      <p:pic>
        <p:nvPicPr>
          <p:cNvPr id="20" name="图片 31">
            <a:extLst>
              <a:ext uri="{FF2B5EF4-FFF2-40B4-BE49-F238E27FC236}">
                <a16:creationId xmlns:a16="http://schemas.microsoft.com/office/drawing/2014/main" id="{D4C69E6B-25AF-428A-B0A6-46C4BE5E741F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63057" y="4645036"/>
            <a:ext cx="3185960" cy="2149875"/>
          </a:xfrm>
          <a:prstGeom prst="rect">
            <a:avLst/>
          </a:prstGeom>
        </p:spPr>
      </p:pic>
      <p:sp>
        <p:nvSpPr>
          <p:cNvPr id="21" name="文本框 33">
            <a:extLst>
              <a:ext uri="{FF2B5EF4-FFF2-40B4-BE49-F238E27FC236}">
                <a16:creationId xmlns:a16="http://schemas.microsoft.com/office/drawing/2014/main" id="{59FE1C80-2989-43E7-ACA9-9422F102E51D}"/>
              </a:ext>
            </a:extLst>
          </p:cNvPr>
          <p:cNvSpPr txBox="1"/>
          <p:nvPr/>
        </p:nvSpPr>
        <p:spPr>
          <a:xfrm>
            <a:off x="251863" y="4980935"/>
            <a:ext cx="2302106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i="1" dirty="0" err="1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QuaMap</a:t>
            </a:r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: A Multi-Backend Benchmark Dataset for Quantum Circuit Mapping and Learning-Based Compiler Evaluation. </a:t>
            </a:r>
          </a:p>
          <a:p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KDD 2026</a:t>
            </a:r>
            <a:r>
              <a:rPr lang="zh-CN" altLang="en-US" sz="1400" b="1" i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CCF-A</a:t>
            </a:r>
            <a:r>
              <a:rPr lang="zh-CN" altLang="en-US" sz="1400" b="1" i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会议，</a:t>
            </a:r>
            <a:r>
              <a:rPr lang="en-US" altLang="zh-CN" sz="1400" b="1" i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Best Paper </a:t>
            </a:r>
            <a:r>
              <a:rPr lang="zh-CN" altLang="en-US" sz="1400" b="1" i="1" dirty="0">
                <a:solidFill>
                  <a:srgbClr val="FF0000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提名）</a:t>
            </a:r>
          </a:p>
        </p:txBody>
      </p:sp>
      <p:sp>
        <p:nvSpPr>
          <p:cNvPr id="25" name="任意多边形: 形状 70">
            <a:extLst>
              <a:ext uri="{FF2B5EF4-FFF2-40B4-BE49-F238E27FC236}">
                <a16:creationId xmlns:a16="http://schemas.microsoft.com/office/drawing/2014/main" id="{6A689FD7-F450-4F14-A420-F2AB144BF78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444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lang="en-US" altLang="zh-CN" sz="2400" b="1" dirty="0" err="1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QuaMap</a:t>
            </a: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r>
              <a:rPr lang="zh-CN" altLang="en-US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量子电路后端编译数据集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bldLvl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109</Words>
  <Application>Microsoft Office PowerPoint</Application>
  <PresentationFormat>宽屏</PresentationFormat>
  <Paragraphs>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黑体</vt:lpstr>
      <vt:lpstr>微软雅黑</vt:lpstr>
      <vt:lpstr>Arial</vt:lpstr>
      <vt:lpstr>Wingdings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28</cp:revision>
  <dcterms:created xsi:type="dcterms:W3CDTF">2026-05-19T12:30:22Z</dcterms:created>
  <dcterms:modified xsi:type="dcterms:W3CDTF">2026-08-07T18:02:14Z</dcterms:modified>
</cp:coreProperties>
</file>