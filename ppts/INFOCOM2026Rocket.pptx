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: 圆角 28">
            <a:extLst>
              <a:ext uri="{FF2B5EF4-FFF2-40B4-BE49-F238E27FC236}">
                <a16:creationId xmlns:a16="http://schemas.microsoft.com/office/drawing/2014/main" id="{BCABE645-50AF-4E33-B635-B19CBCC0D2E4}"/>
              </a:ext>
            </a:extLst>
          </p:cNvPr>
          <p:cNvSpPr/>
          <p:nvPr/>
        </p:nvSpPr>
        <p:spPr>
          <a:xfrm>
            <a:off x="349885" y="1372870"/>
            <a:ext cx="11513185" cy="521335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153" name="bk object 19">
            <a:extLst>
              <a:ext uri="{FF2B5EF4-FFF2-40B4-BE49-F238E27FC236}">
                <a16:creationId xmlns:a16="http://schemas.microsoft.com/office/drawing/2014/main" id="{559A24D5-0FF8-408C-B7D3-C0F069F852D0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4" name="bk object 18">
            <a:extLst>
              <a:ext uri="{FF2B5EF4-FFF2-40B4-BE49-F238E27FC236}">
                <a16:creationId xmlns:a16="http://schemas.microsoft.com/office/drawing/2014/main" id="{4D33FF09-1387-46A7-80ED-3DA88211D26C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C9DFA8DA-F09C-4201-B87C-0AF190B5EC78}"/>
              </a:ext>
            </a:extLst>
          </p:cNvPr>
          <p:cNvSpPr txBox="1"/>
          <p:nvPr/>
        </p:nvSpPr>
        <p:spPr>
          <a:xfrm>
            <a:off x="1402916" y="115558"/>
            <a:ext cx="451918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Yu Gothic Medium" panose="020B0500000000000000" charset="-128"/>
              </a:rPr>
              <a:t>服务器无感知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Yu Gothic Medium" panose="020B0500000000000000" charset="-128"/>
              </a:rPr>
              <a:t>AI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Yu Gothic Medium" panose="020B0500000000000000" charset="-128"/>
              </a:rPr>
              <a:t>推理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4CD4FF71-5DD8-4F32-9E96-1E73EC716067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157" name="文本框 7">
            <a:extLst>
              <a:ext uri="{FF2B5EF4-FFF2-40B4-BE49-F238E27FC236}">
                <a16:creationId xmlns:a16="http://schemas.microsoft.com/office/drawing/2014/main" id="{75F033B0-A3A6-4F7B-A39E-CB7827A7D6B1}"/>
              </a:ext>
            </a:extLst>
          </p:cNvPr>
          <p:cNvSpPr txBox="1"/>
          <p:nvPr/>
        </p:nvSpPr>
        <p:spPr>
          <a:xfrm>
            <a:off x="384810" y="1398905"/>
            <a:ext cx="11506200" cy="48768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 algn="just">
              <a:lnSpc>
                <a:spcPct val="125000"/>
              </a:lnSpc>
              <a:buClr>
                <a:srgbClr val="44546A"/>
              </a:buClr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服务器无感知推理面临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ML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工件加载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(ML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库导入和模型加载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主导的高额冷启动延迟和内存占用开销。</a:t>
            </a:r>
          </a:p>
          <a:p>
            <a:pPr marL="0" lvl="1" algn="just">
              <a:lnSpc>
                <a:spcPct val="125000"/>
              </a:lnSpc>
              <a:buClr>
                <a:srgbClr val="44546A"/>
              </a:buClr>
            </a:pPr>
            <a:endParaRPr lang="zh-CN" altLang="en-US" sz="20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任意多边形: 形状 70">
            <a:extLst>
              <a:ext uri="{FF2B5EF4-FFF2-40B4-BE49-F238E27FC236}">
                <a16:creationId xmlns:a16="http://schemas.microsoft.com/office/drawing/2014/main" id="{DACA6265-9FCD-4903-9E49-3F7155BC44A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94246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基于分层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工件预加载和共享的冷启动缓解</a:t>
            </a:r>
          </a:p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9" name="文本框 19">
            <a:extLst>
              <a:ext uri="{FF2B5EF4-FFF2-40B4-BE49-F238E27FC236}">
                <a16:creationId xmlns:a16="http://schemas.microsoft.com/office/drawing/2014/main" id="{6E0D7D35-693D-44ED-A30B-F327805E2770}"/>
              </a:ext>
            </a:extLst>
          </p:cNvPr>
          <p:cNvSpPr txBox="1"/>
          <p:nvPr/>
        </p:nvSpPr>
        <p:spPr>
          <a:xfrm>
            <a:off x="323214" y="6290258"/>
            <a:ext cx="11666953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buClr>
                <a:srgbClr val="006C39"/>
              </a:buClr>
            </a:pPr>
            <a:r>
              <a:rPr lang="en-US" altLang="zh-CN" sz="1400" i="1" dirty="0">
                <a:solidFill>
                  <a:prstClr val="black"/>
                </a:solidFill>
                <a:latin typeface="Helvetica" pitchFamily="2" charset="0"/>
                <a:ea typeface="微软雅黑"/>
                <a:cs typeface="Times New Roman" panose="02020603050405020304" pitchFamily="18" charset="0"/>
                <a:sym typeface="+mn-ea"/>
              </a:rPr>
              <a:t>Rocket: Warming Serverless Inference via Hierarchical ML Artifact Pre-loading and Sharing</a:t>
            </a:r>
            <a:r>
              <a:rPr lang="en-US" altLang="zh-CN" sz="1400" i="1" dirty="0">
                <a:solidFill>
                  <a:prstClr val="black"/>
                </a:solidFill>
                <a:latin typeface="Helvetica" pitchFamily="2" charset="0"/>
                <a:ea typeface="微软雅黑"/>
                <a:sym typeface="+mn-ea"/>
              </a:rPr>
              <a:t>, </a:t>
            </a:r>
            <a:r>
              <a:rPr lang="en-US" altLang="zh-CN" sz="1400" b="1" i="1" dirty="0">
                <a:solidFill>
                  <a:srgbClr val="B30402"/>
                </a:solidFill>
                <a:latin typeface="Helvetica" pitchFamily="2" charset="0"/>
                <a:ea typeface="微软雅黑"/>
                <a:sym typeface="+mn-ea"/>
              </a:rPr>
              <a:t>IEEE INFOCOM, 2026. </a:t>
            </a:r>
            <a:r>
              <a:rPr lang="en-US" altLang="zh-CN" sz="1400" b="1" dirty="0">
                <a:solidFill>
                  <a:srgbClr val="B30402"/>
                </a:solidFill>
                <a:latin typeface="Helvetica" pitchFamily="2" charset="0"/>
                <a:ea typeface="微软雅黑"/>
                <a:sym typeface="+mn-ea"/>
              </a:rPr>
              <a:t>CCF A</a:t>
            </a:r>
            <a:r>
              <a:rPr lang="zh-CN" altLang="en-US" sz="1400" b="1" dirty="0">
                <a:solidFill>
                  <a:srgbClr val="B30402"/>
                </a:solidFill>
                <a:latin typeface="Helvetica" pitchFamily="2" charset="0"/>
                <a:ea typeface="微软雅黑"/>
                <a:sym typeface="+mn-ea"/>
              </a:rPr>
              <a:t> 会议</a:t>
            </a:r>
            <a:endParaRPr lang="zh-CN" altLang="en-US" sz="1400" b="1" i="1" dirty="0">
              <a:solidFill>
                <a:srgbClr val="B30402"/>
              </a:solidFill>
              <a:latin typeface="Helvetica" pitchFamily="2" charset="0"/>
              <a:ea typeface="黑体" panose="02010609060101010101" charset="-122"/>
              <a:sym typeface="+mn-ea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8099D2FA-7D08-45B9-ACAC-1A666AF4F006}"/>
              </a:ext>
            </a:extLst>
          </p:cNvPr>
          <p:cNvSpPr/>
          <p:nvPr/>
        </p:nvSpPr>
        <p:spPr>
          <a:xfrm>
            <a:off x="323215" y="5318760"/>
            <a:ext cx="11539855" cy="823595"/>
          </a:xfrm>
          <a:prstGeom prst="rect">
            <a:avLst/>
          </a:prstGeom>
          <a:solidFill>
            <a:srgbClr val="002A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61" name="图片 160">
            <a:extLst>
              <a:ext uri="{FF2B5EF4-FFF2-40B4-BE49-F238E27FC236}">
                <a16:creationId xmlns:a16="http://schemas.microsoft.com/office/drawing/2014/main" id="{A5C2AFBC-EDE5-4BFF-964E-C228D0E20C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225"/>
          <a:stretch>
            <a:fillRect/>
          </a:stretch>
        </p:blipFill>
        <p:spPr>
          <a:xfrm>
            <a:off x="6270872" y="1901747"/>
            <a:ext cx="5229852" cy="228589"/>
          </a:xfrm>
          <a:prstGeom prst="rect">
            <a:avLst/>
          </a:prstGeom>
        </p:spPr>
      </p:pic>
      <p:pic>
        <p:nvPicPr>
          <p:cNvPr id="162" name="图片 161">
            <a:extLst>
              <a:ext uri="{FF2B5EF4-FFF2-40B4-BE49-F238E27FC236}">
                <a16:creationId xmlns:a16="http://schemas.microsoft.com/office/drawing/2014/main" id="{3E46E10D-7134-4D2C-AC11-F12DC7E442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259"/>
          <a:stretch>
            <a:fillRect/>
          </a:stretch>
        </p:blipFill>
        <p:spPr>
          <a:xfrm>
            <a:off x="573985" y="1899560"/>
            <a:ext cx="5257655" cy="1398388"/>
          </a:xfrm>
          <a:prstGeom prst="rect">
            <a:avLst/>
          </a:prstGeom>
        </p:spPr>
      </p:pic>
      <p:pic>
        <p:nvPicPr>
          <p:cNvPr id="163" name="图片 162">
            <a:extLst>
              <a:ext uri="{FF2B5EF4-FFF2-40B4-BE49-F238E27FC236}">
                <a16:creationId xmlns:a16="http://schemas.microsoft.com/office/drawing/2014/main" id="{3829AE3E-B7F9-48CB-8E28-9F616E1FE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818" y="2135318"/>
            <a:ext cx="4946234" cy="1135920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a16:creationId xmlns:a16="http://schemas.microsoft.com/office/drawing/2014/main" id="{3FAB01EB-CE6A-4346-955B-A85C31F179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193"/>
          <a:stretch>
            <a:fillRect/>
          </a:stretch>
        </p:blipFill>
        <p:spPr>
          <a:xfrm>
            <a:off x="6275889" y="3784096"/>
            <a:ext cx="5452943" cy="1433194"/>
          </a:xfrm>
          <a:prstGeom prst="rect">
            <a:avLst/>
          </a:prstGeom>
        </p:spPr>
      </p:pic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70D8647B-1B88-4364-894D-667EC99021A5}"/>
              </a:ext>
            </a:extLst>
          </p:cNvPr>
          <p:cNvCxnSpPr/>
          <p:nvPr/>
        </p:nvCxnSpPr>
        <p:spPr>
          <a:xfrm>
            <a:off x="6006488" y="1892458"/>
            <a:ext cx="0" cy="3345442"/>
          </a:xfrm>
          <a:prstGeom prst="line">
            <a:avLst/>
          </a:prstGeom>
          <a:noFill/>
          <a:ln w="25400" cap="flat" cmpd="sng" algn="ctr">
            <a:solidFill>
              <a:srgbClr val="4874CB"/>
            </a:solidFill>
            <a:prstDash val="sysDash"/>
            <a:miter lim="800000"/>
          </a:ln>
          <a:effectLst/>
        </p:spPr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323F2C66-95E8-433E-B798-542AF62EDF92}"/>
              </a:ext>
            </a:extLst>
          </p:cNvPr>
          <p:cNvSpPr txBox="1"/>
          <p:nvPr/>
        </p:nvSpPr>
        <p:spPr>
          <a:xfrm>
            <a:off x="8720649" y="2157207"/>
            <a:ext cx="1049887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微软雅黑"/>
                <a:ea typeface="微软雅黑"/>
              </a:rPr>
              <a:t>4</a:t>
            </a:r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个容器状态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0184BBF6-4020-4367-8768-B5A103E32B63}"/>
              </a:ext>
            </a:extLst>
          </p:cNvPr>
          <p:cNvSpPr txBox="1"/>
          <p:nvPr/>
        </p:nvSpPr>
        <p:spPr>
          <a:xfrm>
            <a:off x="8347512" y="3186637"/>
            <a:ext cx="1104305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部分</a:t>
            </a:r>
            <a:r>
              <a:rPr lang="en-US" altLang="zh-CN" sz="1200" b="1">
                <a:solidFill>
                  <a:srgbClr val="FF0000"/>
                </a:solidFill>
                <a:latin typeface="微软雅黑"/>
                <a:ea typeface="微软雅黑"/>
              </a:rPr>
              <a:t>ML</a:t>
            </a:r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工件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FF4EE97D-03CC-4CE5-BED7-E3FD1242C05D}"/>
              </a:ext>
            </a:extLst>
          </p:cNvPr>
          <p:cNvCxnSpPr>
            <a:stCxn id="167" idx="1"/>
          </p:cNvCxnSpPr>
          <p:nvPr/>
        </p:nvCxnSpPr>
        <p:spPr>
          <a:xfrm flipH="1" flipV="1">
            <a:off x="7459980" y="2851452"/>
            <a:ext cx="887532" cy="473685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B279F774-93D2-4E5E-A19D-F41CF8A88572}"/>
              </a:ext>
            </a:extLst>
          </p:cNvPr>
          <p:cNvCxnSpPr>
            <a:stCxn id="167" idx="0"/>
          </p:cNvCxnSpPr>
          <p:nvPr/>
        </p:nvCxnSpPr>
        <p:spPr>
          <a:xfrm flipH="1" flipV="1">
            <a:off x="8667841" y="2851452"/>
            <a:ext cx="231824" cy="335185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30AEC87F-34A5-49F5-A605-CB89AD031187}"/>
              </a:ext>
            </a:extLst>
          </p:cNvPr>
          <p:cNvCxnSpPr>
            <a:stCxn id="167" idx="3"/>
          </p:cNvCxnSpPr>
          <p:nvPr/>
        </p:nvCxnSpPr>
        <p:spPr>
          <a:xfrm flipV="1">
            <a:off x="9451817" y="2851452"/>
            <a:ext cx="320329" cy="473685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C028C3C4-71AB-4238-883A-981A5312DA06}"/>
              </a:ext>
            </a:extLst>
          </p:cNvPr>
          <p:cNvSpPr txBox="1"/>
          <p:nvPr/>
        </p:nvSpPr>
        <p:spPr>
          <a:xfrm>
            <a:off x="686898" y="3306195"/>
            <a:ext cx="818051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容器启动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5D13A808-56B1-46BA-A474-B0F2B31DDEB6}"/>
              </a:ext>
            </a:extLst>
          </p:cNvPr>
          <p:cNvSpPr txBox="1"/>
          <p:nvPr/>
        </p:nvSpPr>
        <p:spPr>
          <a:xfrm>
            <a:off x="2056484" y="3310388"/>
            <a:ext cx="881979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微软雅黑"/>
                <a:ea typeface="微软雅黑"/>
              </a:rPr>
              <a:t>ML</a:t>
            </a:r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库导入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939CE43E-46D9-434A-A716-6A140806B111}"/>
              </a:ext>
            </a:extLst>
          </p:cNvPr>
          <p:cNvSpPr txBox="1"/>
          <p:nvPr/>
        </p:nvSpPr>
        <p:spPr>
          <a:xfrm>
            <a:off x="3485451" y="3310388"/>
            <a:ext cx="818051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模型加载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pic>
        <p:nvPicPr>
          <p:cNvPr id="174" name="图片 173">
            <a:extLst>
              <a:ext uri="{FF2B5EF4-FFF2-40B4-BE49-F238E27FC236}">
                <a16:creationId xmlns:a16="http://schemas.microsoft.com/office/drawing/2014/main" id="{D7D5EB1D-0C3B-4B08-8370-85F74B75DC7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992" b="8754"/>
          <a:stretch>
            <a:fillRect/>
          </a:stretch>
        </p:blipFill>
        <p:spPr>
          <a:xfrm>
            <a:off x="3773518" y="3915450"/>
            <a:ext cx="2054510" cy="1295520"/>
          </a:xfrm>
          <a:prstGeom prst="rect">
            <a:avLst/>
          </a:prstGeom>
        </p:spPr>
      </p:pic>
      <p:pic>
        <p:nvPicPr>
          <p:cNvPr id="175" name="图片 174">
            <a:extLst>
              <a:ext uri="{FF2B5EF4-FFF2-40B4-BE49-F238E27FC236}">
                <a16:creationId xmlns:a16="http://schemas.microsoft.com/office/drawing/2014/main" id="{3A509004-DFD9-415C-BE38-433126D59F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2215" b="8273"/>
          <a:stretch>
            <a:fillRect/>
          </a:stretch>
        </p:blipFill>
        <p:spPr>
          <a:xfrm>
            <a:off x="1174781" y="3915450"/>
            <a:ext cx="2054510" cy="1295520"/>
          </a:xfrm>
          <a:prstGeom prst="rect">
            <a:avLst/>
          </a:prstGeom>
        </p:spPr>
      </p:pic>
      <p:sp>
        <p:nvSpPr>
          <p:cNvPr id="176" name="文本框 175">
            <a:extLst>
              <a:ext uri="{FF2B5EF4-FFF2-40B4-BE49-F238E27FC236}">
                <a16:creationId xmlns:a16="http://schemas.microsoft.com/office/drawing/2014/main" id="{CEBF6958-BFCA-4815-A3E1-6B8926E18C07}"/>
              </a:ext>
            </a:extLst>
          </p:cNvPr>
          <p:cNvSpPr txBox="1"/>
          <p:nvPr/>
        </p:nvSpPr>
        <p:spPr>
          <a:xfrm>
            <a:off x="623777" y="4106918"/>
            <a:ext cx="214132" cy="92589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</a:pPr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冷启动延迟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BC4C707D-DAE3-4808-A703-769712ED37C8}"/>
              </a:ext>
            </a:extLst>
          </p:cNvPr>
          <p:cNvCxnSpPr>
            <a:stCxn id="176" idx="3"/>
          </p:cNvCxnSpPr>
          <p:nvPr/>
        </p:nvCxnSpPr>
        <p:spPr>
          <a:xfrm flipV="1">
            <a:off x="837909" y="4453255"/>
            <a:ext cx="750385" cy="11661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18FEE7E9-049F-4F87-B656-DC776334E59C}"/>
              </a:ext>
            </a:extLst>
          </p:cNvPr>
          <p:cNvCxnSpPr>
            <a:stCxn id="176" idx="3"/>
          </p:cNvCxnSpPr>
          <p:nvPr/>
        </p:nvCxnSpPr>
        <p:spPr>
          <a:xfrm>
            <a:off x="837909" y="4569865"/>
            <a:ext cx="750385" cy="510135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79" name="文本框 178">
            <a:extLst>
              <a:ext uri="{FF2B5EF4-FFF2-40B4-BE49-F238E27FC236}">
                <a16:creationId xmlns:a16="http://schemas.microsoft.com/office/drawing/2014/main" id="{8F166CDC-025E-435A-B6A5-985F66A61E6F}"/>
              </a:ext>
            </a:extLst>
          </p:cNvPr>
          <p:cNvSpPr txBox="1"/>
          <p:nvPr/>
        </p:nvSpPr>
        <p:spPr>
          <a:xfrm>
            <a:off x="3354411" y="4197944"/>
            <a:ext cx="214132" cy="7591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</a:pPr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内存占用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E75ADB6C-CA78-4017-ACAE-42AEF4B80E5B}"/>
              </a:ext>
            </a:extLst>
          </p:cNvPr>
          <p:cNvCxnSpPr>
            <a:stCxn id="179" idx="3"/>
          </p:cNvCxnSpPr>
          <p:nvPr/>
        </p:nvCxnSpPr>
        <p:spPr>
          <a:xfrm flipV="1">
            <a:off x="3568543" y="4333875"/>
            <a:ext cx="695323" cy="24366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E9AB8FA7-446A-4DFB-89EF-8A38E0C00809}"/>
              </a:ext>
            </a:extLst>
          </p:cNvPr>
          <p:cNvCxnSpPr>
            <a:stCxn id="179" idx="3"/>
          </p:cNvCxnSpPr>
          <p:nvPr/>
        </p:nvCxnSpPr>
        <p:spPr>
          <a:xfrm>
            <a:off x="3568543" y="4577535"/>
            <a:ext cx="695323" cy="527865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82" name="文本框 181">
            <a:extLst>
              <a:ext uri="{FF2B5EF4-FFF2-40B4-BE49-F238E27FC236}">
                <a16:creationId xmlns:a16="http://schemas.microsoft.com/office/drawing/2014/main" id="{75C0D9B2-7906-4385-AFE4-359E327AE38C}"/>
              </a:ext>
            </a:extLst>
          </p:cNvPr>
          <p:cNvSpPr txBox="1"/>
          <p:nvPr/>
        </p:nvSpPr>
        <p:spPr>
          <a:xfrm>
            <a:off x="1069161" y="3615468"/>
            <a:ext cx="410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服务器无感知</a:t>
            </a:r>
            <a:r>
              <a:rPr lang="en-US" altLang="zh-CN" sz="1600" b="1">
                <a:solidFill>
                  <a:prstClr val="black"/>
                </a:solidFill>
                <a:latin typeface="Arial"/>
                <a:ea typeface="微软雅黑"/>
              </a:rPr>
              <a:t>AI</a:t>
            </a:r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推理函数的生命周期及开销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858B1E1C-C194-4D57-B188-45E7A2922D81}"/>
              </a:ext>
            </a:extLst>
          </p:cNvPr>
          <p:cNvSpPr txBox="1"/>
          <p:nvPr/>
        </p:nvSpPr>
        <p:spPr>
          <a:xfrm>
            <a:off x="6082164" y="4343400"/>
            <a:ext cx="676776" cy="276999"/>
          </a:xfrm>
          <a:prstGeom prst="rect">
            <a:avLst/>
          </a:prstGeom>
          <a:noFill/>
          <a:ln w="25400">
            <a:solidFill>
              <a:srgbClr val="FF0000"/>
            </a:solidFill>
            <a:tailEnd w="med" len="lg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预加载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3B5AC49A-1ABF-4A1A-9BBB-6C423AF52A4B}"/>
              </a:ext>
            </a:extLst>
          </p:cNvPr>
          <p:cNvCxnSpPr>
            <a:stCxn id="183" idx="0"/>
          </p:cNvCxnSpPr>
          <p:nvPr/>
        </p:nvCxnSpPr>
        <p:spPr>
          <a:xfrm flipV="1">
            <a:off x="6420552" y="4207469"/>
            <a:ext cx="645888" cy="135931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47B57BFA-EAF4-4E33-AE4C-DBB4067B4F0B}"/>
              </a:ext>
            </a:extLst>
          </p:cNvPr>
          <p:cNvCxnSpPr>
            <a:stCxn id="183" idx="2"/>
          </p:cNvCxnSpPr>
          <p:nvPr/>
        </p:nvCxnSpPr>
        <p:spPr>
          <a:xfrm>
            <a:off x="6420552" y="4620399"/>
            <a:ext cx="645888" cy="99239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186" name="文本框 185">
            <a:extLst>
              <a:ext uri="{FF2B5EF4-FFF2-40B4-BE49-F238E27FC236}">
                <a16:creationId xmlns:a16="http://schemas.microsoft.com/office/drawing/2014/main" id="{47D11DAC-4E96-44DB-80F0-1188DE99F749}"/>
              </a:ext>
            </a:extLst>
          </p:cNvPr>
          <p:cNvSpPr txBox="1"/>
          <p:nvPr/>
        </p:nvSpPr>
        <p:spPr>
          <a:xfrm>
            <a:off x="6666053" y="3445542"/>
            <a:ext cx="4456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驱动容器状态转化的分层</a:t>
            </a:r>
            <a:r>
              <a:rPr lang="en-US" altLang="zh-CN" sz="1600" b="1">
                <a:solidFill>
                  <a:prstClr val="black"/>
                </a:solidFill>
                <a:latin typeface="Arial"/>
                <a:ea typeface="微软雅黑"/>
              </a:rPr>
              <a:t>ML</a:t>
            </a:r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工件预加载和共享</a:t>
            </a:r>
          </a:p>
        </p:txBody>
      </p: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BD2992C9-B245-478E-B030-4E076C42EBAD}"/>
              </a:ext>
            </a:extLst>
          </p:cNvPr>
          <p:cNvCxnSpPr>
            <a:stCxn id="172" idx="3"/>
            <a:endCxn id="173" idx="1"/>
          </p:cNvCxnSpPr>
          <p:nvPr/>
        </p:nvCxnSpPr>
        <p:spPr>
          <a:xfrm>
            <a:off x="2938463" y="3448888"/>
            <a:ext cx="546988" cy="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none" w="med" len="lg"/>
          </a:ln>
          <a:effectLst/>
        </p:spPr>
      </p:cxnSp>
      <p:sp>
        <p:nvSpPr>
          <p:cNvPr id="188" name="文本框 187">
            <a:extLst>
              <a:ext uri="{FF2B5EF4-FFF2-40B4-BE49-F238E27FC236}">
                <a16:creationId xmlns:a16="http://schemas.microsoft.com/office/drawing/2014/main" id="{C34E5A0F-0EAF-4F32-8ED2-5747C5959817}"/>
              </a:ext>
            </a:extLst>
          </p:cNvPr>
          <p:cNvSpPr txBox="1"/>
          <p:nvPr/>
        </p:nvSpPr>
        <p:spPr>
          <a:xfrm>
            <a:off x="4589238" y="3309048"/>
            <a:ext cx="1096921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200" b="1">
                <a:solidFill>
                  <a:srgbClr val="FF0000"/>
                </a:solidFill>
                <a:latin typeface="微软雅黑"/>
                <a:ea typeface="微软雅黑"/>
              </a:rPr>
              <a:t>ML</a:t>
            </a:r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工件加载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3919B9-A4CC-48E2-9B68-8E07CDE70785}"/>
              </a:ext>
            </a:extLst>
          </p:cNvPr>
          <p:cNvSpPr txBox="1"/>
          <p:nvPr/>
        </p:nvSpPr>
        <p:spPr>
          <a:xfrm>
            <a:off x="4263866" y="3256888"/>
            <a:ext cx="360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>
                <a:solidFill>
                  <a:srgbClr val="FF0000"/>
                </a:solidFill>
                <a:latin typeface="微软雅黑"/>
                <a:ea typeface="微软雅黑"/>
              </a:rPr>
              <a:t>=</a:t>
            </a:r>
            <a:endParaRPr lang="zh-CN" altLang="en-US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A1A9E54-D0A8-4712-AA96-FE8162299FCB}"/>
              </a:ext>
            </a:extLst>
          </p:cNvPr>
          <p:cNvSpPr txBox="1"/>
          <p:nvPr/>
        </p:nvSpPr>
        <p:spPr>
          <a:xfrm>
            <a:off x="6046488" y="2229824"/>
            <a:ext cx="281232" cy="9233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内存占用低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340A2A04-8355-47BD-88A9-AC9FA2D663C2}"/>
              </a:ext>
            </a:extLst>
          </p:cNvPr>
          <p:cNvSpPr txBox="1"/>
          <p:nvPr/>
        </p:nvSpPr>
        <p:spPr>
          <a:xfrm>
            <a:off x="11265385" y="2225110"/>
            <a:ext cx="281232" cy="9233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启动延迟低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0A686394-ABFF-4E4E-B3B8-514D352CFD86}"/>
              </a:ext>
            </a:extLst>
          </p:cNvPr>
          <p:cNvSpPr txBox="1"/>
          <p:nvPr/>
        </p:nvSpPr>
        <p:spPr>
          <a:xfrm>
            <a:off x="477344" y="5291654"/>
            <a:ext cx="11338482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</a:rPr>
              <a:t>ML</a:t>
            </a:r>
            <a:r>
              <a:rPr lang="zh-CN" altLang="en-US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</a:rPr>
              <a:t>工件的加载过程是层次化的      分层</a:t>
            </a:r>
            <a:r>
              <a:rPr lang="en-US" altLang="zh-CN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</a:rPr>
              <a:t>ML</a:t>
            </a:r>
            <a:r>
              <a:rPr lang="zh-CN" altLang="en-US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</a:rPr>
              <a:t>工件预加载和共享机制       容器被看做一个有限状态机，逐步预加载部分</a:t>
            </a:r>
            <a:r>
              <a:rPr lang="en-US" altLang="zh-CN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</a:rPr>
              <a:t>ML</a:t>
            </a:r>
            <a:r>
              <a:rPr lang="zh-CN" altLang="en-US" sz="1900" b="1" dirty="0">
                <a:solidFill>
                  <a:prstClr val="white"/>
                </a:solidFill>
                <a:latin typeface="微软雅黑" panose="020B0503020204020204" charset="-122"/>
                <a:ea typeface="微软雅黑"/>
              </a:rPr>
              <a:t>工件（驱动状态转化）并支持跨函数的共享来平衡推理函数的加载和内存效率。</a:t>
            </a:r>
            <a:endParaRPr lang="zh-CN" altLang="en-US" sz="1900" b="1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  <p:sp>
        <p:nvSpPr>
          <p:cNvPr id="193" name="箭头: 下 10">
            <a:extLst>
              <a:ext uri="{FF2B5EF4-FFF2-40B4-BE49-F238E27FC236}">
                <a16:creationId xmlns:a16="http://schemas.microsoft.com/office/drawing/2014/main" id="{0337F069-83CB-4CE8-B28D-9601422C92E0}"/>
              </a:ext>
            </a:extLst>
          </p:cNvPr>
          <p:cNvSpPr/>
          <p:nvPr/>
        </p:nvSpPr>
        <p:spPr>
          <a:xfrm rot="16200000">
            <a:off x="3879193" y="5369010"/>
            <a:ext cx="359924" cy="308843"/>
          </a:xfrm>
          <a:prstGeom prst="downArrow">
            <a:avLst>
              <a:gd name="adj1" fmla="val 43649"/>
              <a:gd name="adj2" fmla="val 46599"/>
            </a:avLst>
          </a:prstGeom>
          <a:noFill/>
          <a:ln w="25400" cap="flat" cmpd="sng" algn="ctr">
            <a:solidFill>
              <a:srgbClr val="75BD4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4" name="箭头: 下 11">
            <a:extLst>
              <a:ext uri="{FF2B5EF4-FFF2-40B4-BE49-F238E27FC236}">
                <a16:creationId xmlns:a16="http://schemas.microsoft.com/office/drawing/2014/main" id="{AD1E3DFE-DA37-4EFC-9C4E-5359B5BB76DB}"/>
              </a:ext>
            </a:extLst>
          </p:cNvPr>
          <p:cNvSpPr/>
          <p:nvPr/>
        </p:nvSpPr>
        <p:spPr>
          <a:xfrm rot="16200000">
            <a:off x="7615426" y="5380001"/>
            <a:ext cx="359924" cy="308843"/>
          </a:xfrm>
          <a:prstGeom prst="downArrow">
            <a:avLst>
              <a:gd name="adj1" fmla="val 43649"/>
              <a:gd name="adj2" fmla="val 46599"/>
            </a:avLst>
          </a:prstGeom>
          <a:noFill/>
          <a:ln w="25400" cap="flat" cmpd="sng" algn="ctr">
            <a:solidFill>
              <a:srgbClr val="75BD4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Yu Gothic Medium</vt:lpstr>
      <vt:lpstr>等线</vt:lpstr>
      <vt:lpstr>等线 Light</vt:lpstr>
      <vt:lpstr>黑体</vt:lpstr>
      <vt:lpstr>思源黑体 CN Regular</vt:lpstr>
      <vt:lpstr>微软雅黑</vt:lpstr>
      <vt:lpstr>Arial</vt:lpstr>
      <vt:lpstr>Helvetica</vt:lpstr>
      <vt:lpstr>Roboto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2</cp:revision>
  <dcterms:created xsi:type="dcterms:W3CDTF">2026-05-19T12:30:22Z</dcterms:created>
  <dcterms:modified xsi:type="dcterms:W3CDTF">2026-05-19T12:33:18Z</dcterms:modified>
</cp:coreProperties>
</file>