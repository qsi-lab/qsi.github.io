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bk object 19">
            <a:extLst>
              <a:ext uri="{FF2B5EF4-FFF2-40B4-BE49-F238E27FC236}">
                <a16:creationId xmlns:a16="http://schemas.microsoft.com/office/drawing/2014/main" id="{8BBA3F84-79FD-40A5-AE69-8EA1759A14CD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7" name="bk object 18">
            <a:extLst>
              <a:ext uri="{FF2B5EF4-FFF2-40B4-BE49-F238E27FC236}">
                <a16:creationId xmlns:a16="http://schemas.microsoft.com/office/drawing/2014/main" id="{9F2D89E1-D2B1-4243-BB04-210DDAA30098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7FF615D4-B652-4EAA-86CE-8644975ED6D4}"/>
              </a:ext>
            </a:extLst>
          </p:cNvPr>
          <p:cNvSpPr txBox="1"/>
          <p:nvPr/>
        </p:nvSpPr>
        <p:spPr>
          <a:xfrm>
            <a:off x="1402916" y="115558"/>
            <a:ext cx="8345361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面向真实仓库级场景的</a:t>
            </a:r>
            <a:r>
              <a:rPr lang="en-US" altLang="zh-CN" sz="24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 AI 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生成代码安全评测基准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9" name="文本框 4">
            <a:extLst>
              <a:ext uri="{FF2B5EF4-FFF2-40B4-BE49-F238E27FC236}">
                <a16:creationId xmlns:a16="http://schemas.microsoft.com/office/drawing/2014/main" id="{8183EF7F-473D-4062-B104-23BDA96472FC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85235643-11A3-44C0-9519-9ECA83F18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641" y="3670118"/>
            <a:ext cx="4218524" cy="1365885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A32504E3-320F-46B6-A965-A7BD6B683D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641" y="2296613"/>
            <a:ext cx="4190429" cy="137795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471A438-EAF6-4148-AF85-CACBF1653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071" y="2200093"/>
            <a:ext cx="7490460" cy="2864485"/>
          </a:xfrm>
          <a:prstGeom prst="rect">
            <a:avLst/>
          </a:prstGeom>
        </p:spPr>
      </p:pic>
      <p:sp>
        <p:nvSpPr>
          <p:cNvPr id="45" name="矩形: 圆角 28">
            <a:extLst>
              <a:ext uri="{FF2B5EF4-FFF2-40B4-BE49-F238E27FC236}">
                <a16:creationId xmlns:a16="http://schemas.microsoft.com/office/drawing/2014/main" id="{679B435A-0DB9-4680-A934-3B6FE4CF7705}"/>
              </a:ext>
            </a:extLst>
          </p:cNvPr>
          <p:cNvSpPr/>
          <p:nvPr/>
        </p:nvSpPr>
        <p:spPr>
          <a:xfrm>
            <a:off x="349885" y="1372870"/>
            <a:ext cx="11513185" cy="782320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46" name="任意多边形: 形状 70">
            <a:extLst>
              <a:ext uri="{FF2B5EF4-FFF2-40B4-BE49-F238E27FC236}">
                <a16:creationId xmlns:a16="http://schemas.microsoft.com/office/drawing/2014/main" id="{4D5FE9DA-76BA-4A7C-BED2-9F135D7BEA1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94246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大模型代码生成：仓库级长上下文建模、跨文件上下文检索与安全评测</a:t>
            </a:r>
          </a:p>
        </p:txBody>
      </p:sp>
      <p:sp>
        <p:nvSpPr>
          <p:cNvPr id="47" name="文本框 19">
            <a:extLst>
              <a:ext uri="{FF2B5EF4-FFF2-40B4-BE49-F238E27FC236}">
                <a16:creationId xmlns:a16="http://schemas.microsoft.com/office/drawing/2014/main" id="{FF9EEC5D-28D4-4AE0-9F78-7DB31055429F}"/>
              </a:ext>
            </a:extLst>
          </p:cNvPr>
          <p:cNvSpPr txBox="1"/>
          <p:nvPr/>
        </p:nvSpPr>
        <p:spPr>
          <a:xfrm>
            <a:off x="323215" y="6389123"/>
            <a:ext cx="11666953" cy="333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buClr>
                <a:srgbClr val="006C39"/>
              </a:buClr>
            </a:pPr>
            <a:r>
              <a:rPr lang="en-US" altLang="zh-CN" sz="1400" i="1" dirty="0">
                <a:solidFill>
                  <a:prstClr val="black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A.S.E: A Repository-Level Benchmark for Evaluating Security in AI-Generated Code.</a:t>
            </a:r>
            <a:r>
              <a:rPr lang="en-US" altLang="zh-CN" sz="1400" i="1" dirty="0">
                <a:solidFill>
                  <a:srgbClr val="FF0000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 ACL</a:t>
            </a:r>
            <a:r>
              <a:rPr lang="zh-CN" altLang="en-US" sz="1400" i="1" dirty="0">
                <a:solidFill>
                  <a:srgbClr val="FF0000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CCF A</a:t>
            </a:r>
            <a:r>
              <a:rPr lang="zh-CN" altLang="en-US" sz="1400" i="1" dirty="0">
                <a:solidFill>
                  <a:srgbClr val="FF0000"/>
                </a:solidFill>
                <a:latin typeface="Helvetica" pitchFamily="2" charset="0"/>
                <a:ea typeface="黑体" panose="02010609060101010101" charset="-122"/>
                <a:sym typeface="+mn-ea"/>
              </a:rPr>
              <a:t>会议）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450D6F3-1DF3-4E68-AF4A-72CD3B6904FB}"/>
              </a:ext>
            </a:extLst>
          </p:cNvPr>
          <p:cNvSpPr/>
          <p:nvPr/>
        </p:nvSpPr>
        <p:spPr>
          <a:xfrm>
            <a:off x="323215" y="5434020"/>
            <a:ext cx="11539855" cy="823595"/>
          </a:xfrm>
          <a:prstGeom prst="rect">
            <a:avLst/>
          </a:prstGeom>
          <a:solidFill>
            <a:srgbClr val="002A7E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针对大模型在真实工程任务中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长上下文依赖强、跨文件关联复杂和安全评测困难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的问题，构建仓库级上下文组织、检索增强代码生成与多维评测机制，为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多轮上下文建模、结构化证据利用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提供研究基础。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2B82590-CD90-4380-A826-774179C7C510}"/>
              </a:ext>
            </a:extLst>
          </p:cNvPr>
          <p:cNvSpPr txBox="1"/>
          <p:nvPr/>
        </p:nvSpPr>
        <p:spPr>
          <a:xfrm>
            <a:off x="472587" y="1343863"/>
            <a:ext cx="11161696" cy="789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25000"/>
              </a:lnSpc>
              <a:buClr>
                <a:srgbClr val="44546A"/>
              </a:buClr>
            </a:pP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针对现有代码生成评测多停留于片段级任务、难以反映真实</a:t>
            </a:r>
            <a:r>
              <a:rPr lang="en-US" altLang="zh-CN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 AI </a:t>
            </a: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编程场景中长上下文依赖与跨文件协同问题，提出仓库级</a:t>
            </a:r>
            <a:r>
              <a:rPr lang="en-US" altLang="zh-CN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 AI </a:t>
            </a:r>
            <a:r>
              <a:rPr lang="zh-CN" altLang="en-US" sz="1900" b="1" dirty="0">
                <a:solidFill>
                  <a:prstClr val="black"/>
                </a:solidFill>
                <a:latin typeface="Helvetica" pitchFamily="2" charset="0"/>
                <a:ea typeface="微软雅黑"/>
                <a:cs typeface="黑体" panose="02010609060101010101" charset="-122"/>
              </a:rPr>
              <a:t>代码安全评测基准。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A8FA801-47F9-4878-A261-5103BD57377A}"/>
              </a:ext>
            </a:extLst>
          </p:cNvPr>
          <p:cNvSpPr txBox="1"/>
          <p:nvPr/>
        </p:nvSpPr>
        <p:spPr>
          <a:xfrm>
            <a:off x="7887283" y="5022238"/>
            <a:ext cx="3474776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  <a:latin typeface="Arial"/>
                <a:ea typeface="微软雅黑"/>
              </a:rPr>
              <a:t>多维度安全评测与能力分析机制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269B2BA-2B9D-4D7A-A7B4-5A31D6797C90}"/>
              </a:ext>
            </a:extLst>
          </p:cNvPr>
          <p:cNvSpPr txBox="1"/>
          <p:nvPr/>
        </p:nvSpPr>
        <p:spPr>
          <a:xfrm>
            <a:off x="1584188" y="5022033"/>
            <a:ext cx="44272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prstClr val="black"/>
                </a:solidFill>
                <a:latin typeface="Arial"/>
                <a:ea typeface="微软雅黑"/>
              </a:rPr>
              <a:t>仓库级上下文驱动的代码生成与多维评测框架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等线 Light</vt:lpstr>
      <vt:lpstr>黑体</vt:lpstr>
      <vt:lpstr>思源黑体 CN Regular</vt:lpstr>
      <vt:lpstr>微软雅黑</vt:lpstr>
      <vt:lpstr>Arial</vt:lpstr>
      <vt:lpstr>Helvetica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6</cp:revision>
  <dcterms:created xsi:type="dcterms:W3CDTF">2026-05-19T12:30:22Z</dcterms:created>
  <dcterms:modified xsi:type="dcterms:W3CDTF">2026-05-20T03:44:01Z</dcterms:modified>
</cp:coreProperties>
</file>