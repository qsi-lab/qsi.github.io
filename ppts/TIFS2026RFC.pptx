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1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bk object 19">
            <a:extLst>
              <a:ext uri="{FF2B5EF4-FFF2-40B4-BE49-F238E27FC236}">
                <a16:creationId xmlns:a16="http://schemas.microsoft.com/office/drawing/2014/main" id="{2A77D5EF-D757-4FE6-9442-8D86E5735841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bk object 18">
            <a:extLst>
              <a:ext uri="{FF2B5EF4-FFF2-40B4-BE49-F238E27FC236}">
                <a16:creationId xmlns:a16="http://schemas.microsoft.com/office/drawing/2014/main" id="{503E7D83-ADF7-430D-B380-76F03034DBE7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2104440-C344-4EC3-AB8D-5ED4C83848E9}"/>
              </a:ext>
            </a:extLst>
          </p:cNvPr>
          <p:cNvSpPr txBox="1"/>
          <p:nvPr/>
        </p:nvSpPr>
        <p:spPr>
          <a:xfrm>
            <a:off x="1402916" y="115558"/>
            <a:ext cx="5554726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</a:t>
            </a:r>
            <a:r>
              <a:rPr lang="en-US" altLang="zh-CN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DNN 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对抗鲁棒性轻量化增强</a:t>
            </a:r>
            <a:endParaRPr lang="zh-CN" altLang="en-US" sz="2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8" name="文本框 4">
            <a:extLst>
              <a:ext uri="{FF2B5EF4-FFF2-40B4-BE49-F238E27FC236}">
                <a16:creationId xmlns:a16="http://schemas.microsoft.com/office/drawing/2014/main" id="{ED94564E-D7C9-4B8D-84A2-8E984E351D41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412BE57-0AEC-402A-A5EA-A3DB5DCC178C}"/>
              </a:ext>
            </a:extLst>
          </p:cNvPr>
          <p:cNvSpPr/>
          <p:nvPr/>
        </p:nvSpPr>
        <p:spPr>
          <a:xfrm>
            <a:off x="493795" y="5675235"/>
            <a:ext cx="11365009" cy="673704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在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CIFAR-10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和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ImageNet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上，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RFC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覆盖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12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个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victim models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与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12 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种代表性白盒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黑盒攻击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；实验表明其在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CIFAR-10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白盒攻击下可带来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10.01%-89.83% 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的鲁棒精度提升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，同时几乎不损失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clean accuracy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，训练时间额外开销低于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0.3s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任意多边形: 形状 70">
            <a:extLst>
              <a:ext uri="{FF2B5EF4-FFF2-40B4-BE49-F238E27FC236}">
                <a16:creationId xmlns:a16="http://schemas.microsoft.com/office/drawing/2014/main" id="{8107DE78-5433-4F8B-858A-CAF4A978093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8462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lvl="1" defTabSz="1466850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冗余全连接层</a:t>
            </a: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可插拔</a:t>
            </a: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对抗样本防御机制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4" name="文本框 19">
            <a:extLst>
              <a:ext uri="{FF2B5EF4-FFF2-40B4-BE49-F238E27FC236}">
                <a16:creationId xmlns:a16="http://schemas.microsoft.com/office/drawing/2014/main" id="{07186F90-1D5C-4B0E-ADAB-4308D6D8C78D}"/>
              </a:ext>
            </a:extLst>
          </p:cNvPr>
          <p:cNvSpPr txBox="1"/>
          <p:nvPr/>
        </p:nvSpPr>
        <p:spPr>
          <a:xfrm>
            <a:off x="432834" y="6418713"/>
            <a:ext cx="11595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3765"/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Assessing and Improving DNN Robustness against Adversarial Examples from the Perspective of Fully Connected Layers. 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(TIFS 2025, CCF A)</a:t>
            </a:r>
            <a:endParaRPr lang="zh-CN" altLang="en-US" sz="1400" i="1" dirty="0">
              <a:solidFill>
                <a:srgbClr val="FF0000"/>
              </a:solidFill>
              <a:latin typeface="Arial"/>
              <a:ea typeface="黑体" panose="02010609060101010101" pitchFamily="49" charset="-122"/>
            </a:endParaRPr>
          </a:p>
        </p:txBody>
      </p:sp>
      <p:sp>
        <p:nvSpPr>
          <p:cNvPr id="23" name="文本框 19">
            <a:extLst>
              <a:ext uri="{FF2B5EF4-FFF2-40B4-BE49-F238E27FC236}">
                <a16:creationId xmlns:a16="http://schemas.microsoft.com/office/drawing/2014/main" id="{F851F652-D5A5-417A-BBBB-EF142C5F73DB}"/>
              </a:ext>
            </a:extLst>
          </p:cNvPr>
          <p:cNvSpPr txBox="1"/>
          <p:nvPr/>
        </p:nvSpPr>
        <p:spPr>
          <a:xfrm>
            <a:off x="432834" y="4947524"/>
            <a:ext cx="55108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将传统单一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fully connected layer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替换为多个并行冗余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FC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分支，并通过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per-class aggregation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聚合预测结果</a:t>
            </a:r>
          </a:p>
        </p:txBody>
      </p:sp>
      <p:sp>
        <p:nvSpPr>
          <p:cNvPr id="49" name="矩形: 圆角 28">
            <a:extLst>
              <a:ext uri="{FF2B5EF4-FFF2-40B4-BE49-F238E27FC236}">
                <a16:creationId xmlns:a16="http://schemas.microsoft.com/office/drawing/2014/main" id="{D67A5DDC-E7A5-449D-B1E1-86D8CA00A6F0}"/>
              </a:ext>
            </a:extLst>
          </p:cNvPr>
          <p:cNvSpPr/>
          <p:nvPr/>
        </p:nvSpPr>
        <p:spPr>
          <a:xfrm>
            <a:off x="345874" y="1422594"/>
            <a:ext cx="11512931" cy="956829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50" name="文本框 7">
            <a:extLst>
              <a:ext uri="{FF2B5EF4-FFF2-40B4-BE49-F238E27FC236}">
                <a16:creationId xmlns:a16="http://schemas.microsoft.com/office/drawing/2014/main" id="{700408FA-D0AD-4A5F-BA7E-1DB4212A8642}"/>
              </a:ext>
            </a:extLst>
          </p:cNvPr>
          <p:cNvSpPr txBox="1"/>
          <p:nvPr/>
        </p:nvSpPr>
        <p:spPr>
          <a:xfrm>
            <a:off x="522339" y="1501187"/>
            <a:ext cx="11160000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现有对抗样本防御方法往往存在攻击适配性不足、干净样本精度下降以及训练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部署开销较高等问题，难以在不同模型和多类白盒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黑盒攻击下稳定提升鲁棒性。</a:t>
            </a:r>
          </a:p>
        </p:txBody>
      </p:sp>
      <p:sp>
        <p:nvSpPr>
          <p:cNvPr id="21" name="文本框 19">
            <a:extLst>
              <a:ext uri="{FF2B5EF4-FFF2-40B4-BE49-F238E27FC236}">
                <a16:creationId xmlns:a16="http://schemas.microsoft.com/office/drawing/2014/main" id="{8AB882A9-B10F-4585-B6E2-A7DFCEA1E25A}"/>
              </a:ext>
            </a:extLst>
          </p:cNvPr>
          <p:cNvSpPr txBox="1"/>
          <p:nvPr/>
        </p:nvSpPr>
        <p:spPr>
          <a:xfrm>
            <a:off x="6131849" y="3117457"/>
            <a:ext cx="80649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RFC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以可插拔、低开销方式构造多重决策边界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9BB7D47-0FFB-4B3E-AAD7-E035C1772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63" y="2619252"/>
            <a:ext cx="4943955" cy="218533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6304A16-58B8-4648-8EA5-B0E85821B6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3192" y="2619429"/>
            <a:ext cx="4760124" cy="140472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40509B9-83E8-479D-9687-F547112BC7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996" y="4015842"/>
            <a:ext cx="4235059" cy="154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182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思源黑体 CN Regular</vt:lpstr>
      <vt:lpstr>微软雅黑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39</cp:revision>
  <dcterms:created xsi:type="dcterms:W3CDTF">2026-05-19T12:30:22Z</dcterms:created>
  <dcterms:modified xsi:type="dcterms:W3CDTF">2026-05-20T01:54:59Z</dcterms:modified>
</cp:coreProperties>
</file>