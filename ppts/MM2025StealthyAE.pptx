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18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405969-857F-4959-876C-4AC174078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724217-0C20-4D7E-AF88-2A8262F1D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011AC-826D-4D77-8F87-446F7D00B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F74BA6-7437-40F5-BF1E-40176C097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DDE782-9F59-4CB0-96F2-713D80C8F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5399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430837-E839-4F25-A110-13BCF5A1E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4360D6-314B-4CA8-ABBB-5E4E4DB28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497055-ABC9-4E3D-9D9B-AF54AD514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F4DBBF-9F69-48DA-B744-19287AFD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EA34C5-8BCD-480D-9DBB-94D4DB75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904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32C89-1BEF-4372-8747-16A704C74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F26452-F6AC-4F34-B18D-B7A76EC11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BB4810-74CB-4ECD-BEB3-1078CA0E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58801F-9CD9-4733-8D81-56BCC53C8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6EB79F-E23B-4732-B063-F48152B5E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724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3D9273-FE92-479A-8339-CE868D685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0965DA-72F6-4EE9-95B3-4948C768D6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A97795-F3E8-4510-9FC7-21DFB498E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2B348F-4A7A-4602-879E-67F1D0E6A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5EF639-0907-4FF6-97C3-E294E024B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8B9471-6918-417D-AE16-EC3CAE4B7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8431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26986D-2266-421C-994B-EC19CED1C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569F84-333E-45EA-9341-BBA957D66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0010DE-D72C-4355-99F5-BFD42ABE9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1688286-1562-4832-97A5-9EC055C5EF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7016189-C0C8-4EB1-9A2C-D83DCC204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C78DF9-43B1-49E8-AA98-BEAB4D165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C83742D-7417-4732-A7C0-7C10C904D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B196843-7856-4531-B527-CC752487A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9307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5BA13D-92E0-4203-B38B-A8C69EA54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9D57C69-C0B6-4FE1-8CB8-6B611D77D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A40A965-1D9C-4AF6-AF5D-01BA5FDFD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C2B82C8-DB24-40AE-B75F-341873CF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126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AB334CF-2B32-4AEA-84AE-46230AF95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1770DDA-2D46-42F5-B6A9-5AFC6EF37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62F03D-7DA9-492D-8F94-72AE4FA92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136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46093A-ED7E-4757-B9F4-14A6E79F4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D19B68-4BD5-483C-A571-0E77BFDE1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3B62867-0A7A-4159-828A-F54462722F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C7B0D3-DF1B-4854-939E-CEA82BA04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2891B9-7AE7-4033-ABF3-06C01066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77E58D-C106-46FE-8476-B37AAE9DE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370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680EDC-05D3-4CCF-BF75-424A7A395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090CA33-87F7-4A6F-831C-35E1454A1D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A9E82BA-9579-4CB7-A150-90D066FBA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C9A9D4-B84E-406E-AC5B-34E09E696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CC7D52-F513-40FD-8293-A18D2E35C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1C79DE-EB15-425E-A265-E24463E76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6874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EF0B44-86FF-4835-A086-5367F343B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683615F-CA5C-478B-BBED-6CC8DA68F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76265F-F40F-4A59-B5E6-968FA32AD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92EEEB-11BD-4DDA-9E94-4884B1747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81AF02-E235-4A3A-8BEE-F778A324C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674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CF36A1-9857-45A2-B90D-ECC1CAA734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2E1D74-24BF-4D2A-8701-9A8D57FD1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FAD710-D439-426E-BE2E-B1BDDE11A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7FB8C1-C3F9-4579-A7C6-E07669EDB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C43394-8EF5-4940-8C44-10823BC7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6160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BE6A440-C754-4513-B077-47F837A87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CA14CA-BAA6-45A0-9D78-B7F9FF3C3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1924D9-D413-4BC5-9385-1D60D51730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3B7C0F-EAD4-45D9-B9B8-4830677301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E62F70E-F3D1-4158-9806-609CA9301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9592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779E6E3-80F2-49FC-9C9D-CC749DE1C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36" y="2494759"/>
            <a:ext cx="4861217" cy="2987675"/>
          </a:xfrm>
          <a:prstGeom prst="rect">
            <a:avLst/>
          </a:prstGeom>
        </p:spPr>
      </p:pic>
      <p:sp>
        <p:nvSpPr>
          <p:cNvPr id="45" name="bk object 19">
            <a:extLst>
              <a:ext uri="{FF2B5EF4-FFF2-40B4-BE49-F238E27FC236}">
                <a16:creationId xmlns:a16="http://schemas.microsoft.com/office/drawing/2014/main" id="{2A77D5EF-D757-4FE6-9442-8D86E5735841}"/>
              </a:ext>
            </a:extLst>
          </p:cNvPr>
          <p:cNvSpPr/>
          <p:nvPr/>
        </p:nvSpPr>
        <p:spPr>
          <a:xfrm>
            <a:off x="0" y="764479"/>
            <a:ext cx="12192000" cy="2540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Arial" panose="020B0604020202020204" pitchFamily="34" charset="0"/>
              <a:ea typeface="微软雅黑" panose="020B050302020402020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46" name="bk object 18">
            <a:extLst>
              <a:ext uri="{FF2B5EF4-FFF2-40B4-BE49-F238E27FC236}">
                <a16:creationId xmlns:a16="http://schemas.microsoft.com/office/drawing/2014/main" id="{503E7D83-ADF7-430D-B380-76F03034DBE7}"/>
              </a:ext>
            </a:extLst>
          </p:cNvPr>
          <p:cNvSpPr/>
          <p:nvPr/>
        </p:nvSpPr>
        <p:spPr>
          <a:xfrm>
            <a:off x="493795" y="0"/>
            <a:ext cx="695325" cy="692785"/>
          </a:xfrm>
          <a:custGeom>
            <a:avLst/>
            <a:gdLst/>
            <a:ahLst/>
            <a:cxnLst/>
            <a:rect l="l" t="t" r="r" b="b"/>
            <a:pathLst>
              <a:path w="695325" h="692785">
                <a:moveTo>
                  <a:pt x="694860" y="0"/>
                </a:moveTo>
                <a:lnTo>
                  <a:pt x="0" y="0"/>
                </a:lnTo>
                <a:lnTo>
                  <a:pt x="0" y="576648"/>
                </a:lnTo>
                <a:lnTo>
                  <a:pt x="9101" y="621727"/>
                </a:lnTo>
                <a:lnTo>
                  <a:pt x="33920" y="658540"/>
                </a:lnTo>
                <a:lnTo>
                  <a:pt x="70733" y="683359"/>
                </a:lnTo>
                <a:lnTo>
                  <a:pt x="115812" y="692461"/>
                </a:lnTo>
                <a:lnTo>
                  <a:pt x="579048" y="692461"/>
                </a:lnTo>
                <a:lnTo>
                  <a:pt x="624127" y="683359"/>
                </a:lnTo>
                <a:lnTo>
                  <a:pt x="660940" y="658540"/>
                </a:lnTo>
                <a:lnTo>
                  <a:pt x="685759" y="621727"/>
                </a:lnTo>
                <a:lnTo>
                  <a:pt x="694860" y="576648"/>
                </a:lnTo>
                <a:lnTo>
                  <a:pt x="694860" y="0"/>
                </a:lnTo>
                <a:close/>
              </a:path>
            </a:pathLst>
          </a:custGeom>
          <a:solidFill>
            <a:srgbClr val="002A7E"/>
          </a:solidFill>
        </p:spPr>
        <p:txBody>
          <a:bodyPr wrap="square" lIns="0" tIns="0" rIns="0" bIns="0" rtlCol="0" anchor="ctr" anchorCtr="1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800" b="1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charset="-122"/>
                <a:cs typeface="+mn-ea"/>
                <a:sym typeface="Arial" panose="020B0604020202020204" pitchFamily="34" charset="0"/>
              </a:rPr>
              <a:t>二</a:t>
            </a:r>
            <a:endParaRPr sz="2800" b="1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2104440-C344-4EC3-AB8D-5ED4C83848E9}"/>
              </a:ext>
            </a:extLst>
          </p:cNvPr>
          <p:cNvSpPr txBox="1"/>
          <p:nvPr/>
        </p:nvSpPr>
        <p:spPr>
          <a:xfrm>
            <a:off x="1402916" y="115558"/>
            <a:ext cx="6647974" cy="461665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zh-CN" altLang="en-US" sz="2400" b="1" dirty="0">
                <a:solidFill>
                  <a:prstClr val="black"/>
                </a:solidFill>
                <a:latin typeface="Arial" panose="020B0604020202020204" pitchFamily="34" charset="0"/>
                <a:ea typeface="微软雅黑" panose="020B0503020204020204" charset="-122"/>
                <a:cs typeface="+mn-ea"/>
                <a:sym typeface="Arial" panose="020B0604020202020204" pitchFamily="34" charset="0"/>
              </a:rPr>
              <a:t>代表成果：</a:t>
            </a:r>
            <a:r>
              <a:rPr lang="zh-CN" altLang="en-US" sz="2400" b="1" dirty="0">
                <a:solidFill>
                  <a:prstClr val="black"/>
                </a:solidFill>
                <a:latin typeface="Arial" panose="020B0604020202020204" pitchFamily="34" charset="0"/>
                <a:ea typeface="微软雅黑" panose="020B0503020204020204" charset="-122"/>
                <a:sym typeface="Arial" panose="020B0604020202020204" pitchFamily="34" charset="0"/>
              </a:rPr>
              <a:t>社交网络传输中的隐蔽对抗样本生成</a:t>
            </a:r>
            <a:endParaRPr lang="zh-CN" altLang="en-US" sz="2400" b="1" dirty="0">
              <a:solidFill>
                <a:prstClr val="black"/>
              </a:solidFill>
              <a:latin typeface="Arial" panose="020B0604020202020204" pitchFamily="34" charset="0"/>
              <a:ea typeface="微软雅黑" panose="020B050302020402020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48" name="文本框 4">
            <a:extLst>
              <a:ext uri="{FF2B5EF4-FFF2-40B4-BE49-F238E27FC236}">
                <a16:creationId xmlns:a16="http://schemas.microsoft.com/office/drawing/2014/main" id="{ED94564E-D7C9-4B8D-84A2-8E984E351D41}"/>
              </a:ext>
            </a:extLst>
          </p:cNvPr>
          <p:cNvSpPr txBox="1"/>
          <p:nvPr/>
        </p:nvSpPr>
        <p:spPr>
          <a:xfrm>
            <a:off x="11304801" y="267633"/>
            <a:ext cx="786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F5304E13-479D-BD4F-B4A7-78935B937A33}" type="slidenum">
              <a:rPr kumimoji="1" lang="zh-CN" altLang="en-US" smtClean="0">
                <a:solidFill>
                  <a:prstClr val="black"/>
                </a:solidFill>
                <a:latin typeface="Arial"/>
                <a:ea typeface="微软雅黑"/>
              </a:rPr>
              <a:pPr/>
              <a:t>1</a:t>
            </a:fld>
            <a:endParaRPr lang="en-US" dirty="0">
              <a:solidFill>
                <a:prstClr val="black"/>
              </a:solidFill>
              <a:latin typeface="Arial"/>
              <a:ea typeface="微软雅黑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412BE57-0AEC-402A-A5EA-A3DB5DCC178C}"/>
              </a:ext>
            </a:extLst>
          </p:cNvPr>
          <p:cNvSpPr/>
          <p:nvPr/>
        </p:nvSpPr>
        <p:spPr>
          <a:xfrm>
            <a:off x="455695" y="5579985"/>
            <a:ext cx="11365009" cy="855454"/>
          </a:xfrm>
          <a:prstGeom prst="rect">
            <a:avLst/>
          </a:prstGeom>
          <a:solidFill>
            <a:srgbClr val="003F87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>
              <a:defRPr/>
            </a:pP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在 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Facebook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QQ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WeChat 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三类 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OSN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1600" b="1" kern="0" dirty="0" err="1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ResNet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/Inception/VGG 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三种模型和 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FGSM/PGD/C&amp;W 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三类攻击下，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Stealthy-AE 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的 </a:t>
            </a:r>
            <a:r>
              <a:rPr lang="en-US" altLang="zh-CN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OSN-AE </a:t>
            </a:r>
            <a:r>
              <a:rPr lang="zh-CN" altLang="en-US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成功率最高可达 </a:t>
            </a:r>
            <a:r>
              <a:rPr lang="en-US" altLang="zh-CN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99.73%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；相比 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7 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种 </a:t>
            </a:r>
            <a:r>
              <a:rPr lang="en-US" altLang="zh-CN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SOTA 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方法，</a:t>
            </a:r>
            <a:r>
              <a:rPr lang="zh-CN" altLang="en-US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成功率提升 </a:t>
            </a:r>
            <a:r>
              <a:rPr lang="en-US" altLang="zh-CN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4%-97%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，且面对</a:t>
            </a:r>
            <a:r>
              <a:rPr lang="zh-CN" altLang="en-US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多种 </a:t>
            </a:r>
            <a:r>
              <a:rPr lang="en-US" altLang="zh-CN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AE </a:t>
            </a:r>
            <a:r>
              <a:rPr lang="zh-CN" altLang="en-US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检测器时检测率最低仅 </a:t>
            </a:r>
            <a:r>
              <a:rPr lang="en-US" altLang="zh-CN" sz="16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31.9%</a:t>
            </a:r>
            <a:r>
              <a:rPr lang="zh-CN" altLang="en-US" sz="16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，表现出更强隐蔽性。</a:t>
            </a:r>
            <a:endParaRPr kumimoji="0" lang="zh-CN" altLang="en-US" sz="1600" b="1" i="0" u="none" strike="noStrike" kern="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任意多边形: 形状 70">
            <a:extLst>
              <a:ext uri="{FF2B5EF4-FFF2-40B4-BE49-F238E27FC236}">
                <a16:creationId xmlns:a16="http://schemas.microsoft.com/office/drawing/2014/main" id="{8107DE78-5433-4F8B-858A-CAF4A978093D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45595" y="788462"/>
            <a:ext cx="11545570" cy="574124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-1" fmla="*/ 0 w 10035"/>
              <a:gd name="connsiteY0-2" fmla="*/ 10012 h 10012"/>
              <a:gd name="connsiteX1-3" fmla="*/ 0 w 10035"/>
              <a:gd name="connsiteY1-4" fmla="*/ 12 h 10012"/>
              <a:gd name="connsiteX2-5" fmla="*/ 10035 w 10035"/>
              <a:gd name="connsiteY2-6" fmla="*/ 0 h 10012"/>
              <a:gd name="connsiteX3-7" fmla="*/ 10000 w 10035"/>
              <a:gd name="connsiteY3-8" fmla="*/ 8012 h 10012"/>
              <a:gd name="connsiteX4-9" fmla="*/ 0 w 10035"/>
              <a:gd name="connsiteY4-10" fmla="*/ 10012 h 10012"/>
              <a:gd name="connsiteX0-11" fmla="*/ 0 w 10035"/>
              <a:gd name="connsiteY0-12" fmla="*/ 10012 h 10012"/>
              <a:gd name="connsiteX1-13" fmla="*/ 0 w 10035"/>
              <a:gd name="connsiteY1-14" fmla="*/ 12 h 10012"/>
              <a:gd name="connsiteX2-15" fmla="*/ 10035 w 10035"/>
              <a:gd name="connsiteY2-16" fmla="*/ 0 h 10012"/>
              <a:gd name="connsiteX3-17" fmla="*/ 9965 w 10035"/>
              <a:gd name="connsiteY3-18" fmla="*/ 9867 h 10012"/>
              <a:gd name="connsiteX4-19" fmla="*/ 0 w 10035"/>
              <a:gd name="connsiteY4-20" fmla="*/ 10012 h 10012"/>
              <a:gd name="connsiteX0-21" fmla="*/ 0 w 10035"/>
              <a:gd name="connsiteY0-22" fmla="*/ 10012 h 10012"/>
              <a:gd name="connsiteX1-23" fmla="*/ 0 w 10035"/>
              <a:gd name="connsiteY1-24" fmla="*/ 12 h 10012"/>
              <a:gd name="connsiteX2-25" fmla="*/ 10035 w 10035"/>
              <a:gd name="connsiteY2-26" fmla="*/ 0 h 10012"/>
              <a:gd name="connsiteX3-27" fmla="*/ 9965 w 10035"/>
              <a:gd name="connsiteY3-28" fmla="*/ 9945 h 10012"/>
              <a:gd name="connsiteX4-29" fmla="*/ 0 w 10035"/>
              <a:gd name="connsiteY4-30" fmla="*/ 10012 h 10012"/>
              <a:gd name="connsiteX0-31" fmla="*/ 0 w 10035"/>
              <a:gd name="connsiteY0-32" fmla="*/ 10012 h 10023"/>
              <a:gd name="connsiteX1-33" fmla="*/ 0 w 10035"/>
              <a:gd name="connsiteY1-34" fmla="*/ 12 h 10023"/>
              <a:gd name="connsiteX2-35" fmla="*/ 10035 w 10035"/>
              <a:gd name="connsiteY2-36" fmla="*/ 0 h 10023"/>
              <a:gd name="connsiteX3-37" fmla="*/ 9965 w 10035"/>
              <a:gd name="connsiteY3-38" fmla="*/ 10023 h 10023"/>
              <a:gd name="connsiteX4-39" fmla="*/ 0 w 10035"/>
              <a:gd name="connsiteY4-40" fmla="*/ 10012 h 1002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0035" h="10023">
                <a:moveTo>
                  <a:pt x="0" y="10012"/>
                </a:moveTo>
                <a:lnTo>
                  <a:pt x="0" y="12"/>
                </a:lnTo>
                <a:lnTo>
                  <a:pt x="10035" y="0"/>
                </a:lnTo>
                <a:cubicBezTo>
                  <a:pt x="10023" y="2671"/>
                  <a:pt x="9977" y="7352"/>
                  <a:pt x="9965" y="10023"/>
                </a:cubicBezTo>
                <a:lnTo>
                  <a:pt x="0" y="10012"/>
                </a:lnTo>
                <a:close/>
              </a:path>
            </a:pathLst>
          </a:custGeom>
          <a:solidFill>
            <a:srgbClr val="003F8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spcFirstLastPara="0" vert="horz" wrap="square" lIns="266701" tIns="845686" rIns="263922" bIns="845687" numCol="1" spcCol="1270" anchor="t" anchorCtr="0">
            <a:noAutofit/>
          </a:bodyPr>
          <a:lstStyle/>
          <a:p>
            <a:pPr marL="0" lvl="1" defTabSz="1466850">
              <a:lnSpc>
                <a:spcPct val="40000"/>
              </a:lnSpc>
              <a:spcBef>
                <a:spcPct val="0"/>
              </a:spcBef>
              <a:spcAft>
                <a:spcPct val="15000"/>
              </a:spcAft>
              <a:defRPr/>
            </a:pPr>
            <a:r>
              <a:rPr lang="zh-CN" altLang="en-US" sz="24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利用 </a:t>
            </a:r>
            <a:r>
              <a:rPr lang="en-US" altLang="zh-CN" sz="24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OSN </a:t>
            </a:r>
            <a:r>
              <a:rPr lang="zh-CN" altLang="en-US" sz="24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图像处理管线激活的</a:t>
            </a:r>
            <a:r>
              <a:rPr lang="zh-CN" altLang="en-US" sz="2400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隐蔽对抗样本</a:t>
            </a:r>
            <a:r>
              <a:rPr lang="zh-CN" altLang="en-US" sz="2400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攻击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4" name="文本框 19">
            <a:extLst>
              <a:ext uri="{FF2B5EF4-FFF2-40B4-BE49-F238E27FC236}">
                <a16:creationId xmlns:a16="http://schemas.microsoft.com/office/drawing/2014/main" id="{07186F90-1D5C-4B0E-ADAB-4308D6D8C78D}"/>
              </a:ext>
            </a:extLst>
          </p:cNvPr>
          <p:cNvSpPr txBox="1"/>
          <p:nvPr/>
        </p:nvSpPr>
        <p:spPr>
          <a:xfrm>
            <a:off x="420134" y="6450463"/>
            <a:ext cx="115952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defTabSz="913765"/>
            <a:r>
              <a:rPr lang="en-US" altLang="zh-CN" sz="1400" i="1" dirty="0">
                <a:solidFill>
                  <a:srgbClr val="000000"/>
                </a:solidFill>
                <a:latin typeface="Arial"/>
                <a:ea typeface="黑体" panose="02010609060101010101" pitchFamily="49" charset="-122"/>
              </a:rPr>
              <a:t>Stealthy-AE: Generating Stealthy Adversarial Examples through Online Social Networks. </a:t>
            </a:r>
            <a:r>
              <a:rPr lang="en-US" altLang="zh-CN" sz="1400" i="1" dirty="0">
                <a:solidFill>
                  <a:srgbClr val="FF0000"/>
                </a:solidFill>
                <a:latin typeface="Arial"/>
                <a:ea typeface="黑体" panose="02010609060101010101" pitchFamily="49" charset="-122"/>
              </a:rPr>
              <a:t>(ACM MM 2025, CCF A</a:t>
            </a:r>
            <a:r>
              <a:rPr lang="zh-CN" altLang="en-US" sz="1400" i="1" dirty="0">
                <a:solidFill>
                  <a:srgbClr val="FF0000"/>
                </a:solidFill>
                <a:latin typeface="Arial"/>
                <a:ea typeface="黑体" panose="02010609060101010101" pitchFamily="49" charset="-122"/>
              </a:rPr>
              <a:t>会议</a:t>
            </a:r>
            <a:r>
              <a:rPr lang="en-US" altLang="zh-CN" sz="1400" i="1" dirty="0">
                <a:solidFill>
                  <a:srgbClr val="FF0000"/>
                </a:solidFill>
                <a:latin typeface="Arial"/>
                <a:ea typeface="黑体" panose="02010609060101010101" pitchFamily="49" charset="-122"/>
              </a:rPr>
              <a:t>)</a:t>
            </a:r>
            <a:endParaRPr lang="zh-CN" altLang="en-US" sz="1400" i="1" dirty="0">
              <a:solidFill>
                <a:srgbClr val="FF0000"/>
              </a:solidFill>
              <a:latin typeface="Arial"/>
              <a:ea typeface="黑体" panose="02010609060101010101" pitchFamily="49" charset="-122"/>
            </a:endParaRPr>
          </a:p>
        </p:txBody>
      </p:sp>
      <p:sp>
        <p:nvSpPr>
          <p:cNvPr id="23" name="文本框 19">
            <a:extLst>
              <a:ext uri="{FF2B5EF4-FFF2-40B4-BE49-F238E27FC236}">
                <a16:creationId xmlns:a16="http://schemas.microsoft.com/office/drawing/2014/main" id="{F851F652-D5A5-417A-BBBB-EF142C5F73DB}"/>
              </a:ext>
            </a:extLst>
          </p:cNvPr>
          <p:cNvSpPr txBox="1"/>
          <p:nvPr/>
        </p:nvSpPr>
        <p:spPr>
          <a:xfrm>
            <a:off x="6985190" y="5255856"/>
            <a:ext cx="458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计算不同 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OSN 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的 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JPEG quality factor</a:t>
            </a:r>
            <a:endParaRPr lang="zh-CN" altLang="en-US" sz="1600" b="1" dirty="0">
              <a:solidFill>
                <a:prstClr val="black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19">
            <a:extLst>
              <a:ext uri="{FF2B5EF4-FFF2-40B4-BE49-F238E27FC236}">
                <a16:creationId xmlns:a16="http://schemas.microsoft.com/office/drawing/2014/main" id="{8AB882A9-B10F-4585-B6E2-A7DFCEA1E25A}"/>
              </a:ext>
            </a:extLst>
          </p:cNvPr>
          <p:cNvSpPr txBox="1"/>
          <p:nvPr/>
        </p:nvSpPr>
        <p:spPr>
          <a:xfrm>
            <a:off x="5338453" y="2841982"/>
            <a:ext cx="137586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结合 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diffusion model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，与 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differentiable JPEG layer 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构建可微分的 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OSN 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传输模拟器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B7E990A-F66F-4313-8334-2A150771B8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48" y="2513736"/>
            <a:ext cx="4831957" cy="2718596"/>
          </a:xfrm>
          <a:prstGeom prst="rect">
            <a:avLst/>
          </a:prstGeom>
        </p:spPr>
      </p:pic>
      <p:sp>
        <p:nvSpPr>
          <p:cNvPr id="49" name="矩形: 圆角 28">
            <a:extLst>
              <a:ext uri="{FF2B5EF4-FFF2-40B4-BE49-F238E27FC236}">
                <a16:creationId xmlns:a16="http://schemas.microsoft.com/office/drawing/2014/main" id="{D67A5DDC-E7A5-449D-B1E1-86D8CA00A6F0}"/>
              </a:ext>
            </a:extLst>
          </p:cNvPr>
          <p:cNvSpPr/>
          <p:nvPr/>
        </p:nvSpPr>
        <p:spPr>
          <a:xfrm>
            <a:off x="345874" y="1422594"/>
            <a:ext cx="11512931" cy="956829"/>
          </a:xfrm>
          <a:prstGeom prst="roundRect">
            <a:avLst>
              <a:gd name="adj" fmla="val 3558"/>
            </a:avLst>
          </a:prstGeom>
          <a:solidFill>
            <a:sysClr val="window" lastClr="FFFFFF"/>
          </a:solidFill>
          <a:ln w="6350" cap="flat" cmpd="sng" algn="ctr">
            <a:solidFill>
              <a:srgbClr val="003399">
                <a:alpha val="28000"/>
              </a:srgbClr>
            </a:solidFill>
            <a:prstDash val="solid"/>
            <a:miter lim="800000"/>
          </a:ln>
          <a:effectLst>
            <a:outerShdw blurRad="203200" dist="88900" dir="5400000" sx="96000" sy="96000" algn="t" rotWithShape="0">
              <a:srgbClr val="003399">
                <a:alpha val="23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Regular"/>
              <a:cs typeface="+mn-cs"/>
            </a:endParaRPr>
          </a:p>
        </p:txBody>
      </p:sp>
      <p:sp>
        <p:nvSpPr>
          <p:cNvPr id="50" name="文本框 7">
            <a:extLst>
              <a:ext uri="{FF2B5EF4-FFF2-40B4-BE49-F238E27FC236}">
                <a16:creationId xmlns:a16="http://schemas.microsoft.com/office/drawing/2014/main" id="{700408FA-D0AD-4A5F-BA7E-1DB4212A8642}"/>
              </a:ext>
            </a:extLst>
          </p:cNvPr>
          <p:cNvSpPr txBox="1"/>
          <p:nvPr/>
        </p:nvSpPr>
        <p:spPr>
          <a:xfrm>
            <a:off x="522339" y="1501187"/>
            <a:ext cx="11160000" cy="7997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342900" indent="-342900">
              <a:buFont typeface="Wingdings" panose="05000000000000000000" pitchFamily="2" charset="2"/>
              <a:buChar char="Ø"/>
              <a:defRPr sz="2000" b="1">
                <a:solidFill>
                  <a:srgbClr val="2E8DBB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marL="0" lvl="1">
              <a:lnSpc>
                <a:spcPct val="120000"/>
              </a:lnSpc>
              <a:spcBef>
                <a:spcPct val="0"/>
              </a:spcBef>
              <a:buSzPct val="95000"/>
              <a:defRPr/>
            </a:pP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本文首次提出 </a:t>
            </a:r>
            <a:r>
              <a:rPr lang="en-US" altLang="zh-CN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Stealthy AE</a:t>
            </a: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：图像在上传前表现为正常样本，但经过 </a:t>
            </a:r>
            <a:r>
              <a:rPr lang="en-US" altLang="zh-CN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Facebook</a:t>
            </a: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QQ</a:t>
            </a: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WeChat </a:t>
            </a: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等社交网络处理后被“激活”为对抗样本。</a:t>
            </a:r>
          </a:p>
        </p:txBody>
      </p:sp>
    </p:spTree>
    <p:extLst>
      <p:ext uri="{BB962C8B-B14F-4D97-AF65-F5344CB8AC3E}">
        <p14:creationId xmlns:p14="http://schemas.microsoft.com/office/powerpoint/2010/main" val="26333551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8.65173228346458,&quot;left&quot;:101.41637795275591,&quot;top&quot;:117.93330708661418,&quot;width&quot;:758.0084251968503}"/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</TotalTime>
  <Words>173</Words>
  <Application>Microsoft Office PowerPoint</Application>
  <PresentationFormat>宽屏</PresentationFormat>
  <Paragraphs>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等线</vt:lpstr>
      <vt:lpstr>等线 Light</vt:lpstr>
      <vt:lpstr>黑体</vt:lpstr>
      <vt:lpstr>思源黑体 CN Regular</vt:lpstr>
      <vt:lpstr>微软雅黑</vt:lpstr>
      <vt:lpstr>Arial</vt:lpstr>
      <vt:lpstr>Roboto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ZZM</dc:creator>
  <cp:lastModifiedBy>ZZM</cp:lastModifiedBy>
  <cp:revision>44</cp:revision>
  <dcterms:created xsi:type="dcterms:W3CDTF">2026-05-19T12:30:22Z</dcterms:created>
  <dcterms:modified xsi:type="dcterms:W3CDTF">2026-05-20T02:10:42Z</dcterms:modified>
</cp:coreProperties>
</file>