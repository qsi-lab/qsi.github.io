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: 圆角 28">
            <a:extLst>
              <a:ext uri="{FF2B5EF4-FFF2-40B4-BE49-F238E27FC236}">
                <a16:creationId xmlns:a16="http://schemas.microsoft.com/office/drawing/2014/main" id="{1D1157E4-444C-4DA4-AE11-9EBB005AFE19}"/>
              </a:ext>
            </a:extLst>
          </p:cNvPr>
          <p:cNvSpPr/>
          <p:nvPr/>
        </p:nvSpPr>
        <p:spPr>
          <a:xfrm>
            <a:off x="349885" y="1372870"/>
            <a:ext cx="11513185" cy="392430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111" name="bk object 19">
            <a:extLst>
              <a:ext uri="{FF2B5EF4-FFF2-40B4-BE49-F238E27FC236}">
                <a16:creationId xmlns:a16="http://schemas.microsoft.com/office/drawing/2014/main" id="{E9C7FABC-ABA8-4035-A3F7-3AC9D981A14B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2" name="bk object 18">
            <a:extLst>
              <a:ext uri="{FF2B5EF4-FFF2-40B4-BE49-F238E27FC236}">
                <a16:creationId xmlns:a16="http://schemas.microsoft.com/office/drawing/2014/main" id="{59C2F174-9E6C-41AF-995E-533C7D5DB734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C4A92C02-3769-4A2F-9B0E-8E15E57495A1}"/>
              </a:ext>
            </a:extLst>
          </p:cNvPr>
          <p:cNvSpPr txBox="1"/>
          <p:nvPr/>
        </p:nvSpPr>
        <p:spPr>
          <a:xfrm>
            <a:off x="1402916" y="115558"/>
            <a:ext cx="5073825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代表成果：服务器无感知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ETL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工作流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7BA08C9-7A76-4E0D-B400-5E828075BA0B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115" name="文本框 7">
            <a:extLst>
              <a:ext uri="{FF2B5EF4-FFF2-40B4-BE49-F238E27FC236}">
                <a16:creationId xmlns:a16="http://schemas.microsoft.com/office/drawing/2014/main" id="{0F3CD097-C155-472B-B0E0-85A542EEF4AC}"/>
              </a:ext>
            </a:extLst>
          </p:cNvPr>
          <p:cNvSpPr txBox="1"/>
          <p:nvPr/>
        </p:nvSpPr>
        <p:spPr>
          <a:xfrm>
            <a:off x="318135" y="1304925"/>
            <a:ext cx="115062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函数的通信 </a:t>
            </a:r>
            <a:r>
              <a:rPr lang="en-US" altLang="zh-CN" sz="2000" b="1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(</a:t>
            </a: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带宽</a:t>
            </a:r>
            <a:r>
              <a:rPr lang="en-US" altLang="zh-CN" sz="2000" b="1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) </a:t>
            </a: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与计算资源同比例配置</a:t>
            </a:r>
            <a:r>
              <a:rPr lang="en-US" altLang="zh-CN" sz="2000" b="1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, </a:t>
            </a: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但其敏感性是异构的。</a:t>
            </a:r>
            <a:r>
              <a:rPr lang="en-US" altLang="zh-CN" sz="2000" b="1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     I/O</a:t>
            </a: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密集型函数</a:t>
            </a:r>
            <a:r>
              <a:rPr lang="en-US" altLang="zh-CN" sz="2000" b="1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计算密集型函数</a:t>
            </a:r>
            <a:endParaRPr lang="zh-CN" altLang="en-US" sz="20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任意多边形: 形状 70">
            <a:extLst>
              <a:ext uri="{FF2B5EF4-FFF2-40B4-BE49-F238E27FC236}">
                <a16:creationId xmlns:a16="http://schemas.microsoft.com/office/drawing/2014/main" id="{877E2167-9932-4B60-A754-E7BD1A01CB0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94246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基于混合资源弹性的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通算分离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编排</a:t>
            </a:r>
          </a:p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7" name="文本框 19">
            <a:extLst>
              <a:ext uri="{FF2B5EF4-FFF2-40B4-BE49-F238E27FC236}">
                <a16:creationId xmlns:a16="http://schemas.microsoft.com/office/drawing/2014/main" id="{2C019D5E-4971-4EFD-A5CE-67FA5CAC30E3}"/>
              </a:ext>
            </a:extLst>
          </p:cNvPr>
          <p:cNvSpPr txBox="1"/>
          <p:nvPr/>
        </p:nvSpPr>
        <p:spPr>
          <a:xfrm>
            <a:off x="318134" y="6290258"/>
            <a:ext cx="1167203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altLang="zh-CN" sz="1400" dirty="0">
                <a:solidFill>
                  <a:prstClr val="black"/>
                </a:solidFill>
                <a:latin typeface="Arial"/>
                <a:ea typeface="黑体" panose="02010609060101010101" charset="-122"/>
              </a:rPr>
              <a:t>Exploiting Wide-Area Resource Elasticity With Fine-Grained Orchestration for Serverless Analytics, </a:t>
            </a:r>
            <a:r>
              <a:rPr lang="en-US" altLang="zh-CN" sz="1400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IEEE/ACM TON, 2025. CCF A </a:t>
            </a:r>
            <a:r>
              <a:rPr lang="zh-CN" altLang="en-US" sz="1400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期刊</a:t>
            </a:r>
          </a:p>
          <a:p>
            <a:pPr defTabSz="913765"/>
            <a:endParaRPr lang="zh-CN" altLang="en-US" sz="1400" dirty="0">
              <a:solidFill>
                <a:srgbClr val="FF0000"/>
              </a:solidFill>
              <a:latin typeface="Arial"/>
              <a:ea typeface="黑体" panose="02010609060101010101" charset="-122"/>
            </a:endParaRPr>
          </a:p>
          <a:p>
            <a:pPr defTabSz="913765"/>
            <a:endParaRPr lang="zh-CN" altLang="en-US" sz="1400" i="1" dirty="0">
              <a:solidFill>
                <a:srgbClr val="FF0000"/>
              </a:solidFill>
              <a:latin typeface="Arial"/>
              <a:ea typeface="黑体" panose="02010609060101010101" charset="-122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06134C0E-6897-4AE5-8A84-39FAD14C3326}"/>
              </a:ext>
            </a:extLst>
          </p:cNvPr>
          <p:cNvSpPr/>
          <p:nvPr/>
        </p:nvSpPr>
        <p:spPr>
          <a:xfrm>
            <a:off x="323215" y="5691505"/>
            <a:ext cx="11539855" cy="450850"/>
          </a:xfrm>
          <a:prstGeom prst="rect">
            <a:avLst/>
          </a:prstGeom>
          <a:solidFill>
            <a:srgbClr val="002A7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1D781B24-5811-4FE2-A3C1-AB58EC4E607E}"/>
              </a:ext>
            </a:extLst>
          </p:cNvPr>
          <p:cNvSpPr txBox="1"/>
          <p:nvPr/>
        </p:nvSpPr>
        <p:spPr>
          <a:xfrm>
            <a:off x="397334" y="5661859"/>
            <a:ext cx="11338482" cy="424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900" b="1" dirty="0">
                <a:solidFill>
                  <a:prstClr val="white"/>
                </a:solidFill>
                <a:latin typeface="微软雅黑"/>
                <a:ea typeface="微软雅黑"/>
                <a:cs typeface="黑体" panose="02010609060101010101" charset="-122"/>
                <a:sym typeface="+mn-ea"/>
              </a:rPr>
              <a:t>基于共享内存进行无缝通算解耦</a:t>
            </a:r>
            <a:r>
              <a:rPr lang="en-US" altLang="zh-CN" sz="1900" b="1" dirty="0">
                <a:solidFill>
                  <a:prstClr val="white"/>
                </a:solidFill>
                <a:latin typeface="微软雅黑"/>
                <a:ea typeface="微软雅黑"/>
                <a:cs typeface="黑体" panose="02010609060101010101" charset="-122"/>
                <a:sym typeface="+mn-ea"/>
              </a:rPr>
              <a:t>:</a:t>
            </a:r>
            <a:r>
              <a:rPr lang="zh-CN" altLang="en-US" sz="1900" b="1" dirty="0">
                <a:solidFill>
                  <a:prstClr val="white"/>
                </a:solidFill>
                <a:latin typeface="微软雅黑"/>
                <a:ea typeface="微软雅黑"/>
                <a:cs typeface="黑体" panose="02010609060101010101" charset="-122"/>
                <a:sym typeface="+mn-ea"/>
              </a:rPr>
              <a:t> </a:t>
            </a:r>
            <a:r>
              <a:rPr lang="zh-CN" altLang="en-US" sz="1900" b="1" dirty="0">
                <a:solidFill>
                  <a:prstClr val="white"/>
                </a:solidFill>
                <a:latin typeface="微软雅黑" panose="020B0503020204020204" charset="-122"/>
                <a:ea typeface="微软雅黑"/>
                <a:sym typeface="+mn-ea"/>
              </a:rPr>
              <a:t>引入专门的纯</a:t>
            </a:r>
            <a:r>
              <a:rPr lang="en-US" altLang="zh-CN" sz="1900" b="1" dirty="0">
                <a:solidFill>
                  <a:prstClr val="white"/>
                </a:solidFill>
                <a:latin typeface="微软雅黑" panose="020B0503020204020204" charset="-122"/>
                <a:ea typeface="微软雅黑"/>
                <a:sym typeface="+mn-ea"/>
              </a:rPr>
              <a:t>I/O</a:t>
            </a:r>
            <a:r>
              <a:rPr lang="zh-CN" altLang="en-US" sz="1900" b="1" dirty="0">
                <a:solidFill>
                  <a:prstClr val="white"/>
                </a:solidFill>
                <a:latin typeface="微软雅黑" panose="020B0503020204020204" charset="-122"/>
                <a:ea typeface="微软雅黑"/>
                <a:sym typeface="+mn-ea"/>
              </a:rPr>
              <a:t>函数将原始函数转化为纯计算函数</a:t>
            </a:r>
            <a:r>
              <a:rPr lang="en-US" altLang="zh-CN" sz="1900" b="1" dirty="0">
                <a:solidFill>
                  <a:prstClr val="white"/>
                </a:solidFill>
                <a:latin typeface="微软雅黑" panose="020B0503020204020204" charset="-122"/>
                <a:ea typeface="微软雅黑"/>
                <a:sym typeface="+mn-ea"/>
              </a:rPr>
              <a:t>, </a:t>
            </a:r>
            <a:r>
              <a:rPr lang="zh-CN" altLang="en-US" sz="1900" b="1" dirty="0">
                <a:solidFill>
                  <a:prstClr val="white"/>
                </a:solidFill>
                <a:latin typeface="微软雅黑" panose="020B0503020204020204" charset="-122"/>
                <a:ea typeface="微软雅黑"/>
                <a:sym typeface="+mn-ea"/>
              </a:rPr>
              <a:t>形成新型</a:t>
            </a:r>
            <a:r>
              <a:rPr lang="en-US" altLang="zh-CN" sz="1900" b="1" dirty="0" err="1">
                <a:solidFill>
                  <a:prstClr val="white"/>
                </a:solidFill>
                <a:latin typeface="微软雅黑" panose="020B0503020204020204" charset="-122"/>
                <a:ea typeface="微软雅黑"/>
                <a:sym typeface="+mn-ea"/>
              </a:rPr>
              <a:t>HyDAG</a:t>
            </a:r>
            <a:r>
              <a:rPr lang="zh-CN" altLang="en-US" sz="1900" b="1" dirty="0">
                <a:solidFill>
                  <a:prstClr val="white"/>
                </a:solidFill>
                <a:latin typeface="微软雅黑" panose="020B0503020204020204" charset="-122"/>
                <a:ea typeface="微软雅黑"/>
                <a:sym typeface="+mn-ea"/>
              </a:rPr>
              <a:t>。</a:t>
            </a:r>
            <a:endParaRPr lang="zh-CN" altLang="en-US" sz="1900" b="1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120" name="箭头: 下 119">
            <a:extLst>
              <a:ext uri="{FF2B5EF4-FFF2-40B4-BE49-F238E27FC236}">
                <a16:creationId xmlns:a16="http://schemas.microsoft.com/office/drawing/2014/main" id="{2195D605-74F4-4063-BED4-46CCB9AE10E8}"/>
              </a:ext>
            </a:extLst>
          </p:cNvPr>
          <p:cNvSpPr/>
          <p:nvPr/>
        </p:nvSpPr>
        <p:spPr>
          <a:xfrm rot="16200000">
            <a:off x="7685204" y="1430686"/>
            <a:ext cx="359924" cy="308843"/>
          </a:xfrm>
          <a:prstGeom prst="downArrow">
            <a:avLst>
              <a:gd name="adj1" fmla="val 43649"/>
              <a:gd name="adj2" fmla="val 46599"/>
            </a:avLst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21" name="图片 120">
            <a:extLst>
              <a:ext uri="{FF2B5EF4-FFF2-40B4-BE49-F238E27FC236}">
                <a16:creationId xmlns:a16="http://schemas.microsoft.com/office/drawing/2014/main" id="{7CB35FED-16CA-44C1-8693-085A05425D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788" t="22343"/>
          <a:stretch>
            <a:fillRect/>
          </a:stretch>
        </p:blipFill>
        <p:spPr>
          <a:xfrm>
            <a:off x="10123542" y="3990588"/>
            <a:ext cx="1300105" cy="1654261"/>
          </a:xfrm>
          <a:prstGeom prst="rect">
            <a:avLst/>
          </a:prstGeom>
        </p:spPr>
      </p:pic>
      <p:pic>
        <p:nvPicPr>
          <p:cNvPr id="122" name="图片 121">
            <a:extLst>
              <a:ext uri="{FF2B5EF4-FFF2-40B4-BE49-F238E27FC236}">
                <a16:creationId xmlns:a16="http://schemas.microsoft.com/office/drawing/2014/main" id="{111225BE-9E72-448D-89FC-205099B725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719" t="22343" r="38069"/>
          <a:stretch>
            <a:fillRect/>
          </a:stretch>
        </p:blipFill>
        <p:spPr>
          <a:xfrm>
            <a:off x="8150888" y="3989697"/>
            <a:ext cx="1300104" cy="1654261"/>
          </a:xfrm>
          <a:prstGeom prst="rect">
            <a:avLst/>
          </a:prstGeom>
        </p:spPr>
      </p:pic>
      <p:pic>
        <p:nvPicPr>
          <p:cNvPr id="123" name="图片 122">
            <a:extLst>
              <a:ext uri="{FF2B5EF4-FFF2-40B4-BE49-F238E27FC236}">
                <a16:creationId xmlns:a16="http://schemas.microsoft.com/office/drawing/2014/main" id="{351762A9-59EF-4CC2-8F0E-062287C7F1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343" r="72803"/>
          <a:stretch>
            <a:fillRect/>
          </a:stretch>
        </p:blipFill>
        <p:spPr>
          <a:xfrm>
            <a:off x="6737025" y="3995232"/>
            <a:ext cx="1132883" cy="1654262"/>
          </a:xfrm>
          <a:prstGeom prst="rect">
            <a:avLst/>
          </a:prstGeom>
        </p:spPr>
      </p:pic>
      <p:pic>
        <p:nvPicPr>
          <p:cNvPr id="124" name="图片 123">
            <a:extLst>
              <a:ext uri="{FF2B5EF4-FFF2-40B4-BE49-F238E27FC236}">
                <a16:creationId xmlns:a16="http://schemas.microsoft.com/office/drawing/2014/main" id="{87D298CE-E8CA-4BF4-8401-5264408DB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443" y="4045456"/>
            <a:ext cx="4341394" cy="1573956"/>
          </a:xfrm>
          <a:prstGeom prst="rect">
            <a:avLst/>
          </a:prstGeom>
        </p:spPr>
      </p:pic>
      <p:pic>
        <p:nvPicPr>
          <p:cNvPr id="125" name="图片 124">
            <a:extLst>
              <a:ext uri="{FF2B5EF4-FFF2-40B4-BE49-F238E27FC236}">
                <a16:creationId xmlns:a16="http://schemas.microsoft.com/office/drawing/2014/main" id="{900439E4-0722-42B7-82AB-D17B615DF3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27" t="5129" r="1201"/>
          <a:stretch>
            <a:fillRect/>
          </a:stretch>
        </p:blipFill>
        <p:spPr>
          <a:xfrm>
            <a:off x="660400" y="2840671"/>
            <a:ext cx="5362445" cy="1162177"/>
          </a:xfrm>
          <a:prstGeom prst="rect">
            <a:avLst/>
          </a:prstGeom>
        </p:spPr>
      </p:pic>
      <p:pic>
        <p:nvPicPr>
          <p:cNvPr id="126" name="图片 125">
            <a:extLst>
              <a:ext uri="{FF2B5EF4-FFF2-40B4-BE49-F238E27FC236}">
                <a16:creationId xmlns:a16="http://schemas.microsoft.com/office/drawing/2014/main" id="{8DF1C1D6-BA4D-48ED-A3D9-C53480E587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013" y="1889233"/>
            <a:ext cx="4252846" cy="1070916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:a16="http://schemas.microsoft.com/office/drawing/2014/main" id="{EA40EE9F-9143-4925-8CEF-A1F6972FE1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9789" y="1865132"/>
            <a:ext cx="4693712" cy="1819298"/>
          </a:xfrm>
          <a:prstGeom prst="rect">
            <a:avLst/>
          </a:prstGeom>
        </p:spPr>
      </p:pic>
      <p:sp>
        <p:nvSpPr>
          <p:cNvPr id="128" name="文本框 127">
            <a:extLst>
              <a:ext uri="{FF2B5EF4-FFF2-40B4-BE49-F238E27FC236}">
                <a16:creationId xmlns:a16="http://schemas.microsoft.com/office/drawing/2014/main" id="{B9F89FE3-5D98-4B7C-87FE-8DD10BDF79B1}"/>
              </a:ext>
            </a:extLst>
          </p:cNvPr>
          <p:cNvSpPr txBox="1"/>
          <p:nvPr/>
        </p:nvSpPr>
        <p:spPr>
          <a:xfrm>
            <a:off x="514334" y="1834569"/>
            <a:ext cx="248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prstClr val="black"/>
                </a:solidFill>
                <a:latin typeface="Arial"/>
                <a:ea typeface="微软雅黑"/>
              </a:rPr>
              <a:t>ETL</a:t>
            </a:r>
            <a:r>
              <a:rPr lang="zh-CN" altLang="en-US" sz="1600" b="1" dirty="0">
                <a:solidFill>
                  <a:prstClr val="black"/>
                </a:solidFill>
                <a:latin typeface="Arial"/>
                <a:ea typeface="微软雅黑"/>
              </a:rPr>
              <a:t>工作流及函数执行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74968218-7693-4F74-B20C-C31133EE880E}"/>
              </a:ext>
            </a:extLst>
          </p:cNvPr>
          <p:cNvSpPr txBox="1"/>
          <p:nvPr/>
        </p:nvSpPr>
        <p:spPr>
          <a:xfrm>
            <a:off x="7364088" y="3666204"/>
            <a:ext cx="33117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prstClr val="black"/>
                </a:solidFill>
                <a:latin typeface="Arial"/>
                <a:ea typeface="微软雅黑"/>
              </a:rPr>
              <a:t>混合资源</a:t>
            </a:r>
            <a:r>
              <a:rPr lang="en-US" altLang="zh-CN" sz="1600" b="1">
                <a:solidFill>
                  <a:prstClr val="black"/>
                </a:solidFill>
                <a:latin typeface="Arial"/>
                <a:ea typeface="微软雅黑"/>
              </a:rPr>
              <a:t>(</a:t>
            </a:r>
            <a:r>
              <a:rPr lang="zh-CN" altLang="en-US" sz="1600" b="1">
                <a:solidFill>
                  <a:prstClr val="black"/>
                </a:solidFill>
                <a:latin typeface="Arial"/>
                <a:ea typeface="微软雅黑"/>
              </a:rPr>
              <a:t>通信</a:t>
            </a:r>
            <a:r>
              <a:rPr lang="en-US" altLang="zh-CN" sz="1600" b="1">
                <a:solidFill>
                  <a:prstClr val="black"/>
                </a:solidFill>
                <a:latin typeface="Arial"/>
                <a:ea typeface="微软雅黑"/>
              </a:rPr>
              <a:t>/</a:t>
            </a:r>
            <a:r>
              <a:rPr lang="zh-CN" altLang="en-US" sz="1600" b="1">
                <a:solidFill>
                  <a:prstClr val="black"/>
                </a:solidFill>
                <a:latin typeface="Arial"/>
                <a:ea typeface="微软雅黑"/>
              </a:rPr>
              <a:t>计算</a:t>
            </a:r>
            <a:r>
              <a:rPr lang="en-US" altLang="zh-CN" sz="1600" b="1">
                <a:solidFill>
                  <a:prstClr val="black"/>
                </a:solidFill>
                <a:latin typeface="Arial"/>
                <a:ea typeface="微软雅黑"/>
              </a:rPr>
              <a:t>)</a:t>
            </a:r>
            <a:r>
              <a:rPr lang="zh-CN" altLang="en-US" sz="1600" b="1">
                <a:solidFill>
                  <a:prstClr val="black"/>
                </a:solidFill>
                <a:latin typeface="Arial"/>
                <a:ea typeface="微软雅黑"/>
              </a:rPr>
              <a:t>的异构敏感性</a:t>
            </a:r>
          </a:p>
        </p:txBody>
      </p:sp>
      <p:sp>
        <p:nvSpPr>
          <p:cNvPr id="130" name="箭头: 下 129">
            <a:extLst>
              <a:ext uri="{FF2B5EF4-FFF2-40B4-BE49-F238E27FC236}">
                <a16:creationId xmlns:a16="http://schemas.microsoft.com/office/drawing/2014/main" id="{575462A9-2436-4FB1-B325-F746B454E29C}"/>
              </a:ext>
            </a:extLst>
          </p:cNvPr>
          <p:cNvSpPr/>
          <p:nvPr/>
        </p:nvSpPr>
        <p:spPr>
          <a:xfrm>
            <a:off x="2733472" y="2960149"/>
            <a:ext cx="359924" cy="142912"/>
          </a:xfrm>
          <a:prstGeom prst="downArrow">
            <a:avLst>
              <a:gd name="adj1" fmla="val 43649"/>
              <a:gd name="adj2" fmla="val 56879"/>
            </a:avLst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81A59C15-6E43-4E0F-86F7-8165119A15AA}"/>
              </a:ext>
            </a:extLst>
          </p:cNvPr>
          <p:cNvSpPr txBox="1"/>
          <p:nvPr/>
        </p:nvSpPr>
        <p:spPr>
          <a:xfrm>
            <a:off x="4206775" y="1913442"/>
            <a:ext cx="1889225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带宽由计算资源配置决定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1AEBE862-25DC-4BE8-BE12-66A0C42EAA6C}"/>
              </a:ext>
            </a:extLst>
          </p:cNvPr>
          <p:cNvSpPr txBox="1"/>
          <p:nvPr/>
        </p:nvSpPr>
        <p:spPr>
          <a:xfrm>
            <a:off x="7376022" y="2431307"/>
            <a:ext cx="1199472" cy="276999"/>
          </a:xfrm>
          <a:prstGeom prst="rect">
            <a:avLst/>
          </a:prstGeom>
          <a:pattFill prst="pct5">
            <a:fgClr>
              <a:srgbClr val="4874CB"/>
            </a:fgClr>
            <a:bgClr>
              <a:sysClr val="window" lastClr="FFFFFF"/>
            </a:bgClr>
          </a:pattFill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I/O</a:t>
            </a: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密集型函数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5F689D34-79A4-4B4F-A4FB-F268C2F649E8}"/>
              </a:ext>
            </a:extLst>
          </p:cNvPr>
          <p:cNvSpPr txBox="1"/>
          <p:nvPr/>
        </p:nvSpPr>
        <p:spPr>
          <a:xfrm>
            <a:off x="9916160" y="2445619"/>
            <a:ext cx="1267320" cy="276999"/>
          </a:xfrm>
          <a:prstGeom prst="rect">
            <a:avLst/>
          </a:prstGeom>
          <a:pattFill prst="pct5">
            <a:fgClr>
              <a:srgbClr val="4874CB"/>
            </a:fgClr>
            <a:bgClr>
              <a:sysClr val="window" lastClr="FFFFFF"/>
            </a:bgClr>
          </a:pattFill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计算密集型函数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A36E61AF-6583-4B7A-AF13-D31DEDDABD06}"/>
              </a:ext>
            </a:extLst>
          </p:cNvPr>
          <p:cNvSpPr txBox="1"/>
          <p:nvPr/>
        </p:nvSpPr>
        <p:spPr>
          <a:xfrm>
            <a:off x="768350" y="4526286"/>
            <a:ext cx="259452" cy="10156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纯计算函数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EBBC1F24-B392-41EA-BCE8-441F9F5534CA}"/>
              </a:ext>
            </a:extLst>
          </p:cNvPr>
          <p:cNvSpPr txBox="1"/>
          <p:nvPr/>
        </p:nvSpPr>
        <p:spPr>
          <a:xfrm>
            <a:off x="2788952" y="4606256"/>
            <a:ext cx="896193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纯</a:t>
            </a:r>
            <a:r>
              <a:rPr lang="en-US" altLang="zh-CN" sz="1200" b="1">
                <a:solidFill>
                  <a:srgbClr val="FF0000"/>
                </a:solidFill>
                <a:latin typeface="微软雅黑"/>
                <a:ea typeface="微软雅黑"/>
              </a:rPr>
              <a:t>I/O</a:t>
            </a:r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函数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3F52EEF2-316C-4CAA-8E61-AE4DA0A5A961}"/>
              </a:ext>
            </a:extLst>
          </p:cNvPr>
          <p:cNvCxnSpPr>
            <a:stCxn id="134" idx="3"/>
          </p:cNvCxnSpPr>
          <p:nvPr/>
        </p:nvCxnSpPr>
        <p:spPr>
          <a:xfrm flipV="1">
            <a:off x="1027802" y="4609063"/>
            <a:ext cx="257887" cy="425055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AC324029-B183-4FED-A751-20243EB64DAC}"/>
              </a:ext>
            </a:extLst>
          </p:cNvPr>
          <p:cNvCxnSpPr>
            <a:stCxn id="135" idx="1"/>
          </p:cNvCxnSpPr>
          <p:nvPr/>
        </p:nvCxnSpPr>
        <p:spPr>
          <a:xfrm flipH="1" flipV="1">
            <a:off x="2499360" y="4613958"/>
            <a:ext cx="289592" cy="130798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D73F3787-97C3-40A9-884C-69839A2E2F2A}"/>
              </a:ext>
            </a:extLst>
          </p:cNvPr>
          <p:cNvCxnSpPr>
            <a:stCxn id="135" idx="3"/>
          </p:cNvCxnSpPr>
          <p:nvPr/>
        </p:nvCxnSpPr>
        <p:spPr>
          <a:xfrm flipV="1">
            <a:off x="3685145" y="4606098"/>
            <a:ext cx="257887" cy="138658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EB39A569-92FA-4483-8527-5D091CD2562E}"/>
              </a:ext>
            </a:extLst>
          </p:cNvPr>
          <p:cNvSpPr txBox="1"/>
          <p:nvPr/>
        </p:nvSpPr>
        <p:spPr>
          <a:xfrm>
            <a:off x="5423818" y="4320823"/>
            <a:ext cx="8127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prstClr val="black"/>
                </a:solidFill>
                <a:latin typeface="Arial"/>
                <a:ea typeface="微软雅黑"/>
              </a:rPr>
              <a:t>基于共享内存的通算解耦</a:t>
            </a:r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1CF77375-27E1-461B-9E07-65D648962C5D}"/>
              </a:ext>
            </a:extLst>
          </p:cNvPr>
          <p:cNvCxnSpPr/>
          <p:nvPr/>
        </p:nvCxnSpPr>
        <p:spPr>
          <a:xfrm flipV="1">
            <a:off x="548640" y="3993612"/>
            <a:ext cx="11163069" cy="9450"/>
          </a:xfrm>
          <a:prstGeom prst="line">
            <a:avLst/>
          </a:prstGeom>
          <a:noFill/>
          <a:ln w="25400" cap="flat" cmpd="sng" algn="ctr">
            <a:solidFill>
              <a:srgbClr val="4874CB"/>
            </a:solidFill>
            <a:prstDash val="sysDash"/>
            <a:miter lim="800000"/>
          </a:ln>
          <a:effectLst/>
        </p:spPr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3C9FFC10-F1BA-4422-BD8B-7434D87123DF}"/>
              </a:ext>
            </a:extLst>
          </p:cNvPr>
          <p:cNvSpPr txBox="1"/>
          <p:nvPr/>
        </p:nvSpPr>
        <p:spPr>
          <a:xfrm>
            <a:off x="9319261" y="4703774"/>
            <a:ext cx="955652" cy="338554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HyDAG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B0AC9407-6D6F-4885-9898-3769E07B2DCD}"/>
              </a:ext>
            </a:extLst>
          </p:cNvPr>
          <p:cNvCxnSpPr/>
          <p:nvPr/>
        </p:nvCxnSpPr>
        <p:spPr>
          <a:xfrm>
            <a:off x="8092440" y="4450027"/>
            <a:ext cx="0" cy="905746"/>
          </a:xfrm>
          <a:prstGeom prst="line">
            <a:avLst/>
          </a:prstGeom>
          <a:noFill/>
          <a:ln w="1587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miter lim="800000"/>
          </a:ln>
          <a:effectLst/>
        </p:spPr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BDFCB926-7E87-41EF-89CD-C318C5F93BBF}"/>
              </a:ext>
            </a:extLst>
          </p:cNvPr>
          <p:cNvSpPr txBox="1"/>
          <p:nvPr/>
        </p:nvSpPr>
        <p:spPr>
          <a:xfrm>
            <a:off x="6411047" y="4665134"/>
            <a:ext cx="651881" cy="338554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DAG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149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5</cp:revision>
  <dcterms:created xsi:type="dcterms:W3CDTF">2026-05-19T12:30:22Z</dcterms:created>
  <dcterms:modified xsi:type="dcterms:W3CDTF">2026-05-19T12:41:59Z</dcterms:modified>
</cp:coreProperties>
</file>