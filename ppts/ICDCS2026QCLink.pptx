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00" d="100"/>
          <a:sy n="100" d="100"/>
        </p:scale>
        <p:origin x="45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405969-857F-4959-876C-4AC174078F2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5724217-0C20-4D7E-AF88-2A8262F1DC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6C011AC-826D-4D77-8F87-446F7D00B5C5}"/>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CF74BA6-7437-40F5-BF1E-40176C097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DDE782-9F59-4CB0-96F2-713D80C8F8CC}"/>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345399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0837-E839-4F25-A110-13BCF5A1E7A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C4360D6-314B-4CA8-ABBB-5E4E4DB2872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2497055-ABC9-4E3D-9D9B-AF54AD514383}"/>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FF4DBBF-9F69-48DA-B744-19287AFD15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EA34C5-8BCD-480D-9DBB-94D4DB75D369}"/>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86090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B32C89-1BEF-4372-8747-16A704C7473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7F26452-F6AC-4F34-B18D-B7A76EC11D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69BB4810-74CB-4ECD-BEB3-1078CA0E2131}"/>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AA58801F-9CD9-4733-8D81-56BCC53C89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6EB79F-E23B-4732-B063-F48152B5E273}"/>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25724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3D9273-FE92-479A-8339-CE868D6850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0965DA-72F6-4EE9-95B3-4948C768D60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4A97795-F3E8-4510-9FC7-21DFB498E5A8}"/>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62B348F-4A7A-4602-879E-67F1D0E6A33F}"/>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7A5EF639-0907-4FF6-97C3-E294E024B7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8B9471-6918-417D-AE16-EC3CAE4B78D2}"/>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1678431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26986D-2266-421C-994B-EC19CED1CC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F569F84-333E-45EA-9341-BBA957D660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C0010DE-D72C-4355-99F5-BFD42ABE947E}"/>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1688286-1562-4832-97A5-9EC055C5EF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7016189-C0C8-4EB1-9A2C-D83DCC20424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1C78DF9-43B1-49E8-AA98-BEAB4D165B84}"/>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4C83742D-7417-4732-A7C0-7C10C904D6D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B196843-7856-4531-B527-CC752487A69B}"/>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669307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BA13D-92E0-4203-B38B-A8C69EA54C0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9D57C69-C0B6-4FE1-8CB8-6B611D77D0FB}"/>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EA40A965-1D9C-4AF6-AF5D-01BA5FDFDE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C2B82C8-DB24-40AE-B75F-341873CF7045}"/>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210126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B334CF-2B32-4AEA-84AE-46230AF95312}"/>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41770DDA-2D46-42F5-B6A9-5AFC6EF376F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762F03D-7DA9-492D-8F94-72AE4FA92131}"/>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587136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46093A-ED7E-4757-B9F4-14A6E79F419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4D19B68-4BD5-483C-A571-0E77BFDE1B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E3B62867-0A7A-4159-828A-F54462722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9C7B0D3-DF1B-4854-939E-CEA82BA04404}"/>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092891B9-7AE7-4033-ABF3-06C0106659B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77E58D-C106-46FE-8476-B37AAE9DE7E1}"/>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4252370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80EDC-05D3-4CCF-BF75-424A7A3951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090CA33-87F7-4A6F-831C-35E1454A1D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A9E82BA-9579-4CB7-A150-90D066FBA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5C9A9D4-B84E-406E-AC5B-34E09E696A87}"/>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1FCC7D52-F513-40FD-8293-A18D2E35CE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1C79DE-EB15-425E-A265-E24463E767F9}"/>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436874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EF0B44-86FF-4835-A086-5367F343BB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83615F-CA5C-478B-BBED-6CC8DA68FDC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476265F-F40F-4A59-B5E6-968FA32AD2E2}"/>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9092EEEB-11BD-4DDA-9E94-4884B17471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81AF02-E235-4A3A-8BEE-F778A324CC83}"/>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716749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CF36A1-9857-45A2-B90D-ECC1CAA7344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2E1D74-24BF-4D2A-8701-9A8D57FD187A}"/>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BFAD710-D439-426E-BE2E-B1BDDE11AFC9}"/>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297FB8C1-C3F9-4579-A7C6-E07669EDBF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C43394-8EF5-4940-8C44-10823BC7C58A}"/>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70616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BE6A440-C754-4513-B077-47F837A872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8CA14CA-BAA6-45A0-9D78-B7F9FF3C3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31924D9-D413-4BC5-9385-1D60D51730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83B7C0F-EAD4-45D9-B9B8-4830677301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62F70E-F3D1-4158-9806-609CA9301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129592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bk object 19">
            <a:extLst>
              <a:ext uri="{FF2B5EF4-FFF2-40B4-BE49-F238E27FC236}">
                <a16:creationId xmlns:a16="http://schemas.microsoft.com/office/drawing/2014/main" id="{8BBA3F84-79FD-40A5-AE69-8EA1759A14CD}"/>
              </a:ext>
            </a:extLst>
          </p:cNvPr>
          <p:cNvSpPr/>
          <p:nvPr/>
        </p:nvSpPr>
        <p:spPr>
          <a:xfrm>
            <a:off x="0" y="764479"/>
            <a:ext cx="12192000" cy="25401"/>
          </a:xfrm>
          <a:prstGeom prst="rect">
            <a:avLst/>
          </a:prstGeom>
          <a:blipFill>
            <a:blip r:embed="rId3"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bk object 18">
            <a:extLst>
              <a:ext uri="{FF2B5EF4-FFF2-40B4-BE49-F238E27FC236}">
                <a16:creationId xmlns:a16="http://schemas.microsoft.com/office/drawing/2014/main" id="{9F2D89E1-D2B1-4243-BB04-210DDAA30098}"/>
              </a:ext>
            </a:extLst>
          </p:cNvPr>
          <p:cNvSpPr/>
          <p:nvPr/>
        </p:nvSpPr>
        <p:spPr>
          <a:xfrm>
            <a:off x="493795" y="0"/>
            <a:ext cx="695325" cy="692785"/>
          </a:xfrm>
          <a:custGeom>
            <a:avLst/>
            <a:gdLst/>
            <a:ahLst/>
            <a:cxnLst/>
            <a:rect l="l" t="t" r="r" b="b"/>
            <a:pathLst>
              <a:path w="695325" h="692785">
                <a:moveTo>
                  <a:pt x="694860" y="0"/>
                </a:moveTo>
                <a:lnTo>
                  <a:pt x="0" y="0"/>
                </a:lnTo>
                <a:lnTo>
                  <a:pt x="0" y="576648"/>
                </a:lnTo>
                <a:lnTo>
                  <a:pt x="9101" y="621727"/>
                </a:lnTo>
                <a:lnTo>
                  <a:pt x="33920" y="658540"/>
                </a:lnTo>
                <a:lnTo>
                  <a:pt x="70733" y="683359"/>
                </a:lnTo>
                <a:lnTo>
                  <a:pt x="115812" y="692461"/>
                </a:lnTo>
                <a:lnTo>
                  <a:pt x="579048" y="692461"/>
                </a:lnTo>
                <a:lnTo>
                  <a:pt x="624127" y="683359"/>
                </a:lnTo>
                <a:lnTo>
                  <a:pt x="660940" y="658540"/>
                </a:lnTo>
                <a:lnTo>
                  <a:pt x="685759" y="621727"/>
                </a:lnTo>
                <a:lnTo>
                  <a:pt x="694860" y="576648"/>
                </a:lnTo>
                <a:lnTo>
                  <a:pt x="694860" y="0"/>
                </a:lnTo>
                <a:close/>
              </a:path>
            </a:pathLst>
          </a:custGeom>
          <a:solidFill>
            <a:srgbClr val="002A7E"/>
          </a:solidFill>
        </p:spPr>
        <p:txBody>
          <a:bodyPr wrap="square" lIns="0" tIns="0" rIns="0" bIns="0" rtlCol="0"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rPr>
              <a:t>二</a:t>
            </a:r>
            <a:endParaRPr sz="2800" b="1"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文本框 87">
            <a:extLst>
              <a:ext uri="{FF2B5EF4-FFF2-40B4-BE49-F238E27FC236}">
                <a16:creationId xmlns:a16="http://schemas.microsoft.com/office/drawing/2014/main" id="{7FF615D4-B652-4EAA-86CE-8644975ED6D4}"/>
              </a:ext>
            </a:extLst>
          </p:cNvPr>
          <p:cNvSpPr txBox="1"/>
          <p:nvPr/>
        </p:nvSpPr>
        <p:spPr>
          <a:xfrm>
            <a:off x="1402916" y="115558"/>
            <a:ext cx="5724644" cy="461665"/>
          </a:xfrm>
          <a:prstGeom prst="rect">
            <a:avLst/>
          </a:prstGeom>
          <a:noFill/>
        </p:spPr>
        <p:txBody>
          <a:bodyPr wrap="none" rtlCol="0" anchor="ctr" anchorCtr="0">
            <a:spAutoFit/>
          </a:bodyPr>
          <a:lstStyle/>
          <a:p>
            <a:r>
              <a:rPr lang="zh-CN" altLang="en-US" sz="2400" b="1"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rPr>
              <a:t>代表成果：多形态计算卸载与</a:t>
            </a:r>
            <a:r>
              <a:rPr lang="zh-CN" altLang="en-US" sz="2400" b="1" kern="100" dirty="0">
                <a:solidFill>
                  <a:prstClr val="black"/>
                </a:solidFill>
                <a:latin typeface="Arial"/>
                <a:ea typeface="微软雅黑"/>
                <a:cs typeface="+mn-ea"/>
                <a:sym typeface="+mn-ea"/>
              </a:rPr>
              <a:t>架构级优化</a:t>
            </a:r>
            <a:endParaRPr lang="zh-CN" altLang="en-US" sz="2400" b="1"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文本框 4">
            <a:extLst>
              <a:ext uri="{FF2B5EF4-FFF2-40B4-BE49-F238E27FC236}">
                <a16:creationId xmlns:a16="http://schemas.microsoft.com/office/drawing/2014/main" id="{8183EF7F-473D-4062-B104-23BDA96472FC}"/>
              </a:ext>
            </a:extLst>
          </p:cNvPr>
          <p:cNvSpPr txBox="1"/>
          <p:nvPr/>
        </p:nvSpPr>
        <p:spPr>
          <a:xfrm>
            <a:off x="11304801" y="267633"/>
            <a:ext cx="786808" cy="369332"/>
          </a:xfrm>
          <a:prstGeom prst="rect">
            <a:avLst/>
          </a:prstGeom>
          <a:noFill/>
        </p:spPr>
        <p:txBody>
          <a:bodyPr wrap="square">
            <a:spAutoFit/>
          </a:bodyPr>
          <a:lstStyle/>
          <a:p>
            <a:fld id="{F5304E13-479D-BD4F-B4A7-78935B937A33}" type="slidenum">
              <a:rPr kumimoji="1" lang="zh-CN" altLang="en-US" smtClean="0">
                <a:solidFill>
                  <a:prstClr val="black"/>
                </a:solidFill>
                <a:latin typeface="Arial"/>
                <a:ea typeface="微软雅黑"/>
              </a:rPr>
              <a:pPr/>
              <a:t>1</a:t>
            </a:fld>
            <a:endParaRPr lang="en-US" dirty="0">
              <a:solidFill>
                <a:prstClr val="black"/>
              </a:solidFill>
              <a:latin typeface="Arial"/>
              <a:ea typeface="微软雅黑"/>
            </a:endParaRPr>
          </a:p>
        </p:txBody>
      </p:sp>
      <p:sp>
        <p:nvSpPr>
          <p:cNvPr id="90" name="矩形: 圆角 28">
            <a:extLst>
              <a:ext uri="{FF2B5EF4-FFF2-40B4-BE49-F238E27FC236}">
                <a16:creationId xmlns:a16="http://schemas.microsoft.com/office/drawing/2014/main" id="{1073C24F-5ACB-452B-BB09-581E501A5BAE}"/>
              </a:ext>
            </a:extLst>
          </p:cNvPr>
          <p:cNvSpPr/>
          <p:nvPr/>
        </p:nvSpPr>
        <p:spPr>
          <a:xfrm>
            <a:off x="345874" y="1432180"/>
            <a:ext cx="11512931" cy="956829"/>
          </a:xfrm>
          <a:prstGeom prst="roundRect">
            <a:avLst>
              <a:gd name="adj" fmla="val 3558"/>
            </a:avLst>
          </a:prstGeom>
          <a:solidFill>
            <a:sysClr val="window" lastClr="FFFFFF"/>
          </a:solidFill>
          <a:ln w="6350" cap="flat" cmpd="sng" algn="ctr">
            <a:solidFill>
              <a:srgbClr val="003399">
                <a:alpha val="28000"/>
              </a:srgbClr>
            </a:solidFill>
            <a:prstDash val="solid"/>
            <a:miter lim="800000"/>
          </a:ln>
          <a:effectLst>
            <a:outerShdw blurRad="203200" dist="88900" dir="5400000" sx="96000" sy="96000" algn="t" rotWithShape="0">
              <a:srgbClr val="003399">
                <a:alpha val="23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Roboto"/>
              <a:ea typeface="思源黑体 CN Regular"/>
              <a:cs typeface="+mn-cs"/>
            </a:endParaRPr>
          </a:p>
        </p:txBody>
      </p:sp>
      <p:sp>
        <p:nvSpPr>
          <p:cNvPr id="91" name="文本框 7">
            <a:extLst>
              <a:ext uri="{FF2B5EF4-FFF2-40B4-BE49-F238E27FC236}">
                <a16:creationId xmlns:a16="http://schemas.microsoft.com/office/drawing/2014/main" id="{8BF2015E-E9BF-4F86-BE87-E2490B17C8F4}"/>
              </a:ext>
            </a:extLst>
          </p:cNvPr>
          <p:cNvSpPr txBox="1"/>
          <p:nvPr/>
        </p:nvSpPr>
        <p:spPr>
          <a:xfrm>
            <a:off x="522339" y="1510773"/>
            <a:ext cx="11160000" cy="799193"/>
          </a:xfrm>
          <a:prstGeom prst="rect">
            <a:avLst/>
          </a:prstGeom>
          <a:noFill/>
        </p:spPr>
        <p:txBody>
          <a:bodyPr wrap="square">
            <a:spAutoFit/>
          </a:bodyPr>
          <a:lstStyle>
            <a:defPPr>
              <a:defRPr lang="en-US"/>
            </a:defPPr>
            <a:lvl1pPr marL="342900" indent="-342900">
              <a:buFont typeface="Wingdings" panose="05000000000000000000" pitchFamily="2" charset="2"/>
              <a:buChar char="Ø"/>
              <a:defRPr sz="2000" b="1">
                <a:solidFill>
                  <a:srgbClr val="2E8DBB"/>
                </a:solidFill>
                <a:latin typeface="微软雅黑" panose="020B0503020204020204" pitchFamily="34" charset="-122"/>
                <a:ea typeface="微软雅黑" panose="020B0503020204020204" pitchFamily="34" charset="-122"/>
              </a:defRPr>
            </a:lvl1pPr>
          </a:lstStyle>
          <a:p>
            <a:pPr marL="0" lvl="1">
              <a:lnSpc>
                <a:spcPct val="120000"/>
              </a:lnSpc>
              <a:spcBef>
                <a:spcPct val="0"/>
              </a:spcBef>
              <a:buSzPct val="95000"/>
              <a:defRPr/>
            </a:pPr>
            <a:r>
              <a:rPr lang="zh-CN" altLang="en-US" sz="2000" b="1" dirty="0">
                <a:solidFill>
                  <a:srgbClr val="04418A"/>
                </a:solidFill>
                <a:latin typeface="微软雅黑" panose="020B0503020204020204" pitchFamily="34" charset="-122"/>
                <a:ea typeface="微软雅黑" panose="020B0503020204020204" pitchFamily="34" charset="-122"/>
              </a:rPr>
              <a:t>通过将</a:t>
            </a:r>
            <a:r>
              <a:rPr lang="zh-CN" altLang="en-US" sz="2000" b="1" dirty="0">
                <a:solidFill>
                  <a:srgbClr val="C00000"/>
                </a:solidFill>
                <a:latin typeface="微软雅黑" panose="020B0503020204020204" pitchFamily="34" charset="-122"/>
                <a:ea typeface="微软雅黑" panose="020B0503020204020204" pitchFamily="34" charset="-122"/>
              </a:rPr>
              <a:t>量子</a:t>
            </a:r>
            <a:r>
              <a:rPr lang="en-US" altLang="zh-CN" sz="2000" b="1" dirty="0">
                <a:solidFill>
                  <a:srgbClr val="C00000"/>
                </a:solidFill>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经典混合算法</a:t>
            </a:r>
            <a:r>
              <a:rPr lang="zh-CN" altLang="en-US" sz="2000" b="1" dirty="0">
                <a:solidFill>
                  <a:srgbClr val="04418A"/>
                </a:solidFill>
                <a:latin typeface="微软雅黑" panose="020B0503020204020204" pitchFamily="34" charset="-122"/>
                <a:ea typeface="微软雅黑" panose="020B0503020204020204" pitchFamily="34" charset="-122"/>
              </a:rPr>
              <a:t>的经典迭代逻辑</a:t>
            </a:r>
            <a:r>
              <a:rPr lang="zh-CN" altLang="en-US" sz="2000" b="1" dirty="0">
                <a:solidFill>
                  <a:srgbClr val="C00000"/>
                </a:solidFill>
                <a:latin typeface="微软雅黑" panose="020B0503020204020204" pitchFamily="34" charset="-122"/>
                <a:ea typeface="微软雅黑" panose="020B0503020204020204" pitchFamily="34" charset="-122"/>
              </a:rPr>
              <a:t>卸载到 </a:t>
            </a:r>
            <a:r>
              <a:rPr lang="en-US" sz="2000" b="1" dirty="0" err="1">
                <a:solidFill>
                  <a:srgbClr val="C00000"/>
                </a:solidFill>
                <a:latin typeface="微软雅黑" panose="020B0503020204020204" pitchFamily="34" charset="-122"/>
                <a:ea typeface="微软雅黑" panose="020B0503020204020204" pitchFamily="34" charset="-122"/>
              </a:rPr>
              <a:t>SmartNIC</a:t>
            </a:r>
            <a:r>
              <a:rPr lang="en-US" sz="2000" dirty="0">
                <a:solidFill>
                  <a:prstClr val="black"/>
                </a:solidFill>
                <a:latin typeface="微软雅黑" panose="020B0503020204020204" pitchFamily="34" charset="-122"/>
                <a:ea typeface="微软雅黑" panose="020B0503020204020204" pitchFamily="34" charset="-122"/>
              </a:rPr>
              <a:t> </a:t>
            </a:r>
            <a:r>
              <a:rPr lang="zh-CN" altLang="en-US" sz="2000" b="1" dirty="0">
                <a:solidFill>
                  <a:srgbClr val="04418A"/>
                </a:solidFill>
                <a:latin typeface="微软雅黑" panose="020B0503020204020204" pitchFamily="34" charset="-122"/>
                <a:ea typeface="微软雅黑" panose="020B0503020204020204" pitchFamily="34" charset="-122"/>
              </a:rPr>
              <a:t>数据面，并利用 </a:t>
            </a:r>
            <a:r>
              <a:rPr lang="en-US" sz="2000" b="1" dirty="0">
                <a:solidFill>
                  <a:srgbClr val="04418A"/>
                </a:solidFill>
                <a:latin typeface="微软雅黑" panose="020B0503020204020204" pitchFamily="34" charset="-122"/>
                <a:ea typeface="微软雅黑" panose="020B0503020204020204" pitchFamily="34" charset="-122"/>
              </a:rPr>
              <a:t>RDMA </a:t>
            </a:r>
            <a:r>
              <a:rPr lang="zh-CN" altLang="en-US" sz="2000" b="1" dirty="0">
                <a:solidFill>
                  <a:srgbClr val="04418A"/>
                </a:solidFill>
                <a:latin typeface="微软雅黑" panose="020B0503020204020204" pitchFamily="34" charset="-122"/>
                <a:ea typeface="微软雅黑" panose="020B0503020204020204" pitchFamily="34" charset="-122"/>
              </a:rPr>
              <a:t>实现</a:t>
            </a:r>
            <a:r>
              <a:rPr lang="zh-CN" altLang="en-US" sz="2000" b="1" dirty="0">
                <a:solidFill>
                  <a:srgbClr val="C00000"/>
                </a:solidFill>
                <a:latin typeface="微软雅黑" panose="020B0503020204020204" pitchFamily="34" charset="-122"/>
                <a:ea typeface="微软雅黑" panose="020B0503020204020204" pitchFamily="34" charset="-122"/>
              </a:rPr>
              <a:t>旁路 </a:t>
            </a:r>
            <a:r>
              <a:rPr lang="en-US" sz="2000" b="1" dirty="0">
                <a:solidFill>
                  <a:srgbClr val="C00000"/>
                </a:solidFill>
                <a:latin typeface="微软雅黑" panose="020B0503020204020204" pitchFamily="34" charset="-122"/>
                <a:ea typeface="微软雅黑" panose="020B0503020204020204" pitchFamily="34" charset="-122"/>
              </a:rPr>
              <a:t>CPU </a:t>
            </a:r>
            <a:r>
              <a:rPr lang="zh-CN" altLang="en-US" sz="2000" b="1" dirty="0">
                <a:solidFill>
                  <a:srgbClr val="C00000"/>
                </a:solidFill>
                <a:latin typeface="微软雅黑" panose="020B0503020204020204" pitchFamily="34" charset="-122"/>
                <a:ea typeface="微软雅黑" panose="020B0503020204020204" pitchFamily="34" charset="-122"/>
              </a:rPr>
              <a:t>的低延迟通信</a:t>
            </a:r>
            <a:r>
              <a:rPr lang="zh-CN" altLang="en-US" sz="2000" b="1" dirty="0">
                <a:solidFill>
                  <a:srgbClr val="04418A"/>
                </a:solidFill>
                <a:latin typeface="微软雅黑" panose="020B0503020204020204" pitchFamily="34" charset="-122"/>
                <a:ea typeface="微软雅黑" panose="020B0503020204020204" pitchFamily="34" charset="-122"/>
              </a:rPr>
              <a:t>，消除主机协议栈瓶颈以显著提升量子计算任务的端到端效率与系统扩展性。</a:t>
            </a:r>
          </a:p>
        </p:txBody>
      </p:sp>
      <p:sp>
        <p:nvSpPr>
          <p:cNvPr id="92" name="文本框 20">
            <a:extLst>
              <a:ext uri="{FF2B5EF4-FFF2-40B4-BE49-F238E27FC236}">
                <a16:creationId xmlns:a16="http://schemas.microsoft.com/office/drawing/2014/main" id="{7295D4DE-5100-4448-994A-DB8F254853EC}"/>
              </a:ext>
            </a:extLst>
          </p:cNvPr>
          <p:cNvSpPr txBox="1"/>
          <p:nvPr/>
        </p:nvSpPr>
        <p:spPr>
          <a:xfrm>
            <a:off x="8009792" y="5474059"/>
            <a:ext cx="3830703" cy="338554"/>
          </a:xfrm>
          <a:prstGeom prst="rect">
            <a:avLst/>
          </a:prstGeom>
          <a:noFill/>
        </p:spPr>
        <p:txBody>
          <a:bodyPr wrap="square">
            <a:spAutoFit/>
          </a:bodyPr>
          <a:lstStyle/>
          <a:p>
            <a:pPr algn="ctr"/>
            <a:r>
              <a:rPr lang="zh-CN" altLang="en-US" sz="1600" b="1" dirty="0">
                <a:solidFill>
                  <a:prstClr val="black"/>
                </a:solidFill>
                <a:latin typeface="微软雅黑" panose="020B0503020204020204" pitchFamily="34" charset="-122"/>
                <a:ea typeface="微软雅黑" panose="020B0503020204020204" pitchFamily="34" charset="-122"/>
              </a:rPr>
              <a:t>在降低</a:t>
            </a:r>
            <a:r>
              <a:rPr lang="en-US" altLang="zh-CN" sz="1600" b="1" dirty="0">
                <a:solidFill>
                  <a:prstClr val="black"/>
                </a:solidFill>
                <a:latin typeface="微软雅黑" panose="020B0503020204020204" pitchFamily="34" charset="-122"/>
                <a:ea typeface="微软雅黑" panose="020B0503020204020204" pitchFamily="34" charset="-122"/>
              </a:rPr>
              <a:t>per-iter</a:t>
            </a:r>
            <a:r>
              <a:rPr lang="zh-CN" altLang="en-US" sz="1600" b="1" dirty="0">
                <a:solidFill>
                  <a:prstClr val="black"/>
                </a:solidFill>
                <a:latin typeface="微软雅黑" panose="020B0503020204020204" pitchFamily="34" charset="-122"/>
                <a:ea typeface="微软雅黑" panose="020B0503020204020204" pitchFamily="34" charset="-122"/>
              </a:rPr>
              <a:t>时延的同时降低</a:t>
            </a:r>
            <a:r>
              <a:rPr lang="en-US" altLang="zh-CN" sz="1600" b="1" dirty="0">
                <a:solidFill>
                  <a:prstClr val="black"/>
                </a:solidFill>
                <a:latin typeface="微软雅黑" panose="020B0503020204020204" pitchFamily="34" charset="-122"/>
                <a:ea typeface="微软雅黑" panose="020B0503020204020204" pitchFamily="34" charset="-122"/>
              </a:rPr>
              <a:t>eval</a:t>
            </a:r>
            <a:r>
              <a:rPr lang="zh-CN" altLang="en-US" sz="1600" b="1" dirty="0">
                <a:solidFill>
                  <a:prstClr val="black"/>
                </a:solidFill>
                <a:latin typeface="微软雅黑" panose="020B0503020204020204" pitchFamily="34" charset="-122"/>
                <a:ea typeface="微软雅黑" panose="020B0503020204020204" pitchFamily="34" charset="-122"/>
              </a:rPr>
              <a:t>时延</a:t>
            </a:r>
          </a:p>
        </p:txBody>
      </p:sp>
      <p:sp>
        <p:nvSpPr>
          <p:cNvPr id="93" name="矩形 92">
            <a:extLst>
              <a:ext uri="{FF2B5EF4-FFF2-40B4-BE49-F238E27FC236}">
                <a16:creationId xmlns:a16="http://schemas.microsoft.com/office/drawing/2014/main" id="{ECAE4072-8E8B-4CA5-AB56-DD1D7473A7A7}"/>
              </a:ext>
            </a:extLst>
          </p:cNvPr>
          <p:cNvSpPr/>
          <p:nvPr/>
        </p:nvSpPr>
        <p:spPr>
          <a:xfrm>
            <a:off x="345595" y="5807811"/>
            <a:ext cx="11512930" cy="403141"/>
          </a:xfrm>
          <a:prstGeom prst="rect">
            <a:avLst/>
          </a:prstGeom>
          <a:solidFill>
            <a:srgbClr val="003F87"/>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相较于基线，</a:t>
            </a:r>
            <a:r>
              <a:rPr kumimoji="0" lang="en-US" altLang="zh-CN" sz="1800" b="1" i="0" u="none" strike="noStrike" kern="0" cap="none" spc="0" normalizeH="0" baseline="0" noProof="0" dirty="0" err="1">
                <a:ln>
                  <a:noFill/>
                </a:ln>
                <a:solidFill>
                  <a:prstClr val="white"/>
                </a:solidFill>
                <a:effectLst/>
                <a:uLnTx/>
                <a:uFillTx/>
                <a:latin typeface="Microsoft YaHei" panose="020B0503020204020204" pitchFamily="34" charset="-122"/>
                <a:ea typeface="Microsoft YaHei" panose="020B0503020204020204" pitchFamily="34" charset="-122"/>
                <a:cs typeface="+mn-cs"/>
              </a:rPr>
              <a:t>QCLink</a:t>
            </a:r>
            <a:r>
              <a:rPr kumimoji="0" lang="zh-CN" altLang="en-US"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在最大割求解情况下</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平均提速</a:t>
            </a:r>
            <a:r>
              <a:rPr kumimoji="0" lang="en-US" altLang="zh-CN"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5.95</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倍</a:t>
            </a:r>
            <a:r>
              <a:rPr kumimoji="0" lang="zh-CN" altLang="en-US"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a:t>
            </a:r>
            <a:r>
              <a:rPr kumimoji="0" lang="en-US" altLang="zh-CN"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P99</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提升</a:t>
            </a:r>
            <a:r>
              <a:rPr kumimoji="0" lang="en-US" altLang="zh-CN"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5.55</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倍</a:t>
            </a:r>
            <a:r>
              <a:rPr kumimoji="0" lang="zh-CN" altLang="en-US"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，经典计算部分经卸载</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加速近</a:t>
            </a:r>
            <a:r>
              <a:rPr kumimoji="0" lang="en-US" altLang="zh-CN"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2</a:t>
            </a:r>
            <a:r>
              <a:rPr kumimoji="0" lang="zh-CN" altLang="en-US" sz="1800" b="1" i="0" u="none" strike="noStrike" kern="0" cap="none" spc="0" normalizeH="0" baseline="0" noProof="0" dirty="0">
                <a:ln>
                  <a:noFill/>
                </a:ln>
                <a:solidFill>
                  <a:srgbClr val="FFC000"/>
                </a:solidFill>
                <a:effectLst/>
                <a:uLnTx/>
                <a:uFillTx/>
                <a:latin typeface="Microsoft YaHei" panose="020B0503020204020204" pitchFamily="34" charset="-122"/>
                <a:ea typeface="Microsoft YaHei" panose="020B0503020204020204" pitchFamily="34" charset="-122"/>
                <a:cs typeface="+mn-cs"/>
              </a:rPr>
              <a:t>倍</a:t>
            </a:r>
            <a:r>
              <a:rPr kumimoji="0" lang="zh-CN" altLang="en-US"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a:t>
            </a:r>
          </a:p>
        </p:txBody>
      </p:sp>
      <p:sp>
        <p:nvSpPr>
          <p:cNvPr id="94" name="任意多边形: 形状 70">
            <a:extLst>
              <a:ext uri="{FF2B5EF4-FFF2-40B4-BE49-F238E27FC236}">
                <a16:creationId xmlns:a16="http://schemas.microsoft.com/office/drawing/2014/main" id="{C6ED0225-6475-4CFD-AA93-21717CE7B930}"/>
              </a:ext>
            </a:extLst>
          </p:cNvPr>
          <p:cNvSpPr/>
          <p:nvPr>
            <p:custDataLst>
              <p:tags r:id="rId1"/>
            </p:custDataLst>
          </p:nvPr>
        </p:nvSpPr>
        <p:spPr>
          <a:xfrm>
            <a:off x="345595" y="798048"/>
            <a:ext cx="11545570" cy="574124"/>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0035"/>
              <a:gd name="connsiteY0-2" fmla="*/ 10012 h 10012"/>
              <a:gd name="connsiteX1-3" fmla="*/ 0 w 10035"/>
              <a:gd name="connsiteY1-4" fmla="*/ 12 h 10012"/>
              <a:gd name="connsiteX2-5" fmla="*/ 10035 w 10035"/>
              <a:gd name="connsiteY2-6" fmla="*/ 0 h 10012"/>
              <a:gd name="connsiteX3-7" fmla="*/ 10000 w 10035"/>
              <a:gd name="connsiteY3-8" fmla="*/ 8012 h 10012"/>
              <a:gd name="connsiteX4-9" fmla="*/ 0 w 10035"/>
              <a:gd name="connsiteY4-10" fmla="*/ 10012 h 10012"/>
              <a:gd name="connsiteX0-11" fmla="*/ 0 w 10035"/>
              <a:gd name="connsiteY0-12" fmla="*/ 10012 h 10012"/>
              <a:gd name="connsiteX1-13" fmla="*/ 0 w 10035"/>
              <a:gd name="connsiteY1-14" fmla="*/ 12 h 10012"/>
              <a:gd name="connsiteX2-15" fmla="*/ 10035 w 10035"/>
              <a:gd name="connsiteY2-16" fmla="*/ 0 h 10012"/>
              <a:gd name="connsiteX3-17" fmla="*/ 9965 w 10035"/>
              <a:gd name="connsiteY3-18" fmla="*/ 9867 h 10012"/>
              <a:gd name="connsiteX4-19" fmla="*/ 0 w 10035"/>
              <a:gd name="connsiteY4-20" fmla="*/ 10012 h 10012"/>
              <a:gd name="connsiteX0-21" fmla="*/ 0 w 10035"/>
              <a:gd name="connsiteY0-22" fmla="*/ 10012 h 10012"/>
              <a:gd name="connsiteX1-23" fmla="*/ 0 w 10035"/>
              <a:gd name="connsiteY1-24" fmla="*/ 12 h 10012"/>
              <a:gd name="connsiteX2-25" fmla="*/ 10035 w 10035"/>
              <a:gd name="connsiteY2-26" fmla="*/ 0 h 10012"/>
              <a:gd name="connsiteX3-27" fmla="*/ 9965 w 10035"/>
              <a:gd name="connsiteY3-28" fmla="*/ 9945 h 10012"/>
              <a:gd name="connsiteX4-29" fmla="*/ 0 w 10035"/>
              <a:gd name="connsiteY4-30" fmla="*/ 10012 h 10012"/>
              <a:gd name="connsiteX0-31" fmla="*/ 0 w 10035"/>
              <a:gd name="connsiteY0-32" fmla="*/ 10012 h 10023"/>
              <a:gd name="connsiteX1-33" fmla="*/ 0 w 10035"/>
              <a:gd name="connsiteY1-34" fmla="*/ 12 h 10023"/>
              <a:gd name="connsiteX2-35" fmla="*/ 10035 w 10035"/>
              <a:gd name="connsiteY2-36" fmla="*/ 0 h 10023"/>
              <a:gd name="connsiteX3-37" fmla="*/ 9965 w 10035"/>
              <a:gd name="connsiteY3-38" fmla="*/ 10023 h 10023"/>
              <a:gd name="connsiteX4-39" fmla="*/ 0 w 10035"/>
              <a:gd name="connsiteY4-40" fmla="*/ 10012 h 100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35" h="10023">
                <a:moveTo>
                  <a:pt x="0" y="10012"/>
                </a:moveTo>
                <a:lnTo>
                  <a:pt x="0" y="12"/>
                </a:lnTo>
                <a:lnTo>
                  <a:pt x="10035" y="0"/>
                </a:lnTo>
                <a:cubicBezTo>
                  <a:pt x="10023" y="2671"/>
                  <a:pt x="9977" y="7352"/>
                  <a:pt x="9965" y="10023"/>
                </a:cubicBezTo>
                <a:lnTo>
                  <a:pt x="0" y="10012"/>
                </a:lnTo>
                <a:close/>
              </a:path>
            </a:pathLst>
          </a:custGeom>
          <a:solidFill>
            <a:srgbClr val="003F87"/>
          </a:solidFill>
          <a:ln w="12700" cap="flat" cmpd="sng" algn="ctr">
            <a:noFill/>
            <a:prstDash val="solid"/>
            <a:miter lim="800000"/>
          </a:ln>
          <a:effectLst/>
        </p:spPr>
        <p:txBody>
          <a:bodyPr spcFirstLastPara="0" vert="horz" wrap="square" lIns="266701" tIns="845686" rIns="263922" bIns="845687" numCol="1" spcCol="1270" anchor="t" anchorCtr="0">
            <a:noAutofit/>
          </a:bodyPr>
          <a:lstStyle/>
          <a:p>
            <a:pPr marL="0" marR="0" lvl="1" indent="0" defTabSz="1466850" eaLnBrk="1" fontAlgn="auto" latinLnBrk="0" hangingPunct="1">
              <a:lnSpc>
                <a:spcPct val="40000"/>
              </a:lnSpc>
              <a:spcBef>
                <a:spcPct val="0"/>
              </a:spcBef>
              <a:spcAft>
                <a:spcPct val="15000"/>
              </a:spcAft>
              <a:buClrTx/>
              <a:buSzTx/>
              <a:buFontTx/>
              <a:buNone/>
              <a:tabLst/>
              <a:defRPr/>
            </a:pPr>
            <a:r>
              <a:rPr kumimoji="0" lang="en-US" altLang="zh-CN" sz="2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QCLink</a:t>
            </a: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：基于</a:t>
            </a:r>
            <a:r>
              <a:rPr kumimoji="0" lang="en-US" altLang="zh-CN" sz="2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SmartNIC</a:t>
            </a: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硬件加速的量子</a:t>
            </a: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经典混合算法的计算卸载</a:t>
            </a:r>
          </a:p>
        </p:txBody>
      </p:sp>
      <p:sp>
        <p:nvSpPr>
          <p:cNvPr id="95" name="文本框 48">
            <a:extLst>
              <a:ext uri="{FF2B5EF4-FFF2-40B4-BE49-F238E27FC236}">
                <a16:creationId xmlns:a16="http://schemas.microsoft.com/office/drawing/2014/main" id="{D4B0F0E2-99EB-41FA-8AB8-347A807EF4D7}"/>
              </a:ext>
            </a:extLst>
          </p:cNvPr>
          <p:cNvSpPr txBox="1"/>
          <p:nvPr/>
        </p:nvSpPr>
        <p:spPr>
          <a:xfrm>
            <a:off x="345595" y="6216034"/>
            <a:ext cx="9516071" cy="307777"/>
          </a:xfrm>
          <a:prstGeom prst="rect">
            <a:avLst/>
          </a:prstGeom>
          <a:noFill/>
        </p:spPr>
        <p:txBody>
          <a:bodyPr wrap="square" rtlCol="0">
            <a:spAutoFit/>
          </a:bodyPr>
          <a:lstStyle/>
          <a:p>
            <a:r>
              <a:rPr lang="en-US" sz="1400" i="1" dirty="0" err="1">
                <a:solidFill>
                  <a:srgbClr val="000000"/>
                </a:solidFill>
                <a:latin typeface="Arial"/>
                <a:ea typeface="黑体" panose="02010609060101010101" pitchFamily="49" charset="-122"/>
              </a:rPr>
              <a:t>QCLink</a:t>
            </a:r>
            <a:r>
              <a:rPr lang="en-US" sz="1400" i="1" dirty="0">
                <a:solidFill>
                  <a:srgbClr val="000000"/>
                </a:solidFill>
                <a:latin typeface="Arial"/>
                <a:ea typeface="黑体" panose="02010609060101010101" pitchFamily="49" charset="-122"/>
              </a:rPr>
              <a:t>: Offloading Hybrid Quantum-Classical</a:t>
            </a:r>
            <a:r>
              <a:rPr lang="zh-CN" altLang="en-US" sz="1400" i="1" dirty="0">
                <a:solidFill>
                  <a:srgbClr val="000000"/>
                </a:solidFill>
                <a:latin typeface="Arial"/>
                <a:ea typeface="黑体" panose="02010609060101010101" pitchFamily="49" charset="-122"/>
              </a:rPr>
              <a:t> </a:t>
            </a:r>
            <a:r>
              <a:rPr lang="en-US" sz="1400" i="1" dirty="0">
                <a:solidFill>
                  <a:srgbClr val="000000"/>
                </a:solidFill>
                <a:latin typeface="Arial"/>
                <a:ea typeface="黑体" panose="02010609060101010101" pitchFamily="49" charset="-122"/>
              </a:rPr>
              <a:t>Computation to </a:t>
            </a:r>
            <a:r>
              <a:rPr lang="en-US" sz="1400" i="1" dirty="0" err="1">
                <a:solidFill>
                  <a:srgbClr val="000000"/>
                </a:solidFill>
                <a:latin typeface="Arial"/>
                <a:ea typeface="黑体" panose="02010609060101010101" pitchFamily="49" charset="-122"/>
              </a:rPr>
              <a:t>SmartNICs</a:t>
            </a:r>
            <a:r>
              <a:rPr lang="en-US" sz="1400" i="1" dirty="0">
                <a:solidFill>
                  <a:srgbClr val="000000"/>
                </a:solidFill>
                <a:latin typeface="Arial"/>
                <a:ea typeface="黑体" panose="02010609060101010101" pitchFamily="49" charset="-122"/>
              </a:rPr>
              <a:t> via RDMA.</a:t>
            </a:r>
            <a:r>
              <a:rPr lang="zh-CN" altLang="en-US" sz="1400" i="1" dirty="0">
                <a:solidFill>
                  <a:srgbClr val="FF0000"/>
                </a:solidFill>
                <a:latin typeface="Arial"/>
                <a:ea typeface="黑体" panose="02010609060101010101" pitchFamily="49" charset="-122"/>
              </a:rPr>
              <a:t>（</a:t>
            </a:r>
            <a:r>
              <a:rPr lang="en-US" altLang="zh-CN" sz="1400" i="1" dirty="0">
                <a:solidFill>
                  <a:srgbClr val="FF0000"/>
                </a:solidFill>
                <a:latin typeface="Arial"/>
                <a:ea typeface="黑体" panose="02010609060101010101" pitchFamily="49" charset="-122"/>
              </a:rPr>
              <a:t>ICDCS</a:t>
            </a:r>
            <a:r>
              <a:rPr lang="zh-CN" altLang="en-US" sz="1400" i="1" dirty="0">
                <a:solidFill>
                  <a:srgbClr val="FF0000"/>
                </a:solidFill>
                <a:latin typeface="Arial"/>
                <a:ea typeface="黑体" panose="02010609060101010101" pitchFamily="49" charset="-122"/>
              </a:rPr>
              <a:t>，</a:t>
            </a:r>
            <a:r>
              <a:rPr lang="en-US" altLang="zh-CN" sz="1400" i="1" dirty="0">
                <a:solidFill>
                  <a:srgbClr val="FF0000"/>
                </a:solidFill>
                <a:latin typeface="Arial"/>
                <a:ea typeface="黑体" panose="02010609060101010101" pitchFamily="49" charset="-122"/>
              </a:rPr>
              <a:t>CCF B</a:t>
            </a:r>
            <a:r>
              <a:rPr lang="zh-CN" altLang="en-US" sz="1400" i="1" dirty="0">
                <a:solidFill>
                  <a:srgbClr val="FF0000"/>
                </a:solidFill>
                <a:latin typeface="Arial"/>
                <a:ea typeface="黑体" panose="02010609060101010101" pitchFamily="49" charset="-122"/>
              </a:rPr>
              <a:t>会议）</a:t>
            </a:r>
            <a:endParaRPr lang="en-US" altLang="zh-CN" sz="1400" i="1" dirty="0">
              <a:solidFill>
                <a:srgbClr val="FF0000"/>
              </a:solidFill>
              <a:latin typeface="Arial"/>
              <a:ea typeface="黑体" panose="02010609060101010101" pitchFamily="49" charset="-122"/>
            </a:endParaRPr>
          </a:p>
        </p:txBody>
      </p:sp>
      <p:sp>
        <p:nvSpPr>
          <p:cNvPr id="96" name="箭头: 下 95">
            <a:extLst>
              <a:ext uri="{FF2B5EF4-FFF2-40B4-BE49-F238E27FC236}">
                <a16:creationId xmlns:a16="http://schemas.microsoft.com/office/drawing/2014/main" id="{0BE7CED9-EDEE-4F84-AEA7-D9EC6B7C06CD}"/>
              </a:ext>
            </a:extLst>
          </p:cNvPr>
          <p:cNvSpPr/>
          <p:nvPr/>
        </p:nvSpPr>
        <p:spPr>
          <a:xfrm>
            <a:off x="9237689" y="3816822"/>
            <a:ext cx="295780" cy="401814"/>
          </a:xfrm>
          <a:prstGeom prst="downArrow">
            <a:avLst/>
          </a:prstGeom>
          <a:solidFill>
            <a:srgbClr val="4874CB"/>
          </a:solidFill>
          <a:ln w="12700" cap="flat" cmpd="sng" algn="ctr">
            <a:solidFill>
              <a:srgbClr val="4874CB">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97" name="文本框 20">
            <a:extLst>
              <a:ext uri="{FF2B5EF4-FFF2-40B4-BE49-F238E27FC236}">
                <a16:creationId xmlns:a16="http://schemas.microsoft.com/office/drawing/2014/main" id="{7D2537BF-1381-4553-B74C-A9ACFFD6C1AA}"/>
              </a:ext>
            </a:extLst>
          </p:cNvPr>
          <p:cNvSpPr txBox="1"/>
          <p:nvPr/>
        </p:nvSpPr>
        <p:spPr>
          <a:xfrm>
            <a:off x="9380077" y="3826022"/>
            <a:ext cx="2485174" cy="338554"/>
          </a:xfrm>
          <a:prstGeom prst="rect">
            <a:avLst/>
          </a:prstGeom>
          <a:noFill/>
        </p:spPr>
        <p:txBody>
          <a:bodyPr wrap="square">
            <a:spAutoFit/>
          </a:bodyPr>
          <a:lstStyle/>
          <a:p>
            <a:pPr algn="ctr"/>
            <a:r>
              <a:rPr lang="zh-CN" altLang="en-US" sz="1600" b="1" dirty="0">
                <a:solidFill>
                  <a:prstClr val="black"/>
                </a:solidFill>
                <a:latin typeface="微软雅黑" panose="020B0503020204020204" pitchFamily="34" charset="-122"/>
                <a:ea typeface="微软雅黑" panose="020B0503020204020204" pitchFamily="34" charset="-122"/>
              </a:rPr>
              <a:t>引入近端</a:t>
            </a:r>
            <a:r>
              <a:rPr lang="en-US" altLang="zh-CN" sz="1600" b="1" dirty="0" err="1">
                <a:solidFill>
                  <a:prstClr val="black"/>
                </a:solidFill>
                <a:latin typeface="微软雅黑" panose="020B0503020204020204" pitchFamily="34" charset="-122"/>
                <a:ea typeface="微软雅黑" panose="020B0503020204020204" pitchFamily="34" charset="-122"/>
              </a:rPr>
              <a:t>smartNIC</a:t>
            </a:r>
            <a:r>
              <a:rPr lang="zh-CN" altLang="en-US" sz="1600" b="1" dirty="0">
                <a:solidFill>
                  <a:prstClr val="black"/>
                </a:solidFill>
                <a:latin typeface="微软雅黑" panose="020B0503020204020204" pitchFamily="34" charset="-122"/>
                <a:ea typeface="微软雅黑" panose="020B0503020204020204" pitchFamily="34" charset="-122"/>
              </a:rPr>
              <a:t>卸载</a:t>
            </a:r>
          </a:p>
        </p:txBody>
      </p:sp>
      <p:pic>
        <p:nvPicPr>
          <p:cNvPr id="98" name="Picture 3">
            <a:extLst>
              <a:ext uri="{FF2B5EF4-FFF2-40B4-BE49-F238E27FC236}">
                <a16:creationId xmlns:a16="http://schemas.microsoft.com/office/drawing/2014/main" id="{F68E6F9B-097E-49A7-8FF9-7F9B7C438A12}"/>
              </a:ext>
            </a:extLst>
          </p:cNvPr>
          <p:cNvPicPr>
            <a:picLocks noChangeAspect="1"/>
          </p:cNvPicPr>
          <p:nvPr/>
        </p:nvPicPr>
        <p:blipFill>
          <a:blip r:embed="rId4"/>
          <a:stretch>
            <a:fillRect/>
          </a:stretch>
        </p:blipFill>
        <p:spPr>
          <a:xfrm>
            <a:off x="8204995" y="2445746"/>
            <a:ext cx="3242590" cy="1343739"/>
          </a:xfrm>
          <a:prstGeom prst="rect">
            <a:avLst/>
          </a:prstGeom>
        </p:spPr>
      </p:pic>
      <p:pic>
        <p:nvPicPr>
          <p:cNvPr id="99" name="Picture 6">
            <a:extLst>
              <a:ext uri="{FF2B5EF4-FFF2-40B4-BE49-F238E27FC236}">
                <a16:creationId xmlns:a16="http://schemas.microsoft.com/office/drawing/2014/main" id="{B432B078-3BC5-44C4-B9A2-7CB01B426A8D}"/>
              </a:ext>
            </a:extLst>
          </p:cNvPr>
          <p:cNvPicPr>
            <a:picLocks noChangeAspect="1"/>
          </p:cNvPicPr>
          <p:nvPr/>
        </p:nvPicPr>
        <p:blipFill>
          <a:blip r:embed="rId5"/>
          <a:stretch>
            <a:fillRect/>
          </a:stretch>
        </p:blipFill>
        <p:spPr>
          <a:xfrm>
            <a:off x="8204995" y="4243692"/>
            <a:ext cx="3242590" cy="1216873"/>
          </a:xfrm>
          <a:prstGeom prst="rect">
            <a:avLst/>
          </a:prstGeom>
        </p:spPr>
      </p:pic>
      <p:pic>
        <p:nvPicPr>
          <p:cNvPr id="100" name="Picture 10">
            <a:extLst>
              <a:ext uri="{FF2B5EF4-FFF2-40B4-BE49-F238E27FC236}">
                <a16:creationId xmlns:a16="http://schemas.microsoft.com/office/drawing/2014/main" id="{7FBC0792-D2DE-45CA-8B3D-A355253EC17B}"/>
              </a:ext>
            </a:extLst>
          </p:cNvPr>
          <p:cNvPicPr>
            <a:picLocks noChangeAspect="1"/>
          </p:cNvPicPr>
          <p:nvPr/>
        </p:nvPicPr>
        <p:blipFill>
          <a:blip r:embed="rId6"/>
          <a:stretch>
            <a:fillRect/>
          </a:stretch>
        </p:blipFill>
        <p:spPr>
          <a:xfrm>
            <a:off x="4410068" y="2727025"/>
            <a:ext cx="3371864" cy="2615227"/>
          </a:xfrm>
          <a:prstGeom prst="rect">
            <a:avLst/>
          </a:prstGeom>
        </p:spPr>
      </p:pic>
      <p:pic>
        <p:nvPicPr>
          <p:cNvPr id="101" name="Picture 12">
            <a:extLst>
              <a:ext uri="{FF2B5EF4-FFF2-40B4-BE49-F238E27FC236}">
                <a16:creationId xmlns:a16="http://schemas.microsoft.com/office/drawing/2014/main" id="{0E9FA4BB-2BBC-4B73-91BF-80523118ABC8}"/>
              </a:ext>
            </a:extLst>
          </p:cNvPr>
          <p:cNvPicPr>
            <a:picLocks noChangeAspect="1"/>
          </p:cNvPicPr>
          <p:nvPr/>
        </p:nvPicPr>
        <p:blipFill>
          <a:blip r:embed="rId7"/>
          <a:stretch>
            <a:fillRect/>
          </a:stretch>
        </p:blipFill>
        <p:spPr>
          <a:xfrm>
            <a:off x="522339" y="2505175"/>
            <a:ext cx="3422949" cy="2103806"/>
          </a:xfrm>
          <a:prstGeom prst="rect">
            <a:avLst/>
          </a:prstGeom>
        </p:spPr>
      </p:pic>
      <p:pic>
        <p:nvPicPr>
          <p:cNvPr id="102" name="Picture 13">
            <a:extLst>
              <a:ext uri="{FF2B5EF4-FFF2-40B4-BE49-F238E27FC236}">
                <a16:creationId xmlns:a16="http://schemas.microsoft.com/office/drawing/2014/main" id="{734F0E3D-64A5-4FE9-B22A-B128F57F7E11}"/>
              </a:ext>
            </a:extLst>
          </p:cNvPr>
          <p:cNvPicPr>
            <a:picLocks noChangeAspect="1"/>
          </p:cNvPicPr>
          <p:nvPr/>
        </p:nvPicPr>
        <p:blipFill>
          <a:blip r:embed="rId8"/>
          <a:stretch>
            <a:fillRect/>
          </a:stretch>
        </p:blipFill>
        <p:spPr>
          <a:xfrm>
            <a:off x="526414" y="4617334"/>
            <a:ext cx="1598803" cy="1161401"/>
          </a:xfrm>
          <a:prstGeom prst="rect">
            <a:avLst/>
          </a:prstGeom>
        </p:spPr>
      </p:pic>
      <p:pic>
        <p:nvPicPr>
          <p:cNvPr id="103" name="Picture 15">
            <a:extLst>
              <a:ext uri="{FF2B5EF4-FFF2-40B4-BE49-F238E27FC236}">
                <a16:creationId xmlns:a16="http://schemas.microsoft.com/office/drawing/2014/main" id="{EB3EBFF5-FB30-45A6-9D86-6458346FC86A}"/>
              </a:ext>
            </a:extLst>
          </p:cNvPr>
          <p:cNvPicPr>
            <a:picLocks noChangeAspect="1"/>
          </p:cNvPicPr>
          <p:nvPr/>
        </p:nvPicPr>
        <p:blipFill>
          <a:blip r:embed="rId9"/>
          <a:stretch>
            <a:fillRect/>
          </a:stretch>
        </p:blipFill>
        <p:spPr>
          <a:xfrm>
            <a:off x="2362127" y="4689558"/>
            <a:ext cx="1523703" cy="1028144"/>
          </a:xfrm>
          <a:prstGeom prst="rect">
            <a:avLst/>
          </a:prstGeom>
        </p:spPr>
      </p:pic>
      <p:sp>
        <p:nvSpPr>
          <p:cNvPr id="104" name="文本框 20">
            <a:extLst>
              <a:ext uri="{FF2B5EF4-FFF2-40B4-BE49-F238E27FC236}">
                <a16:creationId xmlns:a16="http://schemas.microsoft.com/office/drawing/2014/main" id="{398F5615-83AB-4A7E-B235-45F628EB71D8}"/>
              </a:ext>
            </a:extLst>
          </p:cNvPr>
          <p:cNvSpPr txBox="1"/>
          <p:nvPr/>
        </p:nvSpPr>
        <p:spPr>
          <a:xfrm>
            <a:off x="3919472" y="2424598"/>
            <a:ext cx="4285523" cy="338554"/>
          </a:xfrm>
          <a:prstGeom prst="rect">
            <a:avLst/>
          </a:prstGeom>
          <a:noFill/>
        </p:spPr>
        <p:txBody>
          <a:bodyPr wrap="square">
            <a:spAutoFit/>
          </a:bodyPr>
          <a:lstStyle/>
          <a:p>
            <a:pPr algn="ctr"/>
            <a:r>
              <a:rPr lang="zh-CN" altLang="en-US" sz="1600" b="1" dirty="0">
                <a:solidFill>
                  <a:prstClr val="black"/>
                </a:solidFill>
                <a:latin typeface="微软雅黑" panose="020B0503020204020204" pitchFamily="34" charset="-122"/>
                <a:ea typeface="微软雅黑" panose="020B0503020204020204" pitchFamily="34" charset="-122"/>
              </a:rPr>
              <a:t>基于</a:t>
            </a:r>
            <a:r>
              <a:rPr lang="en-US" altLang="zh-CN" sz="1600" b="1" dirty="0">
                <a:solidFill>
                  <a:prstClr val="black"/>
                </a:solidFill>
                <a:latin typeface="微软雅黑" panose="020B0503020204020204" pitchFamily="34" charset="-122"/>
                <a:ea typeface="微软雅黑" panose="020B0503020204020204" pitchFamily="34" charset="-122"/>
              </a:rPr>
              <a:t>SPSA</a:t>
            </a:r>
            <a:r>
              <a:rPr lang="zh-CN" altLang="en-US" sz="1600" b="1" dirty="0">
                <a:solidFill>
                  <a:prstClr val="black"/>
                </a:solidFill>
                <a:latin typeface="微软雅黑" panose="020B0503020204020204" pitchFamily="34" charset="-122"/>
                <a:ea typeface="微软雅黑" panose="020B0503020204020204" pitchFamily="34" charset="-122"/>
              </a:rPr>
              <a:t>的</a:t>
            </a:r>
            <a:r>
              <a:rPr lang="en-US" altLang="zh-CN" sz="1600" b="1" dirty="0">
                <a:solidFill>
                  <a:prstClr val="black"/>
                </a:solidFill>
                <a:latin typeface="微软雅黑" panose="020B0503020204020204" pitchFamily="34" charset="-122"/>
                <a:ea typeface="微软雅黑" panose="020B0503020204020204" pitchFamily="34" charset="-122"/>
              </a:rPr>
              <a:t>QAOA</a:t>
            </a:r>
            <a:r>
              <a:rPr lang="zh-CN" altLang="en-US" sz="1600" b="1" dirty="0">
                <a:solidFill>
                  <a:prstClr val="black"/>
                </a:solidFill>
                <a:latin typeface="微软雅黑" panose="020B0503020204020204" pitchFamily="34" charset="-122"/>
                <a:ea typeface="微软雅黑" panose="020B0503020204020204" pitchFamily="34" charset="-122"/>
              </a:rPr>
              <a:t>算法求解最大割问题时序</a:t>
            </a:r>
          </a:p>
        </p:txBody>
      </p:sp>
      <p:sp>
        <p:nvSpPr>
          <p:cNvPr id="105" name="箭头: 左 104">
            <a:extLst>
              <a:ext uri="{FF2B5EF4-FFF2-40B4-BE49-F238E27FC236}">
                <a16:creationId xmlns:a16="http://schemas.microsoft.com/office/drawing/2014/main" id="{F5E48522-A108-4609-AF85-A8BF5BC5FAC6}"/>
              </a:ext>
            </a:extLst>
          </p:cNvPr>
          <p:cNvSpPr/>
          <p:nvPr/>
        </p:nvSpPr>
        <p:spPr>
          <a:xfrm>
            <a:off x="3919472" y="5233621"/>
            <a:ext cx="4090320" cy="568469"/>
          </a:xfrm>
          <a:prstGeom prst="leftArrow">
            <a:avLst/>
          </a:prstGeom>
          <a:solidFill>
            <a:sysClr val="window" lastClr="FFFFFF"/>
          </a:solidFill>
          <a:ln w="12700" cap="flat" cmpd="sng" algn="ctr">
            <a:solidFill>
              <a:srgbClr val="4874CB">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相较于</a:t>
            </a:r>
            <a:r>
              <a:rPr kumimoji="0" lang="en-US" altLang="zh-CN" sz="18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baseline</a:t>
            </a:r>
            <a:r>
              <a:rPr kumimoji="0" lang="zh-CN" altLang="en-US" sz="18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，本方法提升显著</a:t>
            </a:r>
            <a:endParaRPr kumimoji="0" lang="zh-CN" altLang="en-US" sz="1800" b="0" i="0" u="none" strike="noStrike" kern="0" cap="none" spc="0" normalizeH="0" baseline="0" noProof="0" dirty="0">
              <a:ln>
                <a:noFill/>
              </a:ln>
              <a:solidFill>
                <a:sysClr val="windowText" lastClr="000000"/>
              </a:solidFill>
              <a:effectLst/>
              <a:uLnTx/>
              <a:uFillTx/>
              <a:latin typeface="Arial"/>
              <a:ea typeface="微软雅黑"/>
              <a:cs typeface="+mn-cs"/>
            </a:endParaRPr>
          </a:p>
        </p:txBody>
      </p:sp>
    </p:spTree>
    <p:extLst>
      <p:ext uri="{BB962C8B-B14F-4D97-AF65-F5344CB8AC3E}">
        <p14:creationId xmlns:p14="http://schemas.microsoft.com/office/powerpoint/2010/main" val="263335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fill="hold"/>
                                        <p:tgtEl>
                                          <p:spTgt spid="94"/>
                                        </p:tgtEl>
                                        <p:attrNameLst>
                                          <p:attrName>ppt_x</p:attrName>
                                        </p:attrNameLst>
                                      </p:cBhvr>
                                      <p:tavLst>
                                        <p:tav tm="0">
                                          <p:val>
                                            <p:strVal val="0-#ppt_w/2"/>
                                          </p:val>
                                        </p:tav>
                                        <p:tav tm="100000">
                                          <p:val>
                                            <p:strVal val="#ppt_x"/>
                                          </p:val>
                                        </p:tav>
                                      </p:tavLst>
                                    </p:anim>
                                    <p:anim calcmode="lin" valueType="num">
                                      <p:cBhvr additive="base">
                                        <p:cTn id="8" dur="500" fill="hold"/>
                                        <p:tgtEl>
                                          <p:spTgt spid="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8.65173228346458,&quot;left&quot;:101.41637795275591,&quot;top&quot;:117.93330708661418,&quot;width&quot;:758.0084251968503}"/>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159</Words>
  <Application>Microsoft Office PowerPoint</Application>
  <PresentationFormat>宽屏</PresentationFormat>
  <Paragraphs>11</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等线</vt:lpstr>
      <vt:lpstr>等线 Light</vt:lpstr>
      <vt:lpstr>黑体</vt:lpstr>
      <vt:lpstr>思源黑体 CN Regular</vt:lpstr>
      <vt:lpstr>Microsoft YaHei</vt:lpstr>
      <vt:lpstr>Microsoft YaHei</vt:lpstr>
      <vt:lpstr>Arial</vt:lpstr>
      <vt:lpstr>Roboto</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ZZM</dc:creator>
  <cp:lastModifiedBy>ZZM</cp:lastModifiedBy>
  <cp:revision>3</cp:revision>
  <dcterms:created xsi:type="dcterms:W3CDTF">2026-05-19T12:30:22Z</dcterms:created>
  <dcterms:modified xsi:type="dcterms:W3CDTF">2026-05-19T12:35:32Z</dcterms:modified>
</cp:coreProperties>
</file>