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64EE2EA-E334-45AC-B1BA-1B8A56461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9886" y="2514922"/>
            <a:ext cx="4224915" cy="269875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B0594D5A-CB35-4697-83D1-006412E62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32" y="2562156"/>
            <a:ext cx="6214689" cy="2266354"/>
          </a:xfrm>
          <a:prstGeom prst="rect">
            <a:avLst/>
          </a:prstGeom>
        </p:spPr>
      </p:pic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8905002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代表成果：面向混合量子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-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经典超算的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端到端性能建模</a:t>
            </a:r>
            <a:r>
              <a:rPr lang="zh-CN" altLang="en-US" sz="2400" b="1" kern="0" dirty="0">
                <a:latin typeface="微软雅黑" panose="020B0503020204020204" charset="-122"/>
                <a:ea typeface="微软雅黑" panose="020B0503020204020204" charset="-122"/>
                <a:sym typeface="Arial" panose="020B0604020202020204" pitchFamily="34" charset="0"/>
              </a:rPr>
              <a:t>与追踪</a:t>
            </a:r>
            <a:r>
              <a:rPr lang="zh-CN" altLang="en-US" sz="2400" b="1" dirty="0"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回放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C483E797-88C8-41E8-ACB2-B76B933C1EF9}"/>
              </a:ext>
            </a:extLst>
          </p:cNvPr>
          <p:cNvSpPr/>
          <p:nvPr/>
        </p:nvSpPr>
        <p:spPr>
          <a:xfrm>
            <a:off x="345874" y="141857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/>
              <a:ea typeface="思源黑体 CN Regular"/>
              <a:cs typeface="+mn-cs"/>
            </a:endParaRPr>
          </a:p>
        </p:txBody>
      </p:sp>
      <p:sp>
        <p:nvSpPr>
          <p:cNvPr id="30" name="文本框 7">
            <a:extLst>
              <a:ext uri="{FF2B5EF4-FFF2-40B4-BE49-F238E27FC236}">
                <a16:creationId xmlns:a16="http://schemas.microsoft.com/office/drawing/2014/main" id="{CD752DB3-058B-467A-86FC-F7DDFF633DF3}"/>
              </a:ext>
            </a:extLst>
          </p:cNvPr>
          <p:cNvSpPr txBox="1"/>
          <p:nvPr/>
        </p:nvSpPr>
        <p:spPr>
          <a:xfrm>
            <a:off x="522339" y="149716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当前混合量子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经典超算场景，现有性能评估多聚焦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QPU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执行时延、排队时间等局部指标，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难以刻画跨越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HPC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节点、模拟器、云服务与量子后端的端到端关键路径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，导致结果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难复现且难以外推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  <p:sp>
        <p:nvSpPr>
          <p:cNvPr id="31" name="矩形 18">
            <a:extLst>
              <a:ext uri="{FF2B5EF4-FFF2-40B4-BE49-F238E27FC236}">
                <a16:creationId xmlns:a16="http://schemas.microsoft.com/office/drawing/2014/main" id="{08EEF705-1FF2-4948-877C-D63521D26A02}"/>
              </a:ext>
            </a:extLst>
          </p:cNvPr>
          <p:cNvSpPr/>
          <p:nvPr/>
        </p:nvSpPr>
        <p:spPr>
          <a:xfrm>
            <a:off x="345595" y="5550111"/>
            <a:ext cx="11545570" cy="813019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lvl="0">
              <a:defRPr/>
            </a:pP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相较于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Flat Replay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600" b="1" kern="0" dirty="0" err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QTrace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24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个工作负载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后端组合上将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Replay Error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降低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3.94%-10.20%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Critical-Path Overlap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提升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0.13-0.30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；在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QPU-CLOUD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场景下，将</a:t>
            </a:r>
            <a:r>
              <a:rPr lang="en-US" altLang="zh-CN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Queue Delay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减半可使</a:t>
            </a:r>
            <a:r>
              <a:rPr lang="zh-CN" altLang="en-US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端到端运行时间降低</a:t>
            </a:r>
            <a:r>
              <a:rPr lang="en-US" altLang="zh-CN" sz="16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25.9%-31.7%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1600" b="1" kern="0" dirty="0">
              <a:solidFill>
                <a:srgbClr val="FFC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: 形状 70">
            <a:extLst>
              <a:ext uri="{FF2B5EF4-FFF2-40B4-BE49-F238E27FC236}">
                <a16:creationId xmlns:a16="http://schemas.microsoft.com/office/drawing/2014/main" id="{91F69838-0800-4491-A693-2545F54B98D5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444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en-US" altLang="zh-CN" sz="2400" b="1" kern="0" dirty="0" err="1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QTrace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的混合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量子</a:t>
            </a:r>
            <a:r>
              <a:rPr lang="en-US" altLang="zh-CN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b="1" kern="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经典工作流性能分析</a:t>
            </a:r>
            <a:endParaRPr lang="zh-CN" altLang="en-US" sz="2400" b="1" kern="0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19">
            <a:extLst>
              <a:ext uri="{FF2B5EF4-FFF2-40B4-BE49-F238E27FC236}">
                <a16:creationId xmlns:a16="http://schemas.microsoft.com/office/drawing/2014/main" id="{84ADC20B-D399-4A9D-9EB6-D79BE7958EE1}"/>
              </a:ext>
            </a:extLst>
          </p:cNvPr>
          <p:cNvSpPr txBox="1"/>
          <p:nvPr/>
        </p:nvSpPr>
        <p:spPr>
          <a:xfrm>
            <a:off x="560588" y="4921284"/>
            <a:ext cx="59457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本文提出</a:t>
            </a:r>
            <a:r>
              <a:rPr lang="en-US" altLang="zh-CN" sz="1600" b="1" dirty="0" err="1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QTrace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，设计统一跨层追踪模式与依赖感知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Trace-Driven Replay</a:t>
            </a:r>
            <a:endParaRPr lang="zh-CN" altLang="en-US" sz="1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19">
            <a:extLst>
              <a:ext uri="{FF2B5EF4-FFF2-40B4-BE49-F238E27FC236}">
                <a16:creationId xmlns:a16="http://schemas.microsoft.com/office/drawing/2014/main" id="{305D2E85-72E5-4280-B1C0-11DEDA8545F5}"/>
              </a:ext>
            </a:extLst>
          </p:cNvPr>
          <p:cNvSpPr txBox="1"/>
          <p:nvPr/>
        </p:nvSpPr>
        <p:spPr>
          <a:xfrm>
            <a:off x="7433753" y="5168525"/>
            <a:ext cx="3517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原型架构和技术栈</a:t>
            </a:r>
          </a:p>
        </p:txBody>
      </p:sp>
      <p:sp>
        <p:nvSpPr>
          <p:cNvPr id="37" name="文本框 25">
            <a:extLst>
              <a:ext uri="{FF2B5EF4-FFF2-40B4-BE49-F238E27FC236}">
                <a16:creationId xmlns:a16="http://schemas.microsoft.com/office/drawing/2014/main" id="{BE1D85C3-30FD-445E-99AD-36E95E0B07D1}"/>
              </a:ext>
            </a:extLst>
          </p:cNvPr>
          <p:cNvSpPr txBox="1"/>
          <p:nvPr/>
        </p:nvSpPr>
        <p:spPr>
          <a:xfrm>
            <a:off x="345595" y="6370028"/>
            <a:ext cx="117244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End-to-End Modeling and Trace-Driven Replay for Hybrid Quantum-Classical Supercomputing. 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SC 2026.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CCF 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会议）浙大第四篇，首篇量子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178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15</cp:revision>
  <dcterms:created xsi:type="dcterms:W3CDTF">2026-05-19T12:30:22Z</dcterms:created>
  <dcterms:modified xsi:type="dcterms:W3CDTF">2026-08-07T17:32:40Z</dcterms:modified>
</cp:coreProperties>
</file>